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OASIS-1 and OASIS-2 (Marcus et al. 2007; Marcus et al. 2010), data-use terms apply. MRI slices from the public Kaggle OASIS-1 mirror ninadaithal/imagesoasis. EEG: OpenNeuro ds004504 v1.0.9, CC0, Miltiadous et al., Data 2023, 8(6):95. Cohort counts come from the loaders in src/alz (data.py, imaging.py, eeg.py).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 are read from results/clinical_metrics.json, results/mri_metrics.json and results/eeg_metrics.json at threshold 0.5. Clinical and EEG are pooled out-of-fold cross-validation, so there is no separate held-out test set. 95% CIs are stratified cluster bootstrap over subjects (5,000 resamples, seed 42) on the same predictions as the point estimates (rebuilt out-of-fold predictions for clinical and EEG, the saved model on the seed-42 test split for MRI; all reproduce the saved metrics exactly). The MRI interval is likely optimistic: only 4 of the 15 test subjects have dementia. The MRI model is binary (non-demented vs mild or moderate dementia), not 4-class.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Data Sources</a:t>
            </a:r>
            <a:endParaRPr lang="en-US" sz="3000" dirty="0"/>
          </a:p>
        </p:txBody>
      </p:sp>
      <p:pic>
        <p:nvPicPr>
          <p:cNvPr id="3" name="TAO icon" descr="TAO Digital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28600"/>
            <a:ext cx="548640" cy="501091"/>
          </a:xfrm>
          <a:prstGeom prst="rect">
            <a:avLst/>
          </a:prstGeom>
        </p:spPr>
      </p:pic>
      <p:sp>
        <p:nvSpPr>
          <p:cNvPr id="4" name="Footer"/>
          <p:cNvSpPr txBox="1"/>
          <p:nvPr/>
        </p:nvSpPr>
        <p:spPr>
          <a:xfrm>
            <a:off x="914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©2025 TAO Digital - All rights reserved.</a:t>
            </a:r>
            <a:endParaRPr lang="en-US" sz="900" dirty="0"/>
          </a:p>
        </p:txBody>
      </p:sp>
      <p:sp>
        <p:nvSpPr>
          <p:cNvPr id="5" name="Approach card"/>
          <p:cNvSpPr/>
          <p:nvPr/>
        </p:nvSpPr>
        <p:spPr>
          <a:xfrm>
            <a:off x="457200" y="1097280"/>
            <a:ext cx="49834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8DB4F5"/>
            </a:solidFill>
            <a:prstDash val="sysDot"/>
          </a:ln>
        </p:spPr>
      </p:sp>
      <p:sp>
        <p:nvSpPr>
          <p:cNvPr id="6" name="Approach heading"/>
          <p:cNvSpPr txBox="1"/>
          <p:nvPr/>
        </p:nvSpPr>
        <p:spPr>
          <a:xfrm>
            <a:off x="685800" y="1188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4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2000" dirty="0"/>
          </a:p>
        </p:txBody>
      </p:sp>
      <p:sp>
        <p:nvSpPr>
          <p:cNvPr id="7" name="Approach body"/>
          <p:cNvSpPr txBox="1"/>
          <p:nvPr/>
        </p:nvSpPr>
        <p:spPr>
          <a:xfrm>
            <a:off x="685800" y="1600200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models, each scoring P(dementia) from its own 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log-odds opinion pool fuses whichever modalities are present; no fusion parameters are trained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only writes the plain-language explanation and never changes a score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a risk tier for clinician review, not a diagnosis</a:t>
            </a:r>
            <a:endParaRPr lang="en-US" sz="1200" dirty="0"/>
          </a:p>
        </p:txBody>
      </p:sp>
      <p:sp>
        <p:nvSpPr>
          <p:cNvPr id="8" name="Modeling card"/>
          <p:cNvSpPr/>
          <p:nvPr/>
        </p:nvSpPr>
        <p:spPr>
          <a:xfrm>
            <a:off x="457200" y="3355848"/>
            <a:ext cx="498348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8DB4F5"/>
            </a:solidFill>
            <a:prstDash val="sysDot"/>
          </a:ln>
        </p:spPr>
      </p:sp>
      <p:sp>
        <p:nvSpPr>
          <p:cNvPr id="9" name="Modeling heading"/>
          <p:cNvSpPr txBox="1"/>
          <p:nvPr/>
        </p:nvSpPr>
        <p:spPr>
          <a:xfrm>
            <a:off x="685800" y="34472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4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2000" dirty="0"/>
          </a:p>
        </p:txBody>
      </p:sp>
      <p:sp>
        <p:nvSpPr>
          <p:cNvPr id="10" name="Modeling body"/>
          <p:cNvSpPr txBox="1"/>
          <p:nvPr/>
        </p:nvSpPr>
        <p:spPr>
          <a:xfrm>
            <a:off x="685800" y="3858768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Clinical: logistic regression on 9 routine features (CDR excluded to avoid label leakage)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MRI: ResNet18 transfer learning, Grad-CAM heatmaps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EEG: logistic regression on 7 band-power features</a:t>
            </a:r>
            <a:endParaRPr lang="en-US" sz="1200" dirty="0"/>
          </a:p>
        </p:txBody>
      </p:sp>
      <p:sp>
        <p:nvSpPr>
          <p:cNvPr id="11" name="Validation card"/>
          <p:cNvSpPr/>
          <p:nvPr/>
        </p:nvSpPr>
        <p:spPr>
          <a:xfrm>
            <a:off x="457200" y="5020056"/>
            <a:ext cx="49834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8DB4F5"/>
            </a:solidFill>
            <a:prstDash val="sysDot"/>
          </a:ln>
        </p:spPr>
      </p:sp>
      <p:sp>
        <p:nvSpPr>
          <p:cNvPr id="12" name="Validation heading"/>
          <p:cNvSpPr txBox="1"/>
          <p:nvPr/>
        </p:nvSpPr>
        <p:spPr>
          <a:xfrm>
            <a:off x="685800" y="51114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4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13" name="Validation body"/>
          <p:cNvSpPr txBox="1"/>
          <p:nvPr/>
        </p:nvSpPr>
        <p:spPr>
          <a:xfrm>
            <a:off x="685800" y="5522976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are grouped by subject, so no patient appears in both train and test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validation only; per-case results on the next slide</a:t>
            </a:r>
            <a:endParaRPr lang="en-US" sz="1200" dirty="0"/>
          </a:p>
        </p:txBody>
      </p:sp>
      <p:sp>
        <p:nvSpPr>
          <p:cNvPr id="14" name="Data box"/>
          <p:cNvSpPr/>
          <p:nvPr/>
        </p:nvSpPr>
        <p:spPr>
          <a:xfrm>
            <a:off x="5669280" y="1097280"/>
            <a:ext cx="6080760" cy="868680"/>
          </a:xfrm>
          <a:prstGeom prst="roundRect">
            <a:avLst>
              <a:gd name="adj" fmla="val 5263"/>
            </a:avLst>
          </a:prstGeom>
          <a:solidFill>
            <a:srgbClr val="000000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15" name="Data box text"/>
          <p:cNvSpPr txBox="1"/>
          <p:nvPr/>
        </p:nvSpPr>
        <p:spPr>
          <a:xfrm>
            <a:off x="5852160" y="11430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2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public research datasets. No patient data is collected or stored by this work.</a:t>
            </a:r>
            <a:endParaRPr lang="en-US" sz="2400" dirty="0"/>
          </a:p>
        </p:txBody>
      </p:sp>
      <p:sp>
        <p:nvSpPr>
          <p:cNvPr id="16" name="Data table card"/>
          <p:cNvSpPr/>
          <p:nvPr/>
        </p:nvSpPr>
        <p:spPr>
          <a:xfrm>
            <a:off x="5669280" y="2084832"/>
            <a:ext cx="6080760" cy="4352544"/>
          </a:xfrm>
          <a:prstGeom prst="roundRect">
            <a:avLst>
              <a:gd name="adj" fmla="val 1050"/>
            </a:avLst>
          </a:prstGeom>
          <a:solidFill>
            <a:srgbClr val="FFFFFF"/>
          </a:solidFill>
          <a:ln w="12700">
            <a:solidFill>
              <a:srgbClr val="8DB4F5"/>
            </a:solidFill>
            <a:prstDash val="sysDot"/>
          </a:ln>
        </p:spPr>
      </p:sp>
      <p:graphicFrame>
        <p:nvGraphicFramePr>
          <p:cNvPr id="2" name="Data sourc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194560"/>
          <a:ext cx="57150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74320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8DB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 and 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8DB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Cohort and label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8DB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4F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OASIS-1 cross-sectional + OASIS-2 longitudinal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Washington University ADRC. Project mirror: Zenodo, doi 10.5281/zenodo.21330855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 visits, 385 subjects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Non-demented vs demented or converted (OASIS-1 label derived from CDR)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F7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OASIS-1 brain MRI, JPEG slices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Kaggle: ninadaithal/imagesoasis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22,972 slices, 94 subjects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Non-demented vs mild or moderate dementia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2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EEG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OpenNeuro ds004504, CC0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AHEPA General Hospital, Thessaloniki. Miltiadous et al. 2023, Data 8(6):95, doi 10.18112/openneuro.ds004504.v1.0.9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subjects: 36 AD, 29 healthy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channels, eyes closed. FTD group excluded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73152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74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Outcomes Are Achieved, by Case Study</a:t>
            </a:r>
            <a:endParaRPr lang="en-US" sz="3000" dirty="0"/>
          </a:p>
        </p:txBody>
      </p:sp>
      <p:pic>
        <p:nvPicPr>
          <p:cNvPr id="3" name="TAO icon" descr="TAO Digital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228600"/>
            <a:ext cx="548640" cy="501091"/>
          </a:xfrm>
          <a:prstGeom prst="rect">
            <a:avLst/>
          </a:prstGeom>
        </p:spPr>
      </p:pic>
      <p:sp>
        <p:nvSpPr>
          <p:cNvPr id="4" name="Footer"/>
          <p:cNvSpPr txBox="1"/>
          <p:nvPr/>
        </p:nvSpPr>
        <p:spPr>
          <a:xfrm>
            <a:off x="9144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©2025 TAO Digital - All rights reserved.</a:t>
            </a:r>
            <a:endParaRPr lang="en-US" sz="900" dirty="0"/>
          </a:p>
        </p:txBody>
      </p:sp>
      <p:graphicFrame>
        <p:nvGraphicFramePr>
          <p:cNvPr id="3" name="Case stud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928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429000"/>
                <a:gridCol w="3291840"/>
                <a:gridCol w="3337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1: Clinical 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4F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2: MRI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7F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B1F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3: EEG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FB2F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OASIS-1 + OASIS-2, 608 visits, 385 subjects. Age, MMSE, brain volume (nWBV, ASF), SES, education, sex, visit, MR delay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OASIS-1 brain MRI, 22,972 axial slices, 94 subjects. 3D scans: 16 central slices averaged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OpenNeuro ds004504, 65 subjects (36 AD, 29 healthy). Relative delta, theta, alpha, beta, gamma power plus 2 ratios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imputation, standardization, logistic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ResNet18 pretrained on ImageNet, frozen backbone, new head, class-weighted 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Standardization, class-balanced logistic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5-fold cross-validation grouped by subject; pooled out-of-fold predictions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70/15/15 split grouped by subject. Held-out test: 15 subjects (4 with dementia), 3,538 slices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5-fold stratified cross-validation, one recording per subject; pooled out-of-fold predictions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 CI: bootstrap over subjects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AUROC 0.88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95% CI 0.85 to 0.91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 72% (65 to 78), specificity 88% (84 to 91)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AUROC 0.91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95% CI 0.84 to 0.97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 72% (53 to 88), specificity 90% (84 to 95)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AUROC 0.82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95% CI 0.70 to 0.92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 75% (61 to 89), specificity 76% (59 to 90)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47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Shown to clinician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3 drivers (coefficient times value) and the patient's percentile versus the training population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Grad-CAM heatmap showing where the model looked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Ranked band-power drivers; patient spectrum versus AD and healthy cohort means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usion box"/>
          <p:cNvSpPr/>
          <p:nvPr/>
        </p:nvSpPr>
        <p:spPr>
          <a:xfrm>
            <a:off x="457200" y="5440680"/>
            <a:ext cx="11292840" cy="1005840"/>
          </a:xfrm>
          <a:prstGeom prst="roundRect">
            <a:avLst>
              <a:gd name="adj" fmla="val 4545"/>
            </a:avLst>
          </a:prstGeom>
          <a:solidFill>
            <a:srgbClr val="000000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7" name="Fusion text"/>
          <p:cNvSpPr txBox="1"/>
          <p:nvPr/>
        </p:nvSpPr>
        <p:spPr>
          <a:xfrm>
            <a:off x="685800" y="5486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signals, one prognosis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Log-odds pool averages the available modalities. Risk tiers: Low below 0.33, Intermediate 0.33 to 0.66, High 0.66 and above. A flag is raised when modalities differ by more than 0.4.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DB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validated: fusion (no dataset pairs all three modalities with one label) and external cohorts. All results are internal validation.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Alzheimer's Early-Risk Triage Copilot: Methodology and Data</dc:title>
  <dc:subject>PptxGenJS Presentation</dc:subject>
  <dc:creator>PptxGenJS</dc:creator>
  <cp:lastModifiedBy>PptxGenJS</cp:lastModifiedBy>
  <cp:revision>1</cp:revision>
  <dcterms:created xsi:type="dcterms:W3CDTF">2026-10-16T07:33:35Z</dcterms:created>
  <dcterms:modified xsi:type="dcterms:W3CDTF">2026-10-16T07:33:35Z</dcterms:modified>
</cp:coreProperties>
</file>