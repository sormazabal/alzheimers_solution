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4"/>
    <p:sldMasterId id="2147483660" r:id="rId5"/>
  </p:sldMasterIdLst>
  <p:notesMasterIdLst>
    <p:notesMasterId r:id="rId26"/>
  </p:notesMasterIdLst>
  <p:sldIdLst>
    <p:sldId id="257" r:id="rId6"/>
    <p:sldId id="2147482971" r:id="rId7"/>
    <p:sldId id="2147483122" r:id="rId8"/>
    <p:sldId id="264" r:id="rId9"/>
    <p:sldId id="2147483136" r:id="rId10"/>
    <p:sldId id="2147483137" r:id="rId11"/>
    <p:sldId id="2147483096" r:id="rId12"/>
    <p:sldId id="272" r:id="rId13"/>
    <p:sldId id="2147483141" r:id="rId14"/>
    <p:sldId id="2147483118" r:id="rId15"/>
    <p:sldId id="2147483138" r:id="rId16"/>
    <p:sldId id="2147483142" r:id="rId17"/>
    <p:sldId id="2147483143" r:id="rId18"/>
    <p:sldId id="2147483139" r:id="rId19"/>
    <p:sldId id="2147483144" r:id="rId20"/>
    <p:sldId id="2147483140" r:id="rId21"/>
    <p:sldId id="2147483116" r:id="rId22"/>
    <p:sldId id="270" r:id="rId23"/>
    <p:sldId id="2147483117" r:id="rId24"/>
    <p:sldId id="214748260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27F768-4BEB-5453-B823-784B7A90240E}" name="Akshita Jain" initials="" userId="S::akshita.jain@taodigitalsolutions.com::a0d3a3f7-eafd-4d9d-8f5c-9165d18742a0" providerId="AD"/>
  <p188:author id="{C6E261E8-E7DB-36B1-4413-155F75538E4B}" name="Shyamal Das" initials="SD" userId="S::shyamal.das@taodigitalsolutions.com::db647230-a7e5-42ee-90a5-1743fab2308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435F6-A129-66B8-1602-9AF8836A9347}" v="31" dt="2026-07-08T07:04:16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17" autoAdjust="0"/>
  </p:normalViewPr>
  <p:slideViewPr>
    <p:cSldViewPr snapToGrid="0">
      <p:cViewPr varScale="1">
        <p:scale>
          <a:sx n="84" d="100"/>
          <a:sy n="84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D8C37-B197-43D3-B3A3-83CEAF964AE6}" type="datetimeFigureOut"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63E368-8A26-4A7B-9E6B-1FADBDDA0C0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8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3DCAA-849E-734F-964B-03E486BC8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3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IN" b="0" kern="1200" dirty="0">
                <a:effectLst/>
              </a:rPr>
              <a:t>Here's a quick </a:t>
            </a:r>
            <a:r>
              <a:rPr lang="en-IN" dirty="0"/>
              <a:t>overview </a:t>
            </a:r>
            <a:r>
              <a:rPr lang="en-IN" b="0" kern="1200" dirty="0">
                <a:effectLst/>
              </a:rPr>
              <a:t>of what we'll cover</a:t>
            </a:r>
            <a:r>
              <a:rPr lang="en-IN" dirty="0"/>
              <a:t>: the problems this tool addresses, the five-step pipeline that powers it, a demo of the </a:t>
            </a:r>
            <a:r>
              <a:rPr lang="en-IN" dirty="0" err="1"/>
              <a:t>Streamlit</a:t>
            </a:r>
            <a:r>
              <a:rPr lang="en-IN" dirty="0"/>
              <a:t> interface, the evaluation results, and a look at cost and next steps</a:t>
            </a:r>
            <a:r>
              <a:rPr lang="en-IN" b="0" kern="1200" dirty="0">
                <a:effectLst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117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FDDF-27D9-6CC3-9990-A2633920A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BDFB1-59D7-5FAE-EADE-21C830E0D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D5387-0BFB-D409-79C9-85C5B0E8C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me orient you to what we built and what data it runs on.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agent's central question is not 'should we contact this patient?' -- it is 'which specific intervention, if any, actually changes this patient's behavior?' For a forgetful young patient, the answer is a reminder call. For a patient with high side-effect burden, it is an HCP check-in. For a well-adherent, engaged patient, the answer is no contact at all. Sending the wrong intervention is not neutral -- it erodes trust and burns the patient's attention.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Four data assets make this possible. The epilepsy care plan JSON is the clinical ground truth: it tells the system what medications this patient is on, when doses are scheduled, what counts as an emergency, and who to call. Every LLM reply is grounded in this file -- the model cannot invent instructions that contradict it.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synthetic panel of 500 patients trains the causal model. Each row is a patient with a profile -- age, adherence history, side-effect burden, engagement level -- assigned to one intervention arm, with a recorded outcome. The T-learner learns from this panel which features predict a response to each arm.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DuckDB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dose-event log is the real-time feed. It records every dose taken or missed over 28 days and surfaces the metrics that drive both the LLM context and the intervention recommendation: 30-day adherence rate, 7-day trend, and current missed-dose streak.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And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Qini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backtest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is the evidence layer. It shows that the model identifies the right patients four times more effectively than random outreach -- an AUUC of 0.35 against a random baseline of 0.08. We will return to that number later, but it is the single most important validation result in the project.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next few slides walk through each problem this architecture addresses, then how the pipeline runs end to end.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ABC7A-9412-EF9D-FC75-6EED5110D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89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"Why are we building </a:t>
            </a:r>
            <a:r>
              <a:rPr lang="en-IN" b="0" kern="1200" dirty="0">
                <a:effectLst/>
              </a:rPr>
              <a:t>this</a:t>
            </a:r>
            <a:r>
              <a:rPr lang="en-IN" dirty="0"/>
              <a:t>? Researchers and clinical operations teams face four compounding problems.</a:t>
            </a:r>
            <a:endParaRPr lang="en-US" dirty="0"/>
          </a:p>
          <a:p>
            <a:r>
              <a:rPr lang="en-IN" dirty="0"/>
              <a:t>&gt;</a:t>
            </a:r>
          </a:p>
          <a:p>
            <a:r>
              <a:rPr lang="en-IN" dirty="0"/>
              <a:t>&gt; </a:t>
            </a:r>
            <a:r>
              <a:rPr lang="en-IN" b="0" kern="1200" dirty="0">
                <a:effectLst/>
              </a:rPr>
              <a:t>First, </a:t>
            </a:r>
            <a:r>
              <a:rPr lang="en-IN" dirty="0"/>
              <a:t>notification fatigue. When every patient gets a reminder regardless of need</a:t>
            </a:r>
            <a:r>
              <a:rPr lang="en-IN" b="0" kern="1200" dirty="0">
                <a:effectLst/>
              </a:rPr>
              <a:t>, </a:t>
            </a:r>
            <a:r>
              <a:rPr lang="en-IN" dirty="0"/>
              <a:t>engagement collapses</a:t>
            </a:r>
            <a:r>
              <a:rPr lang="en-IN" b="0" kern="1200" dirty="0">
                <a:effectLst/>
              </a:rPr>
              <a:t>. Second, </a:t>
            </a:r>
            <a:r>
              <a:rPr lang="en-IN" dirty="0"/>
              <a:t>patient needs are heterogeneous -- a forgetful young patient needs a reminder; a patient on multiple AEDs with worsening side effects needs an HCP call</a:t>
            </a:r>
            <a:r>
              <a:rPr lang="en-IN" b="0" kern="1200" dirty="0">
                <a:effectLst/>
              </a:rPr>
              <a:t>. </a:t>
            </a:r>
            <a:r>
              <a:rPr lang="en-IN" dirty="0"/>
              <a:t>The same tool cannot serve both.</a:t>
            </a:r>
          </a:p>
          <a:p>
            <a:r>
              <a:rPr lang="en-IN" dirty="0"/>
              <a:t>&gt;</a:t>
            </a:r>
          </a:p>
          <a:p>
            <a:r>
              <a:rPr lang="en-IN" dirty="0"/>
              <a:t>&gt; </a:t>
            </a:r>
            <a:r>
              <a:rPr lang="en-IN" b="0" kern="1200" dirty="0">
                <a:effectLst/>
              </a:rPr>
              <a:t>Third, </a:t>
            </a:r>
            <a:r>
              <a:rPr lang="en-IN" dirty="0"/>
              <a:t>and most critically for clinical AI, LLMs cannot own safety decisions. If a patient reports a seizure lasting ten minutes, that must trigger a 911 instruction -- no matter what the model thinks the 'right tone' is</a:t>
            </a:r>
            <a:r>
              <a:rPr lang="en-IN" b="0" kern="1200" dirty="0">
                <a:effectLst/>
              </a:rPr>
              <a:t>. </a:t>
            </a:r>
            <a:r>
              <a:rPr lang="en-IN" dirty="0"/>
              <a:t>Fourth</a:t>
            </a:r>
            <a:r>
              <a:rPr lang="en-IN" b="0" kern="1200" dirty="0">
                <a:effectLst/>
              </a:rPr>
              <a:t>, </a:t>
            </a:r>
            <a:r>
              <a:rPr lang="en-IN" dirty="0"/>
              <a:t>most adherence analytics use correlation, not causation: we need to know what *changes* outcomes, not just who is already adherent. And fifth</a:t>
            </a:r>
            <a:r>
              <a:rPr lang="en-IN" b="0" kern="1200" dirty="0">
                <a:effectLst/>
              </a:rPr>
              <a:t>, </a:t>
            </a:r>
            <a:r>
              <a:rPr lang="en-IN" dirty="0"/>
              <a:t>any tool that will touch patient workflows must be defensible to regulators and HCPs."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2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https://github.com/pranath/predict_alzheimers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06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43EFE-BF99-3A1D-29ED-7D991DA36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E129D-6A51-F7B4-2D47-27B5F8BE3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28F33-406A-D43F-182E-83E2FCF94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1, top-left: the patient opens the chat interface and types something like 'I'm not feeling great, I missed my last dose.' They can also tap a quick-reply button. That message immediately enters the pipeline.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before any language model touches it, a deterministic rule engine runs. No LLM, no probabilities -- pure regex and hard-coded logic. It stamps the message with a triage badge -- here, 'Flagged' -- and generates a prescribed actions checklist: contact HCP immediately, stop medication X, seek emergency care. That checklist is fixed. The LLM cannot override it.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only now does the LLM respond. It writes an empathetic, concise reply -- but the triage constraint is baked in as a system instruction. Notice the reply explicitly references the Flagged status and tells the patient to contact their HCP. The model cannot tell a Flagged patient to 'wait and see.'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triggers the clinician lane. Step 4: the provider sees the alert on their dashboard alongside adherence metrics -- 30-day rate, missed-dose streak. Context before action.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5: the clinician can adjust feature sliders -- side-effect score, adherence rate -- to explore scenarios and stress-test what the model recommends under different patient conditions.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6: the T-learner runs. It estimates a causal treatment effect for each intervention arm -- reminder call, education message, HCP check-in, peer support -- and surfaces a ranked recommendation table in real time. Here, HCP Check-in shows the highest uplift, so it gets the asterisk. If all CATEs were negative, the system would recommend no contact.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7: the clinician downloads the escalation brief -- a markdown report with the triage summary and regulatory disclaimer, ready for the audit trail.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three value pillars at the bottom capture what this delivers: deterministic patient guardrails, personalized clinician insight, and transparent audit artifacts."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ECD8E-C39E-A1BB-C0DB-A280D2332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07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</a:rPr>
              <a:t>&gt; "Here is the system architecture. Three clean </a:t>
            </a:r>
            <a:r>
              <a:rPr lang="en-IN" b="0" kern="1200" dirty="0">
                <a:solidFill>
                  <a:srgbClr val="000000"/>
                </a:solidFill>
                <a:effectLst/>
              </a:rPr>
              <a:t>layers</a:t>
            </a:r>
            <a:r>
              <a:rPr lang="en-IN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r>
              <a:rPr lang="en-IN" dirty="0">
                <a:solidFill>
                  <a:srgbClr val="000000"/>
                </a:solidFill>
              </a:rPr>
              <a:t>&gt;</a:t>
            </a:r>
            <a:endParaRPr lang="en-IN" dirty="0"/>
          </a:p>
          <a:p>
            <a:r>
              <a:rPr lang="en-IN" dirty="0">
                <a:solidFill>
                  <a:srgbClr val="000000"/>
                </a:solidFill>
              </a:rPr>
              <a:t>&gt; At the top, the </a:t>
            </a:r>
            <a:r>
              <a:rPr lang="en-IN" dirty="0" err="1">
                <a:solidFill>
                  <a:srgbClr val="000000"/>
                </a:solidFill>
              </a:rPr>
              <a:t>Streamlit</a:t>
            </a:r>
            <a:r>
              <a:rPr lang="en-IN" dirty="0">
                <a:solidFill>
                  <a:srgbClr val="000000"/>
                </a:solidFill>
              </a:rPr>
              <a:t> frontend exposes two interfaces: </a:t>
            </a:r>
            <a:r>
              <a:rPr lang="en-IN" b="0" kern="1200" dirty="0">
                <a:solidFill>
                  <a:srgbClr val="000000"/>
                </a:solidFill>
                <a:effectLst/>
              </a:rPr>
              <a:t>the </a:t>
            </a:r>
            <a:r>
              <a:rPr lang="en-IN" dirty="0">
                <a:solidFill>
                  <a:srgbClr val="000000"/>
                </a:solidFill>
              </a:rPr>
              <a:t>Patient Chat for real-time check-ins, and </a:t>
            </a:r>
            <a:r>
              <a:rPr lang="en-IN" b="0" kern="1200" dirty="0">
                <a:solidFill>
                  <a:srgbClr val="000000"/>
                </a:solidFill>
                <a:effectLst/>
              </a:rPr>
              <a:t>the </a:t>
            </a:r>
            <a:r>
              <a:rPr lang="en-IN" dirty="0">
                <a:solidFill>
                  <a:srgbClr val="000000"/>
                </a:solidFill>
              </a:rPr>
              <a:t>HCP Dashboard for adherence monitoring and uplift exploration.</a:t>
            </a:r>
            <a:endParaRPr lang="en-IN" dirty="0"/>
          </a:p>
          <a:p>
            <a:r>
              <a:rPr lang="en-IN" dirty="0">
                <a:solidFill>
                  <a:srgbClr val="000000"/>
                </a:solidFill>
              </a:rPr>
              <a:t>&gt;</a:t>
            </a:r>
            <a:endParaRPr lang="en-IN" dirty="0"/>
          </a:p>
          <a:p>
            <a:r>
              <a:rPr lang="en-IN" dirty="0">
                <a:solidFill>
                  <a:srgbClr val="000000"/>
                </a:solidFill>
              </a:rPr>
              <a:t>&gt; In the middle, the backend runs five sequential steps per check-in. Notice that the triage step is completely separate from the LLM step and always runs first. The LLM cannot see the triage code; it only receives the result as a system constraint</a:t>
            </a:r>
            <a:r>
              <a:rPr lang="en-IN" b="0" kern="1200" dirty="0">
                <a:solidFill>
                  <a:srgbClr val="000000"/>
                </a:solidFill>
                <a:effectLst/>
              </a:rPr>
              <a:t>.</a:t>
            </a:r>
            <a:endParaRPr lang="en-IN" dirty="0"/>
          </a:p>
          <a:p>
            <a:r>
              <a:rPr lang="en-IN" dirty="0">
                <a:solidFill>
                  <a:srgbClr val="000000"/>
                </a:solidFill>
              </a:rPr>
              <a:t>&gt;</a:t>
            </a:r>
            <a:endParaRPr lang="en-IN" dirty="0"/>
          </a:p>
          <a:p>
            <a:r>
              <a:rPr lang="en-IN" dirty="0">
                <a:solidFill>
                  <a:srgbClr val="000000"/>
                </a:solidFill>
              </a:rPr>
              <a:t>&gt; At the bottom</a:t>
            </a:r>
            <a:r>
              <a:rPr lang="en-IN" b="0" kern="1200" dirty="0">
                <a:solidFill>
                  <a:srgbClr val="000000"/>
                </a:solidFill>
                <a:effectLst/>
              </a:rPr>
              <a:t>, </a:t>
            </a:r>
            <a:r>
              <a:rPr lang="en-IN" dirty="0">
                <a:solidFill>
                  <a:srgbClr val="000000"/>
                </a:solidFill>
              </a:rPr>
              <a:t>four resources power the pipeline: a local </a:t>
            </a:r>
            <a:r>
              <a:rPr lang="en-IN" dirty="0" err="1">
                <a:solidFill>
                  <a:srgbClr val="000000"/>
                </a:solidFill>
              </a:rPr>
              <a:t>DuckDB</a:t>
            </a:r>
            <a:r>
              <a:rPr lang="en-IN" dirty="0">
                <a:solidFill>
                  <a:srgbClr val="000000"/>
                </a:solidFill>
              </a:rPr>
              <a:t> dose-event log, the LLM provider API, the trained T-learner on the synthetic patient panel, and the epilepsy care plan JSON</a:t>
            </a:r>
            <a:r>
              <a:rPr lang="en-IN" b="0" kern="1200" dirty="0">
                <a:solidFill>
                  <a:srgbClr val="000000"/>
                </a:solidFill>
                <a:effectLst/>
              </a:rPr>
              <a:t>.</a:t>
            </a:r>
            <a:endParaRPr lang="en-IN" dirty="0"/>
          </a:p>
          <a:p>
            <a:r>
              <a:rPr lang="en-IN" dirty="0">
                <a:solidFill>
                  <a:srgbClr val="000000"/>
                </a:solidFill>
              </a:rPr>
              <a:t>&gt;</a:t>
            </a:r>
            <a:endParaRPr lang="en-IN" dirty="0"/>
          </a:p>
          <a:p>
            <a:r>
              <a:rPr lang="en-IN" dirty="0">
                <a:solidFill>
                  <a:srgbClr val="000000"/>
                </a:solidFill>
              </a:rPr>
              <a:t>&gt; The worked example on this slide traces a real demo interaction. A missed-dose message triggers FLAG triage, a grounded LLM reply, and in the HCP Dashboard, the T-learner recommends an HCP check-in -- the only arm whose confidence interval lies entirely above zero."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26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EF297-1946-45ED-97D8-9C69C4709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23617-FC63-5FD1-C0FE-A4B96E637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B344B-D5BA-1900-3D49-F04A83B28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Six data assets power this system. Let me walk through what each one does and why it was built the way it was.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epilepsy care plan JSON is the clinical constitution for the LLM. It encodes levetiracetam and lamotrigine dosing, the HCP contact, and the quick-reply templates the UI exposes. When the LLM generates a check-in reply, it is working inside the boundaries this file defines -- it cannot invent a dose, contradict a schedule, or recommend something the care plan does not authorize.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synthetic patient panel is the training data for the T-learner. Five hundred patients, 100 per intervention arm. The important design decision here is that the ground-truth treatment effects are hand-coded into the data-generating function -- HCP check-in uplift scales with side-effect score, reminder-call uplift scales with non-adherence and low engagement. This is intentional: it gives us a known answer to check the model against. We are not hoping the T-learner finds a signal; we built the signal in and can verify the model recovers it.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DuckDB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adherence log is the real-time data layer. Every dose event -- taken or missed, medication, timestamp -- is stored here. In this POC it is seeded at startup with 28 days of synthetic history at roughly 85% adherence. In production, this table would be replaced by an OMOP CDM or a live FHIR feed from an EHR. The rest of the pipeline does not need to change.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Qini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backtest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from running the T-learner on a separate 500-patient holdout -- not the training set -- and scoring the ranked contact curve against random. This is where the 0.35 versus 0.08 AUUC result comes from.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Cleanlab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audit is a data quality check on the synthetic panel itself. Label noise is a known risk in stochastic data generators: an outcome might be recorded as zero for a patient whose features strongly predict a positive response.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Cleanlab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finds those rows using cross-validated random forest probabilities. The audit confirmed that label noise is within expected bounds -- so the T-learner is not fighting corrupted training signal.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5E7FB-4622-F84C-B596-62E27413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85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FD89-204F-1FB9-123F-F378E2F0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987B2-0316-2E2A-A3A7-648D273DD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CDBDD-79AB-F7E1-9725-171AB0F4A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start with the most common patient scenario: a missed dose.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I'll tap the quick-message button -- these are care-plan-specific pre-built messages, pulled directly from the epilepsy JSON. They cover the typical reasons a patient opens the app.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Watch what happens when the message submits. The first thing the system does is run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**safety triage**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 a deterministic, regex-based classifier that operates with zero LLM involvement. It does not need an API key. It does not need a network connection.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Here is the result: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**FLAG badge**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yellow. That means the triage engine detected a missed-dose pattern and set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hcp_alert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True`. The prescribed patient actions appear immediately -- 'Contact your neurologist before taking extra medication. Do NOT double your dose.'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Below that is the LLM reply: empathetic, concise, grounded in Keppra specifically -- not generic advice. Notice the triage level is confirmed in the LLM output. Even if the model wanted to say 'it's probably fine, wait and see', it cannot -- the triage level is injected as a hard system constraint the model must echo.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At the bottom of the page, a warning banner confirms: 'FLAG -- Care team notified of missed dose.'"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68010-C076-94CD-DCF3-7E680E502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22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F96D1-7991-D433-370A-C25CEDC37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686BC-7311-5EBB-D34E-143863BDE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CBFA2-F788-161A-75B3-DD1E34CFA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start with the most common patient scenario: a missed dose.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I'll tap the quick-message button -- these are care-plan-specific pre-built messages, pulled directly from the epilepsy JSON. They cover the typical reasons a patient opens the app.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Watch what happens when the message submits. The first thing the system does is run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**safety triage**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 a deterministic, regex-based classifier that operates with zero LLM involvement. It does not need an API key. It does not need a network connection.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Here is the result: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**FLAG badge**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yellow. That means the triage engine detected a missed-dose pattern and set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hcp_alert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True`. The prescribed patient actions appear immediately -- 'Contact your neurologist before taking extra medication. Do NOT double your dose.'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Below that is the LLM reply: empathetic, concise, grounded in Keppra specifically -- not generic advice. Notice the triage level is confirmed in the LLM output. Even if the model wanted to say 'it's probably fine, wait and see', it cannot -- the triage level is injected as a hard system constraint the model must echo.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At the bottom of the page, a warning banner confirms: 'FLAG -- Care team notified of missed dose.'"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67648-F616-541A-B0C8-7C51C6996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83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5FB85-27BC-CB86-8690-B55D5A658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3CCE6-7AD4-F20B-05D7-79FDB1909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058EE-646B-9C54-A158-536FFDD87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start with the most common patient scenario: a missed dose.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I'll tap the quick-message button -- these are care-plan-specific pre-built messages, pulled directly from the epilepsy JSON. They cover the typical reasons a patient opens the app.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Watch what happens when the message submits. The first thing the system does is run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**safety triage**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 a deterministic, regex-based classifier that operates with zero LLM involvement. It does not need an API key. It does not need a network connection.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Here is the result: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**FLAG badge**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yellow. That means the triage engine detected a missed-dose pattern and set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hcp_alert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True`. The prescribed patient actions appear immediately -- 'Contact your neurologist before taking extra medication. Do NOT double your dose.'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Below that is the LLM reply: empathetic, concise, grounded in Keppra specifically -- not generic advice. Notice the triage level is confirmed in the LLM output. Even if the model wanted to say 'it's probably fine, wait and see', it cannot -- the triage level is injected as a hard system constraint the model must echo.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At the bottom of the page, a warning banner confirms: 'FLAG -- Care team notified of missed dose.'"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10BBD-F8C9-2899-FCCD-E8CDCF5EA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35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F108-EC8D-D1AB-ABD8-267D70FCE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631E1-E050-639F-3332-D9F983FAA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DCF27-79EB-098E-0A48-A6B5CFA3C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Six data assets power this system. Let me walk through what each one does and why it was built the way it was.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epilepsy care plan JSON is the clinical constitution for the LLM. It encodes levetiracetam and lamotrigine dosing, the HCP contact, and the quick-reply templates the UI exposes. When the LLM generates a check-in reply, it is working inside the boundaries this file defines -- it cannot invent a dose, contradict a schedule, or recommend something the care plan does not authorize.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synthetic patient panel is the training data for the T-learner. Five hundred patients, 100 per intervention arm. The important design decision here is that the ground-truth treatment effects are hand-coded into the data-generating function -- HCP check-in uplift scales with side-effect score, reminder-call uplift scales with non-adherence and low engagement. This is intentional: it gives us a known answer to check the model against. We are not hoping the T-learner finds a signal; we built the signal in and can verify the model recovers it.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DuckDB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adherence log is the real-time data layer. Every dose event -- taken or missed, medication, timestamp -- is stored here. In this POC it is seeded at startup with 28 days of synthetic history at roughly 85% adherence. In production, this table would be replaced by an OMOP CDM or a live FHIR feed from an EHR. The rest of the pipeline does not need to change.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Qini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backtest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from running the T-learner on a separate 500-patient holdout -- not the training set -- and scoring the ranked contact curve against random. This is where the 0.35 versus 0.08 AUUC result comes from.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Cleanlab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audit is a data quality check on the synthetic panel itself. Label noise is a known risk in stochastic data generators: an outcome might be recorded as zero for a patient whose features strongly predict a positive response.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Cleanlab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finds those rows using cross-validated random forest probabilities. The audit confirmed that label noise is within expected bounds -- so the T-learner is not fighting corrupted training signal.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307CE-2187-82E0-A2EB-0B929DCDF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91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only variable runtime cost is </a:t>
            </a:r>
            <a:r>
              <a:rPr lang="en-IN" b="0" kern="1200" dirty="0">
                <a:effectLst/>
              </a:rPr>
              <a:t>the </a:t>
            </a:r>
            <a:r>
              <a:rPr lang="en-IN" dirty="0"/>
              <a:t>Step 5 LLM call. Steps 1 through 4 are pure Python with no paid API calls</a:t>
            </a:r>
            <a:r>
              <a:rPr lang="en-IN" b="0" kern="1200" dirty="0">
                <a:effectLst/>
              </a:rPr>
              <a:t>. </a:t>
            </a:r>
            <a:endParaRPr lang="en-US"/>
          </a:p>
          <a:p>
            <a:endParaRPr lang="en-IN" dirty="0"/>
          </a:p>
          <a:p>
            <a:r>
              <a:rPr lang="en-IN" dirty="0"/>
              <a:t>At 100 runs per month -- typical for a team managing multiple trials -- LLM cost ranges from under two cents </a:t>
            </a:r>
            <a:r>
              <a:rPr lang="en-IN" b="0" kern="1200" dirty="0">
                <a:effectLst/>
              </a:rPr>
              <a:t>on </a:t>
            </a:r>
            <a:r>
              <a:rPr lang="en-IN" b="0" kern="1200" dirty="0" err="1">
                <a:effectLst/>
              </a:rPr>
              <a:t>Groq</a:t>
            </a:r>
            <a:r>
              <a:rPr lang="en-IN" dirty="0"/>
              <a:t> to </a:t>
            </a:r>
            <a:r>
              <a:rPr lang="en-IN" b="0" kern="1200" dirty="0">
                <a:effectLst/>
              </a:rPr>
              <a:t>$</a:t>
            </a:r>
            <a:r>
              <a:rPr lang="en-IN" dirty="0"/>
              <a:t>1.80 on Claude Sonnet. </a:t>
            </a:r>
            <a:endParaRPr lang="en-US"/>
          </a:p>
          <a:p>
            <a:r>
              <a:rPr lang="en-IN"/>
              <a:t>All four supported providers stay well </a:t>
            </a:r>
            <a:r>
              <a:rPr lang="en-IN" b="0" kern="1200">
                <a:effectLst/>
              </a:rPr>
              <a:t>under $</a:t>
            </a:r>
            <a:r>
              <a:rPr lang="en-IN"/>
              <a:t>2 per </a:t>
            </a:r>
            <a:r>
              <a:rPr lang="en-IN" b="0" kern="1200">
                <a:effectLst/>
              </a:rPr>
              <a:t>month.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317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13782-1050-F24A-808A-0C92F5FA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E5595-0AE9-AD8B-1398-AB2D6ABDA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715DF-C845-5E83-04DD-C92E4871E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me close with the key takeaways.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First, this system is safe by design -- not by prompt. Triage is deterministic and the LLM operates inside a hard constraint. That is the correct architecture for clinical AI.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Second, the agent is genuinely causal. It does not ask 'who should we contact?' -- it asks 'what changes this patient's behavior, and does it change it enough to justify contact?' The explicit 'no contact' recommendation is as important as any positive recommendation.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Third, we have evidence the targeting works.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Qini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backtest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not a theoretical claim -- it is a reproducible validation on a holdout 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422B0-31CE-6B9A-01FB-8118EB8F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E368-8A26-4A7B-9E6B-1FADBDDA0C0D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117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61D3703-5C79-B4E4-21EC-B49DD89D78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3389" y="1747935"/>
            <a:ext cx="708025" cy="4520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78000"/>
              </a:lnSpc>
              <a:buNone/>
              <a:defRPr sz="25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E44B0BA-D8AF-A86C-FFEA-627BEFEB64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4446" y="118139"/>
            <a:ext cx="415337" cy="392263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F5DD69A-4266-940E-11E2-3DFA0873CB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3389" y="462649"/>
            <a:ext cx="2456526" cy="983408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/>
              <a:t>Agenda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7AD0BED-ED3D-FB94-0687-023A5272884E}"/>
              </a:ext>
            </a:extLst>
          </p:cNvPr>
          <p:cNvGrpSpPr/>
          <p:nvPr userDrawn="1"/>
        </p:nvGrpSpPr>
        <p:grpSpPr>
          <a:xfrm>
            <a:off x="8043169" y="66195"/>
            <a:ext cx="4148831" cy="6808811"/>
            <a:chOff x="6052008" y="50585"/>
            <a:chExt cx="3091992" cy="5105331"/>
          </a:xfrm>
        </p:grpSpPr>
        <p:pic>
          <p:nvPicPr>
            <p:cNvPr id="7" name="Picture 6" descr="A purple cube with a ball on top&#10;&#10;Description automatically generated">
              <a:extLst>
                <a:ext uri="{FF2B5EF4-FFF2-40B4-BE49-F238E27FC236}">
                  <a16:creationId xmlns:a16="http://schemas.microsoft.com/office/drawing/2014/main" id="{8425CD9C-313F-5D22-1344-45BB98D2EA26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3888"/>
            <a:stretch/>
          </p:blipFill>
          <p:spPr>
            <a:xfrm>
              <a:off x="6052008" y="50585"/>
              <a:ext cx="3091992" cy="509291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71DEBA0-C577-5BB3-C0D6-827F5B6F3764}"/>
                </a:ext>
              </a:extLst>
            </p:cNvPr>
            <p:cNvSpPr/>
            <p:nvPr/>
          </p:nvSpPr>
          <p:spPr>
            <a:xfrm>
              <a:off x="6429080" y="50586"/>
              <a:ext cx="2714919" cy="5105330"/>
            </a:xfrm>
            <a:prstGeom prst="rect">
              <a:avLst/>
            </a:prstGeom>
            <a:gradFill flip="none" rotWithShape="1">
              <a:gsLst>
                <a:gs pos="67000">
                  <a:srgbClr val="BDDDFF">
                    <a:alpha val="30000"/>
                  </a:srgbClr>
                </a:gs>
                <a:gs pos="17000">
                  <a:srgbClr val="F7FBFF"/>
                </a:gs>
                <a:gs pos="0">
                  <a:schemeClr val="bg1"/>
                </a:gs>
                <a:gs pos="100000">
                  <a:srgbClr val="B0D6FF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03AFEDF-57E1-68EA-2FD1-BABF53FED6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50257" y="1747935"/>
            <a:ext cx="7372517" cy="45201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78000"/>
              </a:lnSpc>
              <a:buNone/>
              <a:defRPr sz="2500">
                <a:gradFill flip="none" rotWithShape="1">
                  <a:gsLst>
                    <a:gs pos="0">
                      <a:srgbClr val="001C49"/>
                    </a:gs>
                    <a:gs pos="75000">
                      <a:srgbClr val="142DA1"/>
                    </a:gs>
                    <a:gs pos="100000">
                      <a:srgbClr val="1B5EEE"/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pPr lvl="0"/>
            <a:r>
              <a:rPr lang="en-US"/>
              <a:t>Insert Agenda Item here</a:t>
            </a:r>
          </a:p>
          <a:p>
            <a:pPr marL="0" marR="0" lvl="0" indent="0" algn="l" defTabSz="914400" rtl="0" eaLnBrk="1" fontAlgn="auto" latinLnBrk="0" hangingPunct="1">
              <a:lnSpc>
                <a:spcPct val="17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Agenda Item here</a:t>
            </a:r>
          </a:p>
          <a:p>
            <a:pPr marL="0" marR="0" lvl="0" indent="0" algn="l" defTabSz="914400" rtl="0" eaLnBrk="1" fontAlgn="auto" latinLnBrk="0" hangingPunct="1">
              <a:lnSpc>
                <a:spcPct val="17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Agenda Item here</a:t>
            </a:r>
          </a:p>
          <a:p>
            <a:pPr marL="0" marR="0" lvl="0" indent="0" algn="l" defTabSz="914400" rtl="0" eaLnBrk="1" fontAlgn="auto" latinLnBrk="0" hangingPunct="1">
              <a:lnSpc>
                <a:spcPct val="17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Agenda Item here</a:t>
            </a:r>
          </a:p>
        </p:txBody>
      </p:sp>
    </p:spTree>
    <p:extLst>
      <p:ext uri="{BB962C8B-B14F-4D97-AF65-F5344CB8AC3E}">
        <p14:creationId xmlns:p14="http://schemas.microsoft.com/office/powerpoint/2010/main" val="1838276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_One Column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59E6066-7171-4733-ED27-B2946D1349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181600" y="64477"/>
            <a:ext cx="7010400" cy="67935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i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*Please refer to curated images in master slide* </a:t>
            </a:r>
            <a:br>
              <a:rPr lang="en-US"/>
            </a:br>
            <a:r>
              <a:rPr lang="en-US"/>
              <a:t>Drag picture to placeholder or click icon to add, then sent to back. </a:t>
            </a:r>
          </a:p>
        </p:txBody>
      </p:sp>
      <p:sp>
        <p:nvSpPr>
          <p:cNvPr id="4" name="Date Placeholder 10">
            <a:extLst>
              <a:ext uri="{FF2B5EF4-FFF2-40B4-BE49-F238E27FC236}">
                <a16:creationId xmlns:a16="http://schemas.microsoft.com/office/drawing/2014/main" id="{85279EB8-8BD8-89E2-0AE8-1806FAC74506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90" y="3246237"/>
            <a:ext cx="326314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32600B4-E77A-2091-784F-D89EB5F722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9" y="3503008"/>
            <a:ext cx="3262783" cy="841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Presenter 20pt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4116ACC-9CB6-A397-ED07-DCB38F4FFB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999" y="762000"/>
            <a:ext cx="4591051" cy="234314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4800" b="1" i="0">
                <a:solidFill>
                  <a:schemeClr val="tx1"/>
                </a:solidFill>
                <a:latin typeface="Aptos Display" panose="020B00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presentation title here 48pt</a:t>
            </a:r>
          </a:p>
        </p:txBody>
      </p:sp>
      <p:pic>
        <p:nvPicPr>
          <p:cNvPr id="15" name="Picture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611DA6-634E-ECA2-8BA6-71059AB04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0999" y="5748224"/>
            <a:ext cx="2256765" cy="45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2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675F086-AA52-B2E4-F0FC-FC402A913685}"/>
              </a:ext>
            </a:extLst>
          </p:cNvPr>
          <p:cNvGrpSpPr/>
          <p:nvPr userDrawn="1"/>
        </p:nvGrpSpPr>
        <p:grpSpPr>
          <a:xfrm>
            <a:off x="9716720" y="69516"/>
            <a:ext cx="2475280" cy="6788484"/>
            <a:chOff x="9716720" y="69516"/>
            <a:chExt cx="2475280" cy="6788484"/>
          </a:xfrm>
        </p:grpSpPr>
        <p:pic>
          <p:nvPicPr>
            <p:cNvPr id="5" name="Picture 4" descr="Two people sitting in chairs&#10;&#10;Description automatically generated">
              <a:extLst>
                <a:ext uri="{FF2B5EF4-FFF2-40B4-BE49-F238E27FC236}">
                  <a16:creationId xmlns:a16="http://schemas.microsoft.com/office/drawing/2014/main" id="{55063E28-7C5F-335D-ED85-F55BC0CB2B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047514" y="69802"/>
              <a:ext cx="2144486" cy="678819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ABD166-CAF5-3C04-5BFD-1F49EB45D0BB}"/>
                </a:ext>
              </a:extLst>
            </p:cNvPr>
            <p:cNvSpPr/>
            <p:nvPr userDrawn="1"/>
          </p:nvSpPr>
          <p:spPr>
            <a:xfrm>
              <a:off x="9716720" y="69516"/>
              <a:ext cx="858129" cy="7368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BD5728-B8DF-B00F-630F-0DE691E7CE08}"/>
                </a:ext>
              </a:extLst>
            </p:cNvPr>
            <p:cNvSpPr/>
            <p:nvPr userDrawn="1"/>
          </p:nvSpPr>
          <p:spPr>
            <a:xfrm>
              <a:off x="10371250" y="548176"/>
              <a:ext cx="571273" cy="56734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68F367-6BF3-1A3C-A1F1-D5BE5AB339B5}"/>
                </a:ext>
              </a:extLst>
            </p:cNvPr>
            <p:cNvSpPr/>
            <p:nvPr userDrawn="1"/>
          </p:nvSpPr>
          <p:spPr>
            <a:xfrm>
              <a:off x="9973688" y="1479054"/>
              <a:ext cx="439261" cy="4362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DD171A-FE74-3FCA-7732-87B4CB3AF812}"/>
                </a:ext>
              </a:extLst>
            </p:cNvPr>
            <p:cNvSpPr/>
            <p:nvPr userDrawn="1"/>
          </p:nvSpPr>
          <p:spPr>
            <a:xfrm>
              <a:off x="11571134" y="735009"/>
              <a:ext cx="195021" cy="1936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812C74-D977-BF56-663A-9718C6485A6E}"/>
                </a:ext>
              </a:extLst>
            </p:cNvPr>
            <p:cNvSpPr/>
            <p:nvPr userDrawn="1"/>
          </p:nvSpPr>
          <p:spPr>
            <a:xfrm>
              <a:off x="10845012" y="175705"/>
              <a:ext cx="195021" cy="1936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61D3703-5C79-B4E4-21EC-B49DD89D78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80833" y="831850"/>
            <a:ext cx="708025" cy="49554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78000"/>
              </a:lnSpc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06</a:t>
            </a:r>
          </a:p>
          <a:p>
            <a:pPr lvl="0"/>
            <a:r>
              <a:rPr lang="en-US"/>
              <a:t>07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03AFEDF-57E1-68EA-2FD1-BABF53FED6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701" y="831850"/>
            <a:ext cx="5034091" cy="49554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78000"/>
              </a:lnSpc>
              <a:buNone/>
              <a:defRPr sz="2100">
                <a:gradFill flip="none" rotWithShape="1">
                  <a:gsLst>
                    <a:gs pos="0">
                      <a:srgbClr val="001C49"/>
                    </a:gs>
                    <a:gs pos="75000">
                      <a:srgbClr val="142DA1"/>
                    </a:gs>
                    <a:gs pos="100000">
                      <a:srgbClr val="1B5EEE"/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pPr lvl="0"/>
            <a:r>
              <a:rPr lang="en-US"/>
              <a:t>Insert Agenda Item here</a:t>
            </a:r>
          </a:p>
          <a:p>
            <a:pPr marL="0" marR="0" lvl="0" indent="0" algn="l" defTabSz="914400" rtl="0" eaLnBrk="1" fontAlgn="auto" latinLnBrk="0" hangingPunct="1">
              <a:lnSpc>
                <a:spcPct val="17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Agenda Item here</a:t>
            </a:r>
          </a:p>
          <a:p>
            <a:pPr marL="0" marR="0" lvl="0" indent="0" algn="l" defTabSz="914400" rtl="0" eaLnBrk="1" fontAlgn="auto" latinLnBrk="0" hangingPunct="1">
              <a:lnSpc>
                <a:spcPct val="17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Agenda Item here</a:t>
            </a:r>
          </a:p>
          <a:p>
            <a:pPr marL="0" marR="0" lvl="0" indent="0" algn="l" defTabSz="914400" rtl="0" eaLnBrk="1" fontAlgn="auto" latinLnBrk="0" hangingPunct="1">
              <a:lnSpc>
                <a:spcPct val="17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Agenda Item here</a:t>
            </a:r>
          </a:p>
          <a:p>
            <a:pPr marL="0" marR="0" lvl="0" indent="0" algn="l" defTabSz="914400" rtl="0" eaLnBrk="1" fontAlgn="auto" latinLnBrk="0" hangingPunct="1">
              <a:lnSpc>
                <a:spcPct val="17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Agenda Item here</a:t>
            </a:r>
          </a:p>
          <a:p>
            <a:pPr marL="0" marR="0" lvl="0" indent="0" algn="l" defTabSz="914400" rtl="0" eaLnBrk="1" fontAlgn="auto" latinLnBrk="0" hangingPunct="1">
              <a:lnSpc>
                <a:spcPct val="17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Agenda Item here</a:t>
            </a:r>
          </a:p>
          <a:p>
            <a:pPr marL="0" marR="0" lvl="0" indent="0" algn="l" defTabSz="914400" rtl="0" eaLnBrk="1" fontAlgn="auto" latinLnBrk="0" hangingPunct="1">
              <a:lnSpc>
                <a:spcPct val="17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Agenda Item here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E44B0BA-D8AF-A86C-FFEA-627BEFEB64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4446" y="118139"/>
            <a:ext cx="415337" cy="392263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1E9E38-1426-2B03-1642-DD875734A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429" y="806679"/>
            <a:ext cx="2144486" cy="7717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 i="0">
                <a:solidFill>
                  <a:schemeClr val="tx1">
                    <a:lumMod val="85000"/>
                    <a:lumOff val="15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87541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0A888-B302-670A-FEC2-FBB32DB0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873" y="1270535"/>
            <a:ext cx="11599127" cy="5285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8B0AEC-4F17-253D-01D0-6A2C435A9D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871" y="290619"/>
            <a:ext cx="11393549" cy="49173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/>
            </a:lvl1pPr>
          </a:lstStyle>
          <a:p>
            <a:r>
              <a:rPr lang="en-US" sz="2800" b="1"/>
              <a:t>Title: </a:t>
            </a:r>
            <a:r>
              <a:rPr lang="en-US" sz="2800"/>
              <a:t>Continue Text Here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4213C5DF-BC76-C8A7-069A-52B1289F4F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313" y="818194"/>
            <a:ext cx="11393487" cy="287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1600" b="1" kern="1200" dirty="0">
                <a:gradFill flip="none" rotWithShape="1">
                  <a:gsLst>
                    <a:gs pos="100000">
                      <a:srgbClr val="0038EA">
                        <a:lumMod val="85000"/>
                      </a:srgbClr>
                    </a:gs>
                    <a:gs pos="0">
                      <a:srgbClr val="006BFA"/>
                    </a:gs>
                  </a:gsLst>
                  <a:lin ang="10800000" scaled="1"/>
                  <a:tileRect/>
                </a:gra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 Sub-Title Here</a:t>
            </a:r>
          </a:p>
        </p:txBody>
      </p:sp>
    </p:spTree>
    <p:extLst>
      <p:ext uri="{BB962C8B-B14F-4D97-AF65-F5344CB8AC3E}">
        <p14:creationId xmlns:p14="http://schemas.microsoft.com/office/powerpoint/2010/main" val="350850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DE062DB4-6444-05C4-2464-BE56677E8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71" y="136525"/>
            <a:ext cx="11393549" cy="1090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F150C54-D8EC-B08A-6BF2-DECF6B86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873" y="1393902"/>
            <a:ext cx="11599127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3">
            <a:extLst>
              <a:ext uri="{FF2B5EF4-FFF2-40B4-BE49-F238E27FC236}">
                <a16:creationId xmlns:a16="http://schemas.microsoft.com/office/drawing/2014/main" id="{E056463A-8DBC-7E58-DE7D-BC2356EDA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604" y="6573953"/>
            <a:ext cx="4114800" cy="253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>
                <a:ea typeface="Inter" panose="02000503000000020004" pitchFamily="2" charset="0"/>
                <a:cs typeface="Inter" panose="02000503000000020004" pitchFamily="2" charset="0"/>
              </a:rPr>
              <a:t>Copyright ©2024 TAO Digital - All rights reserved.</a:t>
            </a:r>
            <a:endParaRPr lang="en-US"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3" name="Slide Number Placeholder 14">
            <a:extLst>
              <a:ext uri="{FF2B5EF4-FFF2-40B4-BE49-F238E27FC236}">
                <a16:creationId xmlns:a16="http://schemas.microsoft.com/office/drawing/2014/main" id="{0A6551E2-0A79-5431-20D8-851D14D95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8781" y="138363"/>
            <a:ext cx="4274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0AD2A-47CA-5048-AE47-5BD657455FE4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Asset 34logoblue.png" descr="Asset 34logoblue.png">
            <a:extLst>
              <a:ext uri="{FF2B5EF4-FFF2-40B4-BE49-F238E27FC236}">
                <a16:creationId xmlns:a16="http://schemas.microsoft.com/office/drawing/2014/main" id="{B9A8E16D-2FC7-8F0F-E67A-390500F575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8696"/>
          <a:stretch>
            <a:fillRect/>
          </a:stretch>
        </p:blipFill>
        <p:spPr>
          <a:xfrm>
            <a:off x="11727479" y="152009"/>
            <a:ext cx="401099" cy="3679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55973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lank">
    <p:bg>
      <p:bgPr>
        <a:gradFill>
          <a:gsLst>
            <a:gs pos="100000">
              <a:srgbClr val="F6F6F6"/>
            </a:gs>
            <a:gs pos="0">
              <a:srgbClr val="A6DFFF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sky&#10;&#10;Description automatically generated">
            <a:extLst>
              <a:ext uri="{FF2B5EF4-FFF2-40B4-BE49-F238E27FC236}">
                <a16:creationId xmlns:a16="http://schemas.microsoft.com/office/drawing/2014/main" id="{17BBE463-6567-0E24-99C0-91C85DA9EA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82" y="72529"/>
            <a:ext cx="12187617" cy="6860466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BBAA966-4DE5-8263-E911-DAAA1B0611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9149" y="1499717"/>
            <a:ext cx="8566011" cy="385856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6200" b="0" i="0" spc="-150">
                <a:gradFill>
                  <a:gsLst>
                    <a:gs pos="100000">
                      <a:srgbClr val="467FF0">
                        <a:lumMod val="63000"/>
                      </a:srgbClr>
                    </a:gs>
                    <a:gs pos="0">
                      <a:srgbClr val="42A5F5">
                        <a:lumMod val="92000"/>
                        <a:lumOff val="8000"/>
                      </a:srgbClr>
                    </a:gs>
                  </a:gsLst>
                  <a:lin ang="16200000" scaled="1"/>
                </a:gradFill>
                <a:latin typeface="Aptos Light" panose="020B0004020202020204" pitchFamily="34" charset="0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516D1533-1B39-819D-34FD-D6EEC2F54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159" y="6543640"/>
            <a:ext cx="4114800" cy="253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>
                <a:ea typeface="Inter" panose="02000503000000020004" pitchFamily="2" charset="0"/>
                <a:cs typeface="Inter" panose="02000503000000020004" pitchFamily="2" charset="0"/>
              </a:rPr>
              <a:t>Copyright ©2024 TAO Digital - All rights reserved.</a:t>
            </a:r>
            <a:endParaRPr lang="en-US"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10" name="Asset 34logoblue.png" descr="Asset 34logoblue.png">
            <a:extLst>
              <a:ext uri="{FF2B5EF4-FFF2-40B4-BE49-F238E27FC236}">
                <a16:creationId xmlns:a16="http://schemas.microsoft.com/office/drawing/2014/main" id="{816D3731-5EB9-471D-0CA1-E25E12FDCE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8696"/>
          <a:stretch>
            <a:fillRect/>
          </a:stretch>
        </p:blipFill>
        <p:spPr>
          <a:xfrm>
            <a:off x="78060" y="6417570"/>
            <a:ext cx="401099" cy="3679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511139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DE062DB4-6444-05C4-2464-BE56677E8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71" y="136525"/>
            <a:ext cx="11393549" cy="1090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F150C54-D8EC-B08A-6BF2-DECF6B86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873" y="1393902"/>
            <a:ext cx="11599127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3">
            <a:extLst>
              <a:ext uri="{FF2B5EF4-FFF2-40B4-BE49-F238E27FC236}">
                <a16:creationId xmlns:a16="http://schemas.microsoft.com/office/drawing/2014/main" id="{E056463A-8DBC-7E58-DE7D-BC2356EDA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604" y="6573953"/>
            <a:ext cx="4114800" cy="253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>
                <a:ea typeface="Inter" panose="02000503000000020004" pitchFamily="2" charset="0"/>
                <a:cs typeface="Inter" panose="02000503000000020004" pitchFamily="2" charset="0"/>
              </a:rPr>
              <a:t>Copyright ©2024 TAO Digital - All rights reserved.</a:t>
            </a:r>
            <a:endParaRPr lang="en-US"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3" name="Slide Number Placeholder 14">
            <a:extLst>
              <a:ext uri="{FF2B5EF4-FFF2-40B4-BE49-F238E27FC236}">
                <a16:creationId xmlns:a16="http://schemas.microsoft.com/office/drawing/2014/main" id="{0A6551E2-0A79-5431-20D8-851D14D95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8781" y="138363"/>
            <a:ext cx="4274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0AD2A-47CA-5048-AE47-5BD657455FE4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Asset 34logoblue.png" descr="Asset 34logoblue.png">
            <a:extLst>
              <a:ext uri="{FF2B5EF4-FFF2-40B4-BE49-F238E27FC236}">
                <a16:creationId xmlns:a16="http://schemas.microsoft.com/office/drawing/2014/main" id="{B9A8E16D-2FC7-8F0F-E67A-390500F575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8696"/>
          <a:stretch>
            <a:fillRect/>
          </a:stretch>
        </p:blipFill>
        <p:spPr>
          <a:xfrm>
            <a:off x="11727479" y="152009"/>
            <a:ext cx="401099" cy="3679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82197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lank">
    <p:bg>
      <p:bgPr>
        <a:gradFill>
          <a:gsLst>
            <a:gs pos="100000">
              <a:srgbClr val="F6F6F6"/>
            </a:gs>
            <a:gs pos="0">
              <a:srgbClr val="A6DFFF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sky&#10;&#10;Description automatically generated">
            <a:extLst>
              <a:ext uri="{FF2B5EF4-FFF2-40B4-BE49-F238E27FC236}">
                <a16:creationId xmlns:a16="http://schemas.microsoft.com/office/drawing/2014/main" id="{17BBE463-6567-0E24-99C0-91C85DA9EA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82" y="72529"/>
            <a:ext cx="12187617" cy="6860466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BBAA966-4DE5-8263-E911-DAAA1B0611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9149" y="1499717"/>
            <a:ext cx="8566011" cy="385856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6200" b="0" i="0" spc="-150">
                <a:gradFill>
                  <a:gsLst>
                    <a:gs pos="100000">
                      <a:srgbClr val="467FF0">
                        <a:lumMod val="63000"/>
                      </a:srgbClr>
                    </a:gs>
                    <a:gs pos="0">
                      <a:srgbClr val="42A5F5">
                        <a:lumMod val="92000"/>
                        <a:lumOff val="8000"/>
                      </a:srgbClr>
                    </a:gs>
                  </a:gsLst>
                  <a:lin ang="16200000" scaled="1"/>
                </a:gradFill>
                <a:latin typeface="Aptos Light" panose="020B0004020202020204" pitchFamily="34" charset="0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516D1533-1B39-819D-34FD-D6EEC2F54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159" y="6543640"/>
            <a:ext cx="4114800" cy="253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>
                <a:ea typeface="Inter" panose="02000503000000020004" pitchFamily="2" charset="0"/>
                <a:cs typeface="Inter" panose="02000503000000020004" pitchFamily="2" charset="0"/>
              </a:rPr>
              <a:t>Copyright ©2024 TAO Digital - All rights reserved.</a:t>
            </a:r>
            <a:endParaRPr lang="en-US"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10" name="Asset 34logoblue.png" descr="Asset 34logoblue.png">
            <a:extLst>
              <a:ext uri="{FF2B5EF4-FFF2-40B4-BE49-F238E27FC236}">
                <a16:creationId xmlns:a16="http://schemas.microsoft.com/office/drawing/2014/main" id="{816D3731-5EB9-471D-0CA1-E25E12FDCE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8696"/>
          <a:stretch>
            <a:fillRect/>
          </a:stretch>
        </p:blipFill>
        <p:spPr>
          <a:xfrm>
            <a:off x="78060" y="6417570"/>
            <a:ext cx="401099" cy="3679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06565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sset 34logoblue.png" descr="Asset 34logoblue.png">
            <a:extLst>
              <a:ext uri="{FF2B5EF4-FFF2-40B4-BE49-F238E27FC236}">
                <a16:creationId xmlns:a16="http://schemas.microsoft.com/office/drawing/2014/main" id="{7AAC497E-B78C-D27A-9F49-BE6AC53DD5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8696"/>
          <a:stretch>
            <a:fillRect/>
          </a:stretch>
        </p:blipFill>
        <p:spPr>
          <a:xfrm>
            <a:off x="78060" y="6417570"/>
            <a:ext cx="401099" cy="367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520501-B790-A353-C666-B5BC2F3FE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97" r="616" b="9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BBAA966-4DE5-8263-E911-DAAA1B0611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9149" y="1499717"/>
            <a:ext cx="8566011" cy="385856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6200" b="0" i="0" spc="-150">
                <a:gradFill>
                  <a:gsLst>
                    <a:gs pos="100000">
                      <a:srgbClr val="467FF0">
                        <a:lumMod val="63000"/>
                      </a:srgbClr>
                    </a:gs>
                    <a:gs pos="0">
                      <a:srgbClr val="42A5F5">
                        <a:lumMod val="92000"/>
                        <a:lumOff val="8000"/>
                      </a:srgbClr>
                    </a:gs>
                  </a:gsLst>
                  <a:lin ang="16200000" scaled="1"/>
                </a:gradFill>
                <a:latin typeface="Aptos Light" panose="020B0004020202020204" pitchFamily="34" charset="0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" name="Footer Placeholder 13">
            <a:extLst>
              <a:ext uri="{FF2B5EF4-FFF2-40B4-BE49-F238E27FC236}">
                <a16:creationId xmlns:a16="http://schemas.microsoft.com/office/drawing/2014/main" id="{AD198DF3-A39F-FFDB-F826-2B6E866CA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6978" y="6506056"/>
            <a:ext cx="4114800" cy="253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>
                <a:ea typeface="Inter" panose="02000503000000020004" pitchFamily="2" charset="0"/>
                <a:cs typeface="Inter" panose="02000503000000020004" pitchFamily="2" charset="0"/>
              </a:rPr>
              <a:t>Copyright ©2024 TAO Digital - All rights reserved.</a:t>
            </a:r>
            <a:endParaRPr lang="en-US"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6" name="Asset 34logoblue.png" descr="Asset 34logoblue.png">
            <a:extLst>
              <a:ext uri="{FF2B5EF4-FFF2-40B4-BE49-F238E27FC236}">
                <a16:creationId xmlns:a16="http://schemas.microsoft.com/office/drawing/2014/main" id="{B03C13AB-8A3B-5F97-CF4E-B7F08F4F96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8696"/>
          <a:stretch>
            <a:fillRect/>
          </a:stretch>
        </p:blipFill>
        <p:spPr>
          <a:xfrm>
            <a:off x="85879" y="6379986"/>
            <a:ext cx="401099" cy="3679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50481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8CD3BE86-B026-E0C4-F035-2D3B4E62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236" y="6589952"/>
            <a:ext cx="401100" cy="248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0AD2A-47CA-5048-AE47-5BD657455F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114DCF-5C71-D146-B603-F721E029B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871" y="290619"/>
            <a:ext cx="11393549" cy="49173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/>
            </a:lvl1pPr>
          </a:lstStyle>
          <a:p>
            <a:r>
              <a:rPr lang="en-US" sz="2800" b="1"/>
              <a:t>Title: </a:t>
            </a:r>
            <a:r>
              <a:rPr lang="en-US" sz="2800"/>
              <a:t>Continue Text Here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C104417-BEDB-251B-3556-8D6E3DE7A4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313" y="818194"/>
            <a:ext cx="11393487" cy="287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1600" b="1" kern="1200" dirty="0">
                <a:gradFill flip="none" rotWithShape="1">
                  <a:gsLst>
                    <a:gs pos="100000">
                      <a:srgbClr val="0038EA">
                        <a:lumMod val="85000"/>
                      </a:srgbClr>
                    </a:gs>
                    <a:gs pos="0">
                      <a:srgbClr val="006BFA"/>
                    </a:gs>
                  </a:gsLst>
                  <a:lin ang="10800000" scaled="1"/>
                  <a:tileRect/>
                </a:gra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A5769E-CF9F-D6F3-D86B-E3892D80CAA3}"/>
              </a:ext>
            </a:extLst>
          </p:cNvPr>
          <p:cNvSpPr txBox="1"/>
          <p:nvPr userDrawn="1"/>
        </p:nvSpPr>
        <p:spPr>
          <a:xfrm>
            <a:off x="-26324" y="6642556"/>
            <a:ext cx="35592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Copyright ©2024 TAO Digital -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81175BA-3626-FB5D-F193-81CF4DC068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41053" y="123125"/>
            <a:ext cx="401100" cy="37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334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8EF4B3-CEA7-34BD-0BC2-57516C061B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9150" y="2247805"/>
            <a:ext cx="5276850" cy="236239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8800" b="1" spc="-150"/>
            </a:lvl1pPr>
          </a:lstStyle>
          <a:p>
            <a:pPr lvl="0"/>
            <a:r>
              <a:rPr lang="en-US"/>
              <a:t>Org </a:t>
            </a:r>
          </a:p>
          <a:p>
            <a:pPr lvl="0"/>
            <a:r>
              <a:rPr lang="en-US"/>
              <a:t>Charts</a:t>
            </a:r>
          </a:p>
        </p:txBody>
      </p:sp>
    </p:spTree>
    <p:extLst>
      <p:ext uri="{BB962C8B-B14F-4D97-AF65-F5344CB8AC3E}">
        <p14:creationId xmlns:p14="http://schemas.microsoft.com/office/powerpoint/2010/main" val="3679925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8CD3BE86-B026-E0C4-F035-2D3B4E62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236" y="6589952"/>
            <a:ext cx="401100" cy="248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0AD2A-47CA-5048-AE47-5BD657455F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114DCF-5C71-D146-B603-F721E029B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872" y="290619"/>
            <a:ext cx="11393549" cy="49173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/>
            </a:lvl1pPr>
          </a:lstStyle>
          <a:p>
            <a:r>
              <a:rPr lang="en-US" sz="2800" b="1"/>
              <a:t>Title: </a:t>
            </a:r>
            <a:r>
              <a:rPr lang="en-US" sz="2800"/>
              <a:t>Continue Text Here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C104417-BEDB-251B-3556-8D6E3DE7A4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313" y="818195"/>
            <a:ext cx="11393487" cy="287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1600" b="1" kern="1200" dirty="0">
                <a:gradFill flip="none" rotWithShape="1">
                  <a:gsLst>
                    <a:gs pos="100000">
                      <a:srgbClr val="0038EA">
                        <a:lumMod val="85000"/>
                      </a:srgbClr>
                    </a:gs>
                    <a:gs pos="0">
                      <a:srgbClr val="006BFA"/>
                    </a:gs>
                  </a:gsLst>
                  <a:lin ang="10800000" scaled="1"/>
                  <a:tileRect/>
                </a:gradFill>
                <a:latin typeface="Aptos" panose="020B0004020202020204" pitchFamily="34" charset="0"/>
                <a:ea typeface="+mn-ea"/>
                <a:cs typeface="+mn-cs"/>
              </a:defRPr>
            </a:lvl1pPr>
            <a:lvl2pPr marL="457182" indent="0">
              <a:buNone/>
              <a:defRPr/>
            </a:lvl2pPr>
            <a:lvl3pPr marL="914363" indent="0">
              <a:buNone/>
              <a:defRPr/>
            </a:lvl3pPr>
            <a:lvl4pPr marL="1371545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/>
              <a:t>Insert Sub-Title Here</a:t>
            </a:r>
          </a:p>
        </p:txBody>
      </p:sp>
    </p:spTree>
    <p:extLst>
      <p:ext uri="{BB962C8B-B14F-4D97-AF65-F5344CB8AC3E}">
        <p14:creationId xmlns:p14="http://schemas.microsoft.com/office/powerpoint/2010/main" val="470816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5" r:id="rId14"/>
    <p:sldLayoutId id="2147483813" r:id="rId15"/>
    <p:sldLayoutId id="2147483817" r:id="rId16"/>
    <p:sldLayoutId id="214748381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500808-B536-0696-79A7-8E5B61464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71" y="136525"/>
            <a:ext cx="11393549" cy="1090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EA1C2-00A2-D181-389A-040C67E79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1873" y="1393902"/>
            <a:ext cx="11599127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1AFF18-5431-EE4B-FA4C-490A6D075816}"/>
              </a:ext>
            </a:extLst>
          </p:cNvPr>
          <p:cNvSpPr/>
          <p:nvPr userDrawn="1"/>
        </p:nvSpPr>
        <p:spPr>
          <a:xfrm rot="10800000">
            <a:off x="0" y="0"/>
            <a:ext cx="12192000" cy="66675"/>
          </a:xfrm>
          <a:prstGeom prst="rect">
            <a:avLst/>
          </a:prstGeom>
          <a:gradFill flip="none" rotWithShape="1">
            <a:gsLst>
              <a:gs pos="55000">
                <a:srgbClr val="4497F3">
                  <a:lumMod val="100000"/>
                </a:srgbClr>
              </a:gs>
              <a:gs pos="0">
                <a:srgbClr val="44ACF2">
                  <a:lumMod val="75000"/>
                  <a:lumOff val="25000"/>
                </a:srgbClr>
              </a:gs>
              <a:gs pos="100000">
                <a:srgbClr val="1155E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72EA205-C34F-B6C8-63A1-35543D0F3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8781" y="138363"/>
            <a:ext cx="4274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0AD2A-47CA-5048-AE47-5BD657455FE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63F5C-5D6E-8300-B9B9-EAC2293DC06C}"/>
              </a:ext>
            </a:extLst>
          </p:cNvPr>
          <p:cNvSpPr txBox="1"/>
          <p:nvPr userDrawn="1"/>
        </p:nvSpPr>
        <p:spPr>
          <a:xfrm>
            <a:off x="-26324" y="6642556"/>
            <a:ext cx="35592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Copyright ©2024 TAO Digital -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4350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1" r:id="rId2"/>
    <p:sldLayoutId id="2147483812" r:id="rId3"/>
    <p:sldLayoutId id="2147483814" r:id="rId4"/>
    <p:sldLayoutId id="2147483815" r:id="rId5"/>
    <p:sldLayoutId id="214748381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1" kern="1200" spc="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sitting on a roof looking at a computer&#10;&#10;Description automatically generated">
            <a:extLst>
              <a:ext uri="{FF2B5EF4-FFF2-40B4-BE49-F238E27FC236}">
                <a16:creationId xmlns:a16="http://schemas.microsoft.com/office/drawing/2014/main" id="{6C7B6773-8580-C09C-6F7A-04A71FB375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13" b="7813"/>
          <a:stretch/>
        </p:blipFill>
        <p:spPr>
          <a:xfrm>
            <a:off x="-362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F12C5-4B8A-CEA0-4D49-9B22221255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2792" y="2126985"/>
            <a:ext cx="7318516" cy="2997454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5400" b="0">
                <a:solidFill>
                  <a:schemeClr val="bg1"/>
                </a:solidFill>
                <a:latin typeface="Aptos Display"/>
              </a:rPr>
              <a:t>Alzheimer's early </a:t>
            </a:r>
            <a:r>
              <a:rPr lang="en-US" sz="5400" b="0" dirty="0">
                <a:solidFill>
                  <a:schemeClr val="bg1"/>
                </a:solidFill>
                <a:latin typeface="Aptos Display"/>
              </a:rPr>
              <a:t>risk assessment</a:t>
            </a:r>
            <a:endParaRPr lang="en-US" sz="5400" b="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0" dirty="0" err="1">
                <a:solidFill>
                  <a:schemeClr val="bg1"/>
                </a:solidFill>
                <a:latin typeface="Aptos Display"/>
              </a:rPr>
              <a:t>Zow</a:t>
            </a:r>
            <a:r>
              <a:rPr lang="en-US" sz="2400" b="0" dirty="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2400" b="0" dirty="0" err="1">
                <a:solidFill>
                  <a:schemeClr val="bg1"/>
                </a:solidFill>
                <a:latin typeface="Aptos Display"/>
              </a:rPr>
              <a:t>Ormazabal</a:t>
            </a:r>
            <a:endParaRPr lang="en-US" sz="2400" b="0" dirty="0" err="1">
              <a:solidFill>
                <a:schemeClr val="bg1"/>
              </a:solidFill>
            </a:endParaRPr>
          </a:p>
        </p:txBody>
      </p:sp>
      <p:pic>
        <p:nvPicPr>
          <p:cNvPr id="8" name="Picture 7" descr="A black background with white letters&#10;&#10;Description automatically generated">
            <a:extLst>
              <a:ext uri="{FF2B5EF4-FFF2-40B4-BE49-F238E27FC236}">
                <a16:creationId xmlns:a16="http://schemas.microsoft.com/office/drawing/2014/main" id="{150C9C25-CB21-A52D-0343-49FA80692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9684" y="552669"/>
            <a:ext cx="3039093" cy="5725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A25F12-F855-3927-F5AC-9AC99397D308}"/>
              </a:ext>
            </a:extLst>
          </p:cNvPr>
          <p:cNvSpPr/>
          <p:nvPr/>
        </p:nvSpPr>
        <p:spPr>
          <a:xfrm>
            <a:off x="126809" y="6546023"/>
            <a:ext cx="6211558" cy="223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4" algn="l" defTabSz="914400" rtl="0" eaLnBrk="1" latinLnBrk="0" hangingPunct="1"/>
            <a:r>
              <a:rPr lang="en-US" sz="850" kern="1200">
                <a:solidFill>
                  <a:schemeClr val="tx1">
                    <a:tint val="82000"/>
                  </a:schemeClr>
                </a:solidFill>
                <a:latin typeface="+mn-lt"/>
                <a:cs typeface="Arial" panose="020B0604020202020204" pitchFamily="34" charset="0"/>
              </a:rPr>
              <a:t>Copyright ©2024 TAO Digital -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49881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DAB2A0A-5864-8322-2E10-D9553143C732}"/>
              </a:ext>
            </a:extLst>
          </p:cNvPr>
          <p:cNvSpPr txBox="1">
            <a:spLocks/>
          </p:cNvSpPr>
          <p:nvPr/>
        </p:nvSpPr>
        <p:spPr>
          <a:xfrm>
            <a:off x="412280" y="401566"/>
            <a:ext cx="2144486" cy="7717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/>
              <a:t>Outline</a:t>
            </a:r>
            <a:endParaRPr lang="en-US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09F6747-7D2D-231E-28DE-F29DBCC4BF84}"/>
              </a:ext>
            </a:extLst>
          </p:cNvPr>
          <p:cNvSpPr txBox="1">
            <a:spLocks/>
          </p:cNvSpPr>
          <p:nvPr/>
        </p:nvSpPr>
        <p:spPr>
          <a:xfrm>
            <a:off x="412280" y="1052745"/>
            <a:ext cx="8577061" cy="42378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78000"/>
              </a:lnSpc>
              <a:spcBef>
                <a:spcPts val="1000"/>
              </a:spcBef>
              <a:buFont typeface="Arial" panose="020B0604020202020204" pitchFamily="34" charset="0"/>
              <a:buNone/>
              <a:defRPr sz="2500" kern="1200">
                <a:gradFill flip="none" rotWithShape="1">
                  <a:gsLst>
                    <a:gs pos="0">
                      <a:srgbClr val="001C49"/>
                    </a:gs>
                    <a:gs pos="75000">
                      <a:srgbClr val="142DA1"/>
                    </a:gs>
                    <a:gs pos="100000">
                      <a:srgbClr val="1B5EEE"/>
                    </a:gs>
                  </a:gsLst>
                  <a:lin ang="162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har char="•"/>
            </a:pPr>
            <a:r>
              <a:rPr lang="en-US" sz="2000" dirty="0">
                <a:gradFill flip="none">
                  <a:gsLst>
                    <a:gs pos="0">
                      <a:srgbClr val="001C49"/>
                    </a:gs>
                    <a:gs pos="75000">
                      <a:srgbClr val="142DA1"/>
                    </a:gs>
                    <a:gs pos="100000">
                      <a:srgbClr val="1B5EEE"/>
                    </a:gs>
                  </a:gsLst>
                  <a:lin ang="16200000" scaled="1"/>
                  <a:tileRect/>
                </a:gradFill>
              </a:rPr>
              <a:t>Project overview</a:t>
            </a:r>
          </a:p>
          <a:p>
            <a:pPr marL="342900" indent="-342900">
              <a:buChar char="•"/>
            </a:pPr>
            <a:r>
              <a:rPr lang="en-US" sz="2000" dirty="0">
                <a:gradFill flip="none">
                  <a:gsLst>
                    <a:gs pos="0">
                      <a:srgbClr val="001C49"/>
                    </a:gs>
                    <a:gs pos="75000">
                      <a:srgbClr val="142DA1"/>
                    </a:gs>
                    <a:gs pos="100000">
                      <a:srgbClr val="1B5EEE"/>
                    </a:gs>
                  </a:gsLst>
                  <a:lin ang="16200000" scaled="1"/>
                  <a:tileRect/>
                </a:gradFill>
              </a:rPr>
              <a:t>Problems and challenges</a:t>
            </a:r>
          </a:p>
          <a:p>
            <a:pPr marL="342900" indent="-342900">
              <a:buChar char="•"/>
            </a:pPr>
            <a:r>
              <a:rPr lang="en-US" sz="2000">
                <a:gradFill flip="none">
                  <a:gsLst>
                    <a:gs pos="0">
                      <a:srgbClr val="001C49"/>
                    </a:gs>
                    <a:gs pos="75000">
                      <a:srgbClr val="142DA1"/>
                    </a:gs>
                    <a:gs pos="100000">
                      <a:srgbClr val="1B5EEE"/>
                    </a:gs>
                  </a:gsLst>
                  <a:lin ang="16200000" scaled="1"/>
                  <a:tileRect/>
                </a:gradFill>
              </a:rPr>
              <a:t>Current solutions and our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gradFill flip="none">
                  <a:gsLst>
                    <a:gs pos="0">
                      <a:srgbClr val="001C49"/>
                    </a:gs>
                    <a:gs pos="75000">
                      <a:srgbClr val="142DA1"/>
                    </a:gs>
                    <a:gs pos="100000">
                      <a:srgbClr val="1B5EEE"/>
                    </a:gs>
                  </a:gsLst>
                  <a:lin ang="16200000" scaled="1"/>
                  <a:tileRect/>
                </a:gradFill>
              </a:rPr>
              <a:t>Architecture details</a:t>
            </a:r>
          </a:p>
          <a:p>
            <a:pPr marL="342900" indent="-342900">
              <a:buChar char="•"/>
            </a:pPr>
            <a:r>
              <a:rPr lang="en-US" sz="2000" dirty="0">
                <a:gradFill flip="none">
                  <a:gsLst>
                    <a:gs pos="0">
                      <a:srgbClr val="001C49"/>
                    </a:gs>
                    <a:gs pos="75000">
                      <a:srgbClr val="142DA1"/>
                    </a:gs>
                    <a:gs pos="100000">
                      <a:srgbClr val="1B5EEE"/>
                    </a:gs>
                  </a:gsLst>
                  <a:lin ang="16200000" scaled="1"/>
                  <a:tileRect/>
                </a:gradFill>
              </a:rPr>
              <a:t>Dataset overview</a:t>
            </a:r>
          </a:p>
          <a:p>
            <a:pPr marL="342900" indent="-342900">
              <a:buChar char="•"/>
            </a:pPr>
            <a:r>
              <a:rPr lang="en-US" sz="2000" dirty="0">
                <a:gradFill flip="none">
                  <a:gsLst>
                    <a:gs pos="0">
                      <a:srgbClr val="001C49"/>
                    </a:gs>
                    <a:gs pos="75000">
                      <a:srgbClr val="142DA1"/>
                    </a:gs>
                    <a:gs pos="100000">
                      <a:srgbClr val="1B5EEE"/>
                    </a:gs>
                  </a:gsLst>
                  <a:lin ang="16200000" scaled="1"/>
                  <a:tileRect/>
                </a:gradFill>
              </a:rPr>
              <a:t>User journey and demo</a:t>
            </a:r>
          </a:p>
          <a:p>
            <a:pPr marL="342900" indent="-342900">
              <a:buChar char="•"/>
            </a:pPr>
            <a:r>
              <a:rPr lang="en-US" sz="2000">
                <a:gradFill flip="none">
                  <a:gsLst>
                    <a:gs pos="0">
                      <a:srgbClr val="001C49"/>
                    </a:gs>
                    <a:gs pos="75000">
                      <a:srgbClr val="142DA1"/>
                    </a:gs>
                    <a:gs pos="100000">
                      <a:srgbClr val="1B5EEE"/>
                    </a:gs>
                  </a:gsLst>
                  <a:lin ang="16200000" scaled="1"/>
                  <a:tileRect/>
                </a:gradFill>
              </a:rPr>
              <a:t>Results and Cost</a:t>
            </a:r>
          </a:p>
          <a:p>
            <a:pPr marL="342900" indent="-342900">
              <a:buChar char="•"/>
            </a:pPr>
            <a:r>
              <a:rPr lang="en-US" sz="2000" dirty="0">
                <a:gradFill flip="none">
                  <a:gsLst>
                    <a:gs pos="0">
                      <a:srgbClr val="001C49"/>
                    </a:gs>
                    <a:gs pos="75000">
                      <a:srgbClr val="142DA1"/>
                    </a:gs>
                    <a:gs pos="100000">
                      <a:srgbClr val="1B5EEE"/>
                    </a:gs>
                  </a:gsLst>
                  <a:lin ang="16200000" scaled="1"/>
                  <a:tileRect/>
                </a:gradFill>
              </a:rPr>
              <a:t>Conclusion</a:t>
            </a:r>
          </a:p>
          <a:p>
            <a:pPr marL="342900" indent="-342900">
              <a:buChar char="•"/>
            </a:pPr>
            <a:endParaRPr lang="en-US" sz="2000" dirty="0">
              <a:gradFill flip="none">
                <a:gsLst>
                  <a:gs pos="0">
                    <a:srgbClr val="001C49"/>
                  </a:gs>
                  <a:gs pos="75000">
                    <a:srgbClr val="142DA1"/>
                  </a:gs>
                  <a:gs pos="100000">
                    <a:srgbClr val="1B5EEE"/>
                  </a:gs>
                </a:gsLst>
                <a:lin ang="16200000" scaled="1"/>
                <a:tileRect/>
              </a:gradFill>
            </a:endParaRPr>
          </a:p>
          <a:p>
            <a:pPr marL="342900" indent="-342900">
              <a:buChar char="•"/>
            </a:pPr>
            <a:endParaRPr lang="en-US" sz="2000" dirty="0">
              <a:gradFill flip="none">
                <a:gsLst>
                  <a:gs pos="0">
                    <a:srgbClr val="001C49"/>
                  </a:gs>
                  <a:gs pos="75000">
                    <a:srgbClr val="142DA1"/>
                  </a:gs>
                  <a:gs pos="100000">
                    <a:srgbClr val="1B5EEE"/>
                  </a:gs>
                </a:gsLst>
                <a:lin ang="16200000" scaled="1"/>
                <a:tileRect/>
              </a:gradFill>
            </a:endParaRPr>
          </a:p>
          <a:p>
            <a:pPr marL="342900" indent="-342900">
              <a:buChar char="•"/>
            </a:pPr>
            <a:endParaRPr lang="en-US" sz="2000" dirty="0">
              <a:gradFill flip="none">
                <a:gsLst>
                  <a:gs pos="0">
                    <a:srgbClr val="001C49"/>
                  </a:gs>
                  <a:gs pos="75000">
                    <a:srgbClr val="142DA1"/>
                  </a:gs>
                  <a:gs pos="100000">
                    <a:srgbClr val="1B5EEE"/>
                  </a:gs>
                </a:gsLst>
                <a:lin ang="16200000" scaled="1"/>
                <a:tileRect/>
              </a:gradFill>
            </a:endParaRPr>
          </a:p>
          <a:p>
            <a:pPr marL="342900" indent="-342900">
              <a:buChar char="•"/>
            </a:pPr>
            <a:endParaRPr lang="en-US" sz="2000" dirty="0">
              <a:gradFill flip="none">
                <a:gsLst>
                  <a:gs pos="0">
                    <a:srgbClr val="001C49"/>
                  </a:gs>
                  <a:gs pos="75000">
                    <a:srgbClr val="142DA1"/>
                  </a:gs>
                  <a:gs pos="100000">
                    <a:srgbClr val="1B5EEE"/>
                  </a:gs>
                </a:gsLst>
                <a:lin ang="16200000" scaled="1"/>
                <a:tileRect/>
              </a:gradFill>
            </a:endParaRPr>
          </a:p>
          <a:p>
            <a:endParaRPr lang="en-IN" sz="2000" dirty="0">
              <a:gradFill flip="none">
                <a:gsLst>
                  <a:gs pos="0">
                    <a:srgbClr val="001C49"/>
                  </a:gs>
                  <a:gs pos="75000">
                    <a:srgbClr val="142DA1"/>
                  </a:gs>
                  <a:gs pos="100000">
                    <a:srgbClr val="1B5EEE"/>
                  </a:gs>
                </a:gsLst>
                <a:lin ang="162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36579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F2C4-76C4-50A2-A774-302A807DA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D49E-ABBB-FC13-E512-8611CA7FE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71" y="0"/>
            <a:ext cx="11393549" cy="1090109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ea typeface="+mj-lt"/>
                <a:cs typeface="+mj-lt"/>
              </a:rPr>
              <a:t>Alzheimer's Early Risk Triage - Overview</a:t>
            </a:r>
            <a:endParaRPr lang="en-US"/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73A904C1-1083-11DB-9ED1-F01519EBC8BB}"/>
              </a:ext>
            </a:extLst>
          </p:cNvPr>
          <p:cNvSpPr/>
          <p:nvPr/>
        </p:nvSpPr>
        <p:spPr>
          <a:xfrm>
            <a:off x="365760" y="914400"/>
            <a:ext cx="2032124" cy="865074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A979F3-5BDD-CAEB-8EE7-F949676CBAF2}"/>
              </a:ext>
            </a:extLst>
          </p:cNvPr>
          <p:cNvSpPr/>
          <p:nvPr/>
        </p:nvSpPr>
        <p:spPr>
          <a:xfrm>
            <a:off x="358503" y="1323993"/>
            <a:ext cx="5464300" cy="3166008"/>
          </a:xfrm>
          <a:prstGeom prst="rect">
            <a:avLst/>
          </a:prstGeom>
          <a:solidFill>
            <a:srgbClr val="F8FAFC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solidFill>
                  <a:srgbClr val="000000"/>
                </a:solidFill>
                <a:latin typeface="Aptos"/>
                <a:ea typeface="+mn-lt"/>
                <a:cs typeface="+mn-lt"/>
              </a:rPr>
              <a:t>A screening pipeline for Alzheimer's risk screening. It takes cognitive scores + demographics and returns an Alzheimer's risk score with the top contributing factors, before imaging is ordered. MRI-based severity classification and EEG-based confirmation each add an independent signal, fused into one integrated prognosis, with an LLM decision-support layer (doctor summary, grounded Q&amp;A, live evidence retrieval) on top.</a:t>
            </a:r>
            <a:endParaRPr lang="en-US" sz="2000"/>
          </a:p>
          <a:p>
            <a:pPr algn="ctr"/>
            <a:endParaRPr lang="en-US" sz="2000" dirty="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B345337A-1BDB-5098-4C12-F809D49B4E7E}"/>
              </a:ext>
            </a:extLst>
          </p:cNvPr>
          <p:cNvSpPr/>
          <p:nvPr/>
        </p:nvSpPr>
        <p:spPr>
          <a:xfrm>
            <a:off x="365760" y="4566968"/>
            <a:ext cx="2401601" cy="865074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FFFFFF"/>
                </a:solidFill>
              </a:rPr>
              <a:t>Key Objective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F1B7AF-0DEB-BF76-4C5E-9E34111223E4}"/>
              </a:ext>
            </a:extLst>
          </p:cNvPr>
          <p:cNvSpPr/>
          <p:nvPr/>
        </p:nvSpPr>
        <p:spPr>
          <a:xfrm>
            <a:off x="351245" y="5001592"/>
            <a:ext cx="5486071" cy="1728408"/>
          </a:xfrm>
          <a:prstGeom prst="rect">
            <a:avLst/>
          </a:prstGeom>
          <a:solidFill>
            <a:srgbClr val="F8FAFC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>
                <a:solidFill>
                  <a:schemeClr val="tx1"/>
                </a:solidFill>
                <a:ea typeface="+mn-lt"/>
                <a:cs typeface="+mn-lt"/>
              </a:rPr>
              <a:t>Flag at-risk patients early from data clinics already collect, so imaging and specialist time are spent where they matter.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5A7C844-D0F1-6B46-C5CE-E09245ED2A23}"/>
              </a:ext>
            </a:extLst>
          </p:cNvPr>
          <p:cNvSpPr/>
          <p:nvPr/>
        </p:nvSpPr>
        <p:spPr>
          <a:xfrm>
            <a:off x="6026332" y="5129554"/>
            <a:ext cx="1847385" cy="817014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5B2CC-F2BD-0B52-DF7C-B3BE85FC4D8F}"/>
              </a:ext>
            </a:extLst>
          </p:cNvPr>
          <p:cNvSpPr/>
          <p:nvPr/>
        </p:nvSpPr>
        <p:spPr>
          <a:xfrm>
            <a:off x="6033589" y="5696233"/>
            <a:ext cx="5493328" cy="856270"/>
          </a:xfrm>
          <a:prstGeom prst="rect">
            <a:avLst/>
          </a:prstGeom>
          <a:solidFill>
            <a:srgbClr val="F8FAFC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b="1">
                <a:solidFill>
                  <a:srgbClr val="0F172A"/>
                </a:solidFill>
                <a:latin typeface="Aptos"/>
                <a:ea typeface="+mn-lt"/>
                <a:cs typeface="+mn-lt"/>
              </a:rPr>
              <a:t>Clinical / digital-health machine learning</a:t>
            </a:r>
            <a:endParaRPr lang="en-US"/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8AEC6728-424D-20D6-BCF8-D06CF51C0927}"/>
              </a:ext>
            </a:extLst>
          </p:cNvPr>
          <p:cNvSpPr/>
          <p:nvPr/>
        </p:nvSpPr>
        <p:spPr>
          <a:xfrm>
            <a:off x="6035039" y="914400"/>
            <a:ext cx="1847385" cy="865074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FFFFFF"/>
                </a:solidFill>
              </a:rPr>
              <a:t>Client value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201641-8CF3-3FA8-35A7-FF1D9EAC44D4}"/>
              </a:ext>
            </a:extLst>
          </p:cNvPr>
          <p:cNvSpPr/>
          <p:nvPr/>
        </p:nvSpPr>
        <p:spPr>
          <a:xfrm>
            <a:off x="6027783" y="1331250"/>
            <a:ext cx="6011259" cy="3710122"/>
          </a:xfrm>
          <a:prstGeom prst="rect">
            <a:avLst/>
          </a:prstGeom>
          <a:solidFill>
            <a:srgbClr val="F8FAFC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rgbClr val="000000"/>
                </a:solidFill>
                <a:latin typeface="Aptos"/>
              </a:rPr>
              <a:t>Every unnecessary MRI or PET scan is money and scanner time the client can't get back, and every Alzheimer's case caught late is a patient the health system could have helped sooner. </a:t>
            </a:r>
            <a:r>
              <a:rPr lang="en-US" sz="2200">
                <a:solidFill>
                  <a:srgbClr val="000000"/>
                </a:solidFill>
                <a:latin typeface="Aptos"/>
              </a:rPr>
              <a:t>This  closes that gap: it scores Alzheimer's risk </a:t>
            </a:r>
            <a:r>
              <a:rPr lang="en-US" sz="2200" dirty="0">
                <a:solidFill>
                  <a:srgbClr val="000000"/>
                </a:solidFill>
                <a:latin typeface="Aptos"/>
              </a:rPr>
              <a:t>from data the clinic already has on file, days before anyone books a scan, and hands the clinician a second and third opinion (MRI, EEG) plus an AI-drafted case summary the moment those results come in.</a:t>
            </a:r>
            <a:endParaRPr lang="en-US" sz="2200" dirty="0"/>
          </a:p>
          <a:p>
            <a:endParaRPr lang="en-US" sz="20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03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0A18-8B84-64E3-0551-009EAF704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21DBF-E460-3EC6-6034-B2C5259A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25" y="322629"/>
            <a:ext cx="11393549" cy="1090109"/>
          </a:xfrm>
        </p:spPr>
        <p:txBody>
          <a:bodyPr>
            <a:normAutofit/>
          </a:bodyPr>
          <a:lstStyle/>
          <a:p>
            <a:pPr algn="ctr"/>
            <a:r>
              <a:rPr lang="en-US" sz="2800"/>
              <a:t>Problems and Challenges</a:t>
            </a:r>
            <a:endParaRPr lang="en-US"/>
          </a:p>
        </p:txBody>
      </p:sp>
      <p:sp>
        <p:nvSpPr>
          <p:cNvPr id="6" name="Google Shape;148;p24">
            <a:extLst>
              <a:ext uri="{FF2B5EF4-FFF2-40B4-BE49-F238E27FC236}">
                <a16:creationId xmlns:a16="http://schemas.microsoft.com/office/drawing/2014/main" id="{30BC7A78-BD8A-2483-ABF5-133E326B5EFE}"/>
              </a:ext>
            </a:extLst>
          </p:cNvPr>
          <p:cNvSpPr/>
          <p:nvPr/>
        </p:nvSpPr>
        <p:spPr>
          <a:xfrm>
            <a:off x="733118" y="1215194"/>
            <a:ext cx="3622687" cy="446244"/>
          </a:xfrm>
          <a:prstGeom prst="round2SameRect">
            <a:avLst/>
          </a:prstGeom>
          <a:gradFill>
            <a:gsLst>
              <a:gs pos="86000">
                <a:srgbClr val="0024C9"/>
              </a:gs>
              <a:gs pos="0">
                <a:srgbClr val="005EFF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38100" dist="38100" dir="3000000" sx="98000" sy="98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9728" rIns="0" bIns="0" rtlCol="0" anchor="t"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97240"/>
            <a:r>
              <a:rPr lang="en-US" sz="1800" b="1" spc="60">
                <a:solidFill>
                  <a:schemeClr val="bg1"/>
                </a:solidFill>
                <a:latin typeface="Aptos"/>
                <a:cs typeface="Segoe UI Semibold"/>
              </a:rPr>
              <a:t>Problems</a:t>
            </a:r>
          </a:p>
        </p:txBody>
      </p:sp>
      <p:sp>
        <p:nvSpPr>
          <p:cNvPr id="7" name="Google Shape;125;p24">
            <a:extLst>
              <a:ext uri="{FF2B5EF4-FFF2-40B4-BE49-F238E27FC236}">
                <a16:creationId xmlns:a16="http://schemas.microsoft.com/office/drawing/2014/main" id="{319F5E69-2062-2282-8975-CBF2493BA4F7}"/>
              </a:ext>
            </a:extLst>
          </p:cNvPr>
          <p:cNvSpPr/>
          <p:nvPr/>
        </p:nvSpPr>
        <p:spPr>
          <a:xfrm>
            <a:off x="414359" y="1652309"/>
            <a:ext cx="5442280" cy="4767727"/>
          </a:xfrm>
          <a:prstGeom prst="roundRect">
            <a:avLst>
              <a:gd name="adj" fmla="val 2776"/>
            </a:avLst>
          </a:prstGeo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prstDash val="sysDot"/>
          </a:ln>
          <a:effectLst>
            <a:outerShdw blurRad="63500" dist="254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9456" tIns="109728" rIns="109728" bIns="54864" rtlCol="0" anchor="t"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/>
              <a:buChar char="•"/>
              <a:defRPr/>
            </a:pPr>
            <a:r>
              <a:rPr lang="en-US" sz="2150" b="1">
                <a:solidFill>
                  <a:prstClr val="black"/>
                </a:solidFill>
                <a:latin typeface="Aptos"/>
                <a:ea typeface="+mn-lt"/>
                <a:cs typeface="+mn-lt"/>
              </a:rPr>
              <a:t>Imaging is the most expensive</a:t>
            </a:r>
            <a:r>
              <a:rPr lang="en-US" sz="2150">
                <a:solidFill>
                  <a:prstClr val="black"/>
                </a:solidFill>
                <a:latin typeface="Aptos"/>
                <a:ea typeface="+mn-lt"/>
                <a:cs typeface="+mn-lt"/>
              </a:rPr>
              <a:t>, most capacity-constrained step in the diagnostic path, every scan ordered without prior evidence is a scan that could have gone to a higher-priority patient.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2150">
                <a:solidFill>
                  <a:prstClr val="black"/>
                </a:solidFill>
                <a:latin typeface="Aptos"/>
                <a:ea typeface="+mn-lt"/>
                <a:cs typeface="+mn-lt"/>
              </a:rPr>
              <a:t>Diagnosis usually happens </a:t>
            </a:r>
            <a:r>
              <a:rPr lang="en-US" sz="2150" b="1">
                <a:solidFill>
                  <a:prstClr val="black"/>
                </a:solidFill>
                <a:latin typeface="Aptos"/>
                <a:ea typeface="+mn-lt"/>
                <a:cs typeface="+mn-lt"/>
              </a:rPr>
              <a:t>after symptoms are already visible</a:t>
            </a:r>
            <a:r>
              <a:rPr lang="en-US" sz="2150">
                <a:solidFill>
                  <a:prstClr val="black"/>
                </a:solidFill>
                <a:latin typeface="Aptos"/>
                <a:ea typeface="+mn-lt"/>
                <a:cs typeface="+mn-lt"/>
              </a:rPr>
              <a:t>. The data that could have flagged risk earlier is sitting unused in the chart.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2150">
                <a:solidFill>
                  <a:prstClr val="black"/>
                </a:solidFill>
                <a:latin typeface="Aptos"/>
                <a:ea typeface="+mn-lt"/>
                <a:cs typeface="+mn-lt"/>
              </a:rPr>
              <a:t>Existing risk tools are </a:t>
            </a:r>
            <a:r>
              <a:rPr lang="en-US" sz="2150" b="1">
                <a:solidFill>
                  <a:prstClr val="black"/>
                </a:solidFill>
                <a:latin typeface="Aptos"/>
                <a:ea typeface="+mn-lt"/>
                <a:cs typeface="+mn-lt"/>
              </a:rPr>
              <a:t>black boxes</a:t>
            </a:r>
            <a:r>
              <a:rPr lang="en-US" sz="2150">
                <a:solidFill>
                  <a:prstClr val="black"/>
                </a:solidFill>
                <a:latin typeface="Aptos"/>
                <a:ea typeface="+mn-lt"/>
                <a:cs typeface="+mn-lt"/>
              </a:rPr>
              <a:t>, which makes clinicians reluctant to act on them and makes them hard to certify and integrate across a product line.</a:t>
            </a:r>
          </a:p>
          <a:p>
            <a:pPr marL="342900" indent="-342900">
              <a:buFont typeface="Arial"/>
              <a:buChar char="•"/>
              <a:defRPr/>
            </a:pPr>
            <a:endParaRPr lang="en-US" sz="2150" dirty="0">
              <a:solidFill>
                <a:prstClr val="black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  <a:defRPr/>
            </a:pPr>
            <a:endParaRPr lang="en-US" sz="2150" dirty="0">
              <a:solidFill>
                <a:prstClr val="black"/>
              </a:solidFill>
              <a:ea typeface="+mn-lt"/>
              <a:cs typeface="+mn-lt"/>
            </a:endParaRPr>
          </a:p>
        </p:txBody>
      </p:sp>
      <p:sp>
        <p:nvSpPr>
          <p:cNvPr id="3" name="Google Shape;148;p24">
            <a:extLst>
              <a:ext uri="{FF2B5EF4-FFF2-40B4-BE49-F238E27FC236}">
                <a16:creationId xmlns:a16="http://schemas.microsoft.com/office/drawing/2014/main" id="{FCD25B97-F95F-86AA-D4A1-F76802B7A90C}"/>
              </a:ext>
            </a:extLst>
          </p:cNvPr>
          <p:cNvSpPr/>
          <p:nvPr/>
        </p:nvSpPr>
        <p:spPr>
          <a:xfrm>
            <a:off x="6728476" y="1157684"/>
            <a:ext cx="4068385" cy="446244"/>
          </a:xfrm>
          <a:prstGeom prst="round2SameRect">
            <a:avLst/>
          </a:prstGeom>
          <a:gradFill>
            <a:gsLst>
              <a:gs pos="86000">
                <a:srgbClr val="0024C9"/>
              </a:gs>
              <a:gs pos="0">
                <a:srgbClr val="005EFF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38100" dist="38100" dir="3000000" sx="98000" sy="98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9728" rIns="0" bIns="0" rtlCol="0" anchor="t"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97240"/>
            <a:r>
              <a:rPr lang="en-US" sz="1800" b="1" spc="60">
                <a:solidFill>
                  <a:schemeClr val="bg1"/>
                </a:solidFill>
                <a:latin typeface="Aptos"/>
                <a:cs typeface="Segoe UI Semibold"/>
              </a:rPr>
              <a:t>Challenges</a:t>
            </a:r>
            <a:endParaRPr lang="en-US"/>
          </a:p>
        </p:txBody>
      </p:sp>
      <p:sp>
        <p:nvSpPr>
          <p:cNvPr id="4" name="Google Shape;125;p24">
            <a:extLst>
              <a:ext uri="{FF2B5EF4-FFF2-40B4-BE49-F238E27FC236}">
                <a16:creationId xmlns:a16="http://schemas.microsoft.com/office/drawing/2014/main" id="{3A6900CB-7BFE-D57A-BDBE-E4E638823715}"/>
              </a:ext>
            </a:extLst>
          </p:cNvPr>
          <p:cNvSpPr/>
          <p:nvPr/>
        </p:nvSpPr>
        <p:spPr>
          <a:xfrm>
            <a:off x="6104918" y="1594799"/>
            <a:ext cx="6052836" cy="3591112"/>
          </a:xfrm>
          <a:prstGeom prst="roundRect">
            <a:avLst>
              <a:gd name="adj" fmla="val 2776"/>
            </a:avLst>
          </a:prstGeo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prstDash val="sysDot"/>
          </a:ln>
          <a:effectLst>
            <a:outerShdw blurRad="63500" dist="254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9456" tIns="109728" rIns="109728" bIns="54864" rtlCol="0" anchor="t"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/>
              <a:buChar char="•"/>
              <a:defRPr/>
            </a:pPr>
            <a:r>
              <a:rPr lang="en-US" sz="2150" b="1" i="0" dirty="0">
                <a:latin typeface="-apple-system"/>
                <a:ea typeface="-apple-system"/>
                <a:cs typeface="-apple-system"/>
              </a:rPr>
              <a:t>Target leakage:</a:t>
            </a:r>
            <a:r>
              <a:rPr lang="en-US" sz="2150" b="0" i="0" dirty="0">
                <a:latin typeface="-apple-system"/>
                <a:ea typeface="-apple-system"/>
                <a:cs typeface="-apple-system"/>
              </a:rPr>
              <a:t> the clinical dementia rating (CDR) is not a predictor of diagnosis, it </a:t>
            </a:r>
            <a:r>
              <a:rPr lang="en-US" sz="2150" b="0" i="1" dirty="0">
                <a:latin typeface="-apple-system"/>
                <a:ea typeface="-apple-system"/>
                <a:cs typeface="-apple-system"/>
              </a:rPr>
              <a:t>is</a:t>
            </a:r>
            <a:r>
              <a:rPr lang="en-US" sz="2150" b="0" i="0" dirty="0">
                <a:latin typeface="-apple-system"/>
                <a:ea typeface="-apple-system"/>
                <a:cs typeface="-apple-system"/>
              </a:rPr>
              <a:t> the diagnosis.</a:t>
            </a:r>
            <a:r>
              <a:rPr lang="en-US" sz="2150" dirty="0">
                <a:latin typeface="-apple-system"/>
                <a:ea typeface="-apple-system"/>
                <a:cs typeface="-apple-system"/>
              </a:rPr>
              <a:t> Some ML approaches have this label leakage.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2150" b="1" dirty="0">
                <a:latin typeface="-apple-system"/>
              </a:rPr>
              <a:t>Data availability: </a:t>
            </a:r>
            <a:r>
              <a:rPr lang="en-US" sz="2150" dirty="0">
                <a:latin typeface="-apple-system"/>
              </a:rPr>
              <a:t>Comprehensive medical datasets are hard to ob</a:t>
            </a:r>
            <a:r>
              <a:rPr lang="en-US" sz="2150">
                <a:latin typeface="-apple-system"/>
              </a:rPr>
              <a:t>tain due to privacy issues.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2150">
                <a:latin typeface="-apple-system"/>
              </a:rPr>
              <a:t>Rare to find paired training data for data fusion.</a:t>
            </a:r>
            <a:endParaRPr lang="en-US" sz="2150" dirty="0">
              <a:latin typeface="-apple-system"/>
            </a:endParaRPr>
          </a:p>
          <a:p>
            <a:pPr marL="342900" indent="-342900">
              <a:buFont typeface="Arial"/>
              <a:buChar char="•"/>
              <a:defRPr/>
            </a:pPr>
            <a:endParaRPr lang="en-US" sz="2150" dirty="0">
              <a:latin typeface="-apple-system"/>
            </a:endParaRPr>
          </a:p>
          <a:p>
            <a:pPr marL="342900" indent="-342900">
              <a:buFont typeface="Arial"/>
              <a:buChar char="•"/>
              <a:defRPr/>
            </a:pPr>
            <a:endParaRPr lang="en-US" sz="2150" b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77242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4337-DF5C-963D-B3B3-2EBB7E0EB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7E920-3C59-9E7E-118E-CB6E33209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71" y="-95704"/>
            <a:ext cx="11393549" cy="1090109"/>
          </a:xfrm>
        </p:spPr>
        <p:txBody>
          <a:bodyPr>
            <a:normAutofit/>
          </a:bodyPr>
          <a:lstStyle/>
          <a:p>
            <a:r>
              <a:rPr lang="en-US" dirty="0"/>
              <a:t>Current solutions: Arpy8's </a:t>
            </a:r>
            <a:r>
              <a:rPr lang="en-US" dirty="0" err="1"/>
              <a:t>Streamlit</a:t>
            </a:r>
            <a:r>
              <a:rPr lang="en-US" dirty="0"/>
              <a:t> app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C4B672-CC53-B705-BE1D-B899F4A70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994015"/>
            <a:ext cx="11531600" cy="586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10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90BA-85DE-F408-D55B-B5C381355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50F6C-6F9F-E5A9-E191-CF047DAFF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9384" y="1711324"/>
            <a:ext cx="4107378" cy="1053824"/>
          </a:xfrm>
        </p:spPr>
        <p:txBody>
          <a:bodyPr>
            <a:normAutofit fontScale="90000"/>
          </a:bodyPr>
          <a:lstStyle/>
          <a:p>
            <a:r>
              <a:rPr lang="en-US" b="1"/>
              <a:t>HippoVolume.AI:</a:t>
            </a:r>
            <a:br>
              <a:rPr lang="en-US" dirty="0"/>
            </a:br>
            <a:br>
              <a:rPr lang="en-US" dirty="0"/>
            </a:br>
            <a:r>
              <a:rPr lang="en-US"/>
              <a:t>Predicts the risk of Alzheimer's based on hippocampal volume</a:t>
            </a:r>
            <a:endParaRPr lang="en-US" dirty="0"/>
          </a:p>
        </p:txBody>
      </p:sp>
      <p:pic>
        <p:nvPicPr>
          <p:cNvPr id="4" name="Picture 3" descr="title">
            <a:extLst>
              <a:ext uri="{FF2B5EF4-FFF2-40B4-BE49-F238E27FC236}">
                <a16:creationId xmlns:a16="http://schemas.microsoft.com/office/drawing/2014/main" id="{4E53D399-6819-414A-5E49-256AD3B84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751"/>
            <a:ext cx="7532912" cy="664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94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A658-9E98-F91F-EB10-E742E1EA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5;p24">
            <a:extLst>
              <a:ext uri="{FF2B5EF4-FFF2-40B4-BE49-F238E27FC236}">
                <a16:creationId xmlns:a16="http://schemas.microsoft.com/office/drawing/2014/main" id="{8F585130-11E6-1BA4-2DAE-14E91B178998}"/>
              </a:ext>
            </a:extLst>
          </p:cNvPr>
          <p:cNvSpPr/>
          <p:nvPr/>
        </p:nvSpPr>
        <p:spPr>
          <a:xfrm>
            <a:off x="190987" y="690969"/>
            <a:ext cx="11853760" cy="4519240"/>
          </a:xfrm>
          <a:prstGeom prst="roundRect">
            <a:avLst>
              <a:gd name="adj" fmla="val 2776"/>
            </a:avLst>
          </a:prstGeom>
          <a:solidFill>
            <a:schemeClr val="bg1"/>
          </a:solidFill>
          <a:ln w="9525">
            <a:solidFill>
              <a:schemeClr val="accent2">
                <a:lumMod val="60000"/>
                <a:lumOff val="40000"/>
              </a:schemeClr>
            </a:solidFill>
            <a:prstDash val="sysDot"/>
          </a:ln>
          <a:effectLst>
            <a:outerShdw blurRad="63500" dist="254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9456" tIns="109728" rIns="109728" bIns="54864" rtlCol="0" anchor="t"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/>
              <a:t>A single risk score, confirmed by imaging and EEG when needed, explained in </a:t>
            </a:r>
            <a:r>
              <a:rPr lang="en-US" sz="2400" dirty="0"/>
              <a:t>plain </a:t>
            </a:r>
            <a:r>
              <a:rPr lang="en-US" sz="2400"/>
              <a:t>language, reachable from anywhere with one function call. We avoid extra costly steps.</a:t>
            </a:r>
            <a:endParaRPr lang="en-US" sz="2400" dirty="0"/>
          </a:p>
          <a:p>
            <a:pPr>
              <a:defRPr/>
            </a:pPr>
            <a:endParaRPr lang="en-US" sz="2400" dirty="0">
              <a:solidFill>
                <a:srgbClr val="000000"/>
              </a:solidFill>
              <a:latin typeface="Aptos"/>
            </a:endParaRPr>
          </a:p>
          <a:p>
            <a:pPr>
              <a:defRPr/>
            </a:pPr>
            <a:r>
              <a:rPr lang="en-US" sz="2400" u="sng">
                <a:solidFill>
                  <a:srgbClr val="000000"/>
                </a:solidFill>
                <a:latin typeface="Aptos"/>
              </a:rPr>
              <a:t>Features:</a:t>
            </a:r>
          </a:p>
          <a:p>
            <a:pPr marL="457200" indent="-457200">
              <a:buAutoNum type="arabicPeriod"/>
              <a:defRPr/>
            </a:pPr>
            <a:r>
              <a:rPr lang="en-US" sz="2400">
                <a:solidFill>
                  <a:srgbClr val="000000"/>
                </a:solidFill>
                <a:latin typeface="Aptos"/>
              </a:rPr>
              <a:t>Every risk score ships with its</a:t>
            </a:r>
            <a:r>
              <a:rPr lang="en-US" sz="2400" b="1">
                <a:solidFill>
                  <a:srgbClr val="000000"/>
                </a:solidFill>
                <a:latin typeface="Aptos"/>
              </a:rPr>
              <a:t> top 3 reasons in plain language </a:t>
            </a:r>
            <a:r>
              <a:rPr lang="en-US" sz="2400">
                <a:solidFill>
                  <a:srgbClr val="000000"/>
                </a:solidFill>
                <a:latin typeface="Aptos"/>
              </a:rPr>
              <a:t>("raises/lowers risk"), because a </a:t>
            </a:r>
            <a:r>
              <a:rPr lang="en-US" sz="2400" dirty="0">
                <a:solidFill>
                  <a:srgbClr val="000000"/>
                </a:solidFill>
                <a:latin typeface="Aptos"/>
              </a:rPr>
              <a:t>number clinicians can't interrogate is a number they won't act on.</a:t>
            </a:r>
            <a:endParaRPr lang="en-US" sz="2400" dirty="0"/>
          </a:p>
          <a:p>
            <a:pPr marL="457200" indent="-457200">
              <a:buAutoNum type="arabicPeriod"/>
              <a:defRPr/>
            </a:pP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A second opinion from imaging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: when a scan exists, the system classifies dementia severity from the MRI itself and highlights the exact regions that drove the call: confirmation a clinician can visually check, not just take on faith.</a:t>
            </a:r>
            <a:endParaRPr lang="en-US" sz="24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400" b="1">
                <a:solidFill>
                  <a:prstClr val="black"/>
                </a:solidFill>
                <a:ea typeface="+mn-lt"/>
                <a:cs typeface="+mn-lt"/>
              </a:rPr>
              <a:t>One prognosis, not three conflicting numbers:</a:t>
            </a: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 clinical, MRI, and EEG signals are fused into a single score that based on whichever modality is most confident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400" b="1">
                <a:solidFill>
                  <a:prstClr val="black"/>
                </a:solidFill>
                <a:ea typeface="+mn-lt"/>
                <a:cs typeface="+mn-lt"/>
              </a:rPr>
              <a:t>An AI layer that does the busywork a clinician shouldn't have to</a:t>
            </a: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: an automatic case summary, plain-language MRI findings, free-form Q&amp;A on the case, and live pulls from PubMed and ClinicalTrials.gov with citations.</a:t>
            </a:r>
            <a:endParaRPr lang="en-US" sz="2400" dirty="0">
              <a:solidFill>
                <a:prstClr val="black"/>
              </a:solidFill>
            </a:endParaRPr>
          </a:p>
          <a:p>
            <a:pPr marL="457200" indent="-457200">
              <a:buAutoNum type="arabicPeriod"/>
              <a:defRPr/>
            </a:pPr>
            <a:endParaRPr lang="en-US" sz="2400" dirty="0">
              <a:solidFill>
                <a:prstClr val="black"/>
              </a:solidFill>
            </a:endParaRPr>
          </a:p>
          <a:p>
            <a:pPr marL="457200" indent="-457200">
              <a:buAutoNum type="arabicPeriod"/>
              <a:defRPr/>
            </a:pPr>
            <a:endParaRPr lang="en-US" sz="2400" dirty="0">
              <a:solidFill>
                <a:prstClr val="black"/>
              </a:solidFill>
            </a:endParaRPr>
          </a:p>
          <a:p>
            <a:pPr>
              <a:defRPr/>
            </a:pP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4" name="Google Shape;148;p24">
            <a:extLst>
              <a:ext uri="{FF2B5EF4-FFF2-40B4-BE49-F238E27FC236}">
                <a16:creationId xmlns:a16="http://schemas.microsoft.com/office/drawing/2014/main" id="{A648FAF7-1246-A2A4-32B8-1BDD90C28D26}"/>
              </a:ext>
            </a:extLst>
          </p:cNvPr>
          <p:cNvSpPr/>
          <p:nvPr/>
        </p:nvSpPr>
        <p:spPr>
          <a:xfrm>
            <a:off x="188970" y="95677"/>
            <a:ext cx="3622687" cy="446244"/>
          </a:xfrm>
          <a:prstGeom prst="round2SameRect">
            <a:avLst/>
          </a:prstGeom>
          <a:gradFill>
            <a:gsLst>
              <a:gs pos="86000">
                <a:srgbClr val="0024C9"/>
              </a:gs>
              <a:gs pos="0">
                <a:srgbClr val="005EFF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38100" dist="38100" dir="3000000" sx="98000" sy="98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9728" rIns="0" bIns="0" rtlCol="0" anchor="t"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97240"/>
            <a:r>
              <a:rPr lang="en-US" sz="1800" b="1" spc="60">
                <a:solidFill>
                  <a:schemeClr val="bg1"/>
                </a:solidFill>
                <a:latin typeface="Aptos"/>
                <a:cs typeface="Segoe UI Semibold"/>
              </a:rPr>
              <a:t>Our solution</a:t>
            </a:r>
          </a:p>
        </p:txBody>
      </p:sp>
    </p:spTree>
    <p:extLst>
      <p:ext uri="{BB962C8B-B14F-4D97-AF65-F5344CB8AC3E}">
        <p14:creationId xmlns:p14="http://schemas.microsoft.com/office/powerpoint/2010/main" val="3753314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6675-466B-311F-9F55-0029B58DA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How the System Works –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51A81C-1887-5C1C-C14A-15F208670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61" r="-652" b="11834"/>
          <a:stretch>
            <a:fillRect/>
          </a:stretch>
        </p:blipFill>
        <p:spPr>
          <a:xfrm>
            <a:off x="0" y="1221815"/>
            <a:ext cx="12271516" cy="513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90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B1D83E-026F-7138-34EB-DAEA25FF3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176FC-CBC3-6446-93C3-CEEC34346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Overview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1DA0C3-5B93-899F-B602-870588D5D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08852"/>
              </p:ext>
            </p:extLst>
          </p:nvPr>
        </p:nvGraphicFramePr>
        <p:xfrm>
          <a:off x="1184888" y="1675227"/>
          <a:ext cx="9822223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7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45">
                <a:tc>
                  <a:txBody>
                    <a:bodyPr/>
                    <a:lstStyle/>
                    <a:p>
                      <a:r>
                        <a:rPr lang="en-US" sz="2800" b="1"/>
                        <a:t>Data source</a:t>
                      </a:r>
                    </a:p>
                  </a:txBody>
                  <a:tcPr marL="92315" marR="92315" marT="46158" marB="46158"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Contains</a:t>
                      </a:r>
                    </a:p>
                  </a:txBody>
                  <a:tcPr marL="92315" marR="92315" marT="46158" marB="4615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326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/>
                        <a:t>OASIS longitudinal</a:t>
                      </a:r>
                    </a:p>
                  </a:txBody>
                  <a:tcPr marL="92315" marR="92315" marT="46158" marB="4615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baseline="0" noProof="0" dirty="0">
                          <a:solidFill>
                            <a:srgbClr val="000000"/>
                          </a:solidFill>
                        </a:rPr>
                        <a:t>OASIS-2-shaped sample: </a:t>
                      </a:r>
                      <a:r>
                        <a:rPr lang="en-US" sz="2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Subject ID, MRI ID, Group, Visit, MR Delay, M/F, Hand, Age, EDUC, SES, MMSE, CDR, </a:t>
                      </a:r>
                      <a:r>
                        <a:rPr lang="en-US" sz="2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eTIV</a:t>
                      </a:r>
                      <a:r>
                        <a:rPr lang="en-US" sz="2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, </a:t>
                      </a:r>
                      <a:r>
                        <a:rPr lang="en-US" sz="2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nWBV</a:t>
                      </a:r>
                      <a:r>
                        <a:rPr lang="en-US" sz="2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, ASF</a:t>
                      </a:r>
                      <a:endParaRPr lang="en-US" sz="2800"/>
                    </a:p>
                  </a:txBody>
                  <a:tcPr marL="92315" marR="92315" marT="46158" marB="4615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84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baseline="0" noProof="0">
                          <a:solidFill>
                            <a:srgbClr val="000000"/>
                          </a:solidFill>
                        </a:rPr>
                        <a:t>OASIS-2 imaging</a:t>
                      </a:r>
                      <a:endParaRPr lang="en-US" sz="2800"/>
                    </a:p>
                  </a:txBody>
                  <a:tcPr marL="92315" marR="92315" marT="46158" marB="4615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Aptos"/>
                        </a:rPr>
                        <a:t>Nondemented/Mild/Severe </a:t>
                      </a:r>
                      <a:r>
                        <a:rPr lang="en-US" sz="28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ptos"/>
                        </a:rPr>
                        <a:t>Demented 2D images</a:t>
                      </a:r>
                      <a:endParaRPr lang="en-US" sz="2800"/>
                    </a:p>
                  </a:txBody>
                  <a:tcPr marL="92315" marR="92315" marT="46158" marB="46158"/>
                </a:tc>
                <a:extLst>
                  <a:ext uri="{0D108BD9-81ED-4DB2-BD59-A6C34878D82A}">
                    <a16:rowId xmlns:a16="http://schemas.microsoft.com/office/drawing/2014/main" val="2347158489"/>
                  </a:ext>
                </a:extLst>
              </a:tr>
              <a:tr h="56004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/>
                        <a:t>EEG</a:t>
                      </a:r>
                    </a:p>
                  </a:txBody>
                  <a:tcPr marL="92315" marR="92315" marT="46158" marB="46158"/>
                </a:tc>
                <a:tc>
                  <a:txBody>
                    <a:bodyPr/>
                    <a:lstStyle/>
                    <a:p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Ds004504 from </a:t>
                      </a: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OpenNeuro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sz="2800" b="0" i="0" u="none" strike="noStrike" kern="1200" noProof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2315" marR="92315" marT="46158" marB="46158"/>
                </a:tc>
                <a:extLst>
                  <a:ext uri="{0D108BD9-81ED-4DB2-BD59-A6C34878D82A}">
                    <a16:rowId xmlns:a16="http://schemas.microsoft.com/office/drawing/2014/main" val="2342460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154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90854-1490-F365-CA33-42D359CB7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1300ECD-2FC7-2AE6-D390-204434F18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User journey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B8B694-326C-80FE-9357-005C096A0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309" y="1675227"/>
            <a:ext cx="870138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33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AC008-2236-79DC-0799-621B0359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40E62E0-1335-E040-9D18-3320E71C4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3A23DC9-C936-488A-45C9-612ABE4B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User journey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2826B6-3E34-C5CA-DBFE-1448E7C17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179"/>
            <a:ext cx="12192000" cy="664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47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8028D-18AE-114B-C61B-86EFE023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57C075DB-8BA6-2875-51F6-3DA7B2FDA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" y="0"/>
            <a:ext cx="11333208" cy="68580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A191D0-52BA-A13A-AD98-099F8214C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0" y="682049"/>
            <a:ext cx="6633029" cy="219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41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AA776-2610-1C0A-D23D-2DE647C8F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892E49-25F2-2ED4-FC43-DC26DB0F01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93" y="29559"/>
            <a:ext cx="10609942" cy="693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80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F26D2-DDA3-B97D-A778-A072F1CA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5CB8D3E-BB2D-D30A-90C3-7A66D6822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1DC7827-DD0B-07C1-AA58-8DD72D7F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User journey</a:t>
            </a: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6BA447D9-C5F3-89A0-6B94-4A5EBB205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027"/>
            <a:ext cx="12192000" cy="6527945"/>
          </a:xfrm>
          <a:prstGeom prst="rect">
            <a:avLst/>
          </a:prstGeom>
        </p:spPr>
      </p:pic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62C3C1D7-5B50-E29A-9D45-E56C22D18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005" y="4950731"/>
            <a:ext cx="2947761" cy="190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46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2C48-7CF4-8F96-C2F9-AB403EEAA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90AE9692-2BED-5DC6-C733-E818903C7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273" y="2275"/>
            <a:ext cx="11599127" cy="4648339"/>
          </a:xfrm>
          <a:prstGeom prst="rect">
            <a:avLst/>
          </a:prstGeom>
        </p:spPr>
      </p:pic>
      <p:pic>
        <p:nvPicPr>
          <p:cNvPr id="5" name="Picture 4" descr="A red circle with a scale&#10;&#10;AI-generated content may be incorrect.">
            <a:extLst>
              <a:ext uri="{FF2B5EF4-FFF2-40B4-BE49-F238E27FC236}">
                <a16:creationId xmlns:a16="http://schemas.microsoft.com/office/drawing/2014/main" id="{4C805577-B1C2-26CA-A1BB-8A390EC98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6" y="4213679"/>
            <a:ext cx="4128408" cy="264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58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7F384A-F787-AF46-D6FE-8A275DAB7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327" y="-35755"/>
            <a:ext cx="10924388" cy="689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07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12F7C-9D59-11C9-322F-22201556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C6F68-70B6-846A-4AC9-B292E2F3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8A3062-4371-B896-EF16-BFFA996EF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225465"/>
              </p:ext>
            </p:extLst>
          </p:nvPr>
        </p:nvGraphicFramePr>
        <p:xfrm>
          <a:off x="246743" y="1966685"/>
          <a:ext cx="11629632" cy="3378282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564075">
                  <a:extLst>
                    <a:ext uri="{9D8B030D-6E8A-4147-A177-3AD203B41FA5}">
                      <a16:colId xmlns:a16="http://schemas.microsoft.com/office/drawing/2014/main" val="3819682159"/>
                    </a:ext>
                  </a:extLst>
                </a:gridCol>
                <a:gridCol w="2154708">
                  <a:extLst>
                    <a:ext uri="{9D8B030D-6E8A-4147-A177-3AD203B41FA5}">
                      <a16:colId xmlns:a16="http://schemas.microsoft.com/office/drawing/2014/main" val="3826296398"/>
                    </a:ext>
                  </a:extLst>
                </a:gridCol>
                <a:gridCol w="1467321">
                  <a:extLst>
                    <a:ext uri="{9D8B030D-6E8A-4147-A177-3AD203B41FA5}">
                      <a16:colId xmlns:a16="http://schemas.microsoft.com/office/drawing/2014/main" val="2186965640"/>
                    </a:ext>
                  </a:extLst>
                </a:gridCol>
                <a:gridCol w="1035724">
                  <a:extLst>
                    <a:ext uri="{9D8B030D-6E8A-4147-A177-3AD203B41FA5}">
                      <a16:colId xmlns:a16="http://schemas.microsoft.com/office/drawing/2014/main" val="2424791589"/>
                    </a:ext>
                  </a:extLst>
                </a:gridCol>
                <a:gridCol w="1024607">
                  <a:extLst>
                    <a:ext uri="{9D8B030D-6E8A-4147-A177-3AD203B41FA5}">
                      <a16:colId xmlns:a16="http://schemas.microsoft.com/office/drawing/2014/main" val="3543676166"/>
                    </a:ext>
                  </a:extLst>
                </a:gridCol>
                <a:gridCol w="765250">
                  <a:extLst>
                    <a:ext uri="{9D8B030D-6E8A-4147-A177-3AD203B41FA5}">
                      <a16:colId xmlns:a16="http://schemas.microsoft.com/office/drawing/2014/main" val="3140142869"/>
                    </a:ext>
                  </a:extLst>
                </a:gridCol>
                <a:gridCol w="1300637">
                  <a:extLst>
                    <a:ext uri="{9D8B030D-6E8A-4147-A177-3AD203B41FA5}">
                      <a16:colId xmlns:a16="http://schemas.microsoft.com/office/drawing/2014/main" val="2135785200"/>
                    </a:ext>
                  </a:extLst>
                </a:gridCol>
                <a:gridCol w="1317310">
                  <a:extLst>
                    <a:ext uri="{9D8B030D-6E8A-4147-A177-3AD203B41FA5}">
                      <a16:colId xmlns:a16="http://schemas.microsoft.com/office/drawing/2014/main" val="2124607092"/>
                    </a:ext>
                  </a:extLst>
                </a:gridCol>
              </a:tblGrid>
              <a:tr h="64017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bg1"/>
                          </a:solidFill>
                          <a:effectLst/>
                          <a:latin typeface="Roboto"/>
                        </a:rPr>
                        <a:t>Model</a:t>
                      </a:r>
                    </a:p>
                  </a:txBody>
                  <a:tcPr marL="117768" marR="75492" marT="90591" marB="905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bg1"/>
                          </a:solidFill>
                          <a:effectLst/>
                          <a:latin typeface="Roboto"/>
                        </a:rPr>
                        <a:t>Algorithm</a:t>
                      </a:r>
                    </a:p>
                  </a:txBody>
                  <a:tcPr marL="117768" marR="75492" marT="90591" marB="905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bg1"/>
                          </a:solidFill>
                          <a:effectLst/>
                          <a:latin typeface="Roboto"/>
                        </a:rPr>
                        <a:t>Accuracy</a:t>
                      </a:r>
                    </a:p>
                  </a:txBody>
                  <a:tcPr marL="117768" marR="75492" marT="90591" marB="905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bg1"/>
                          </a:solidFill>
                          <a:effectLst/>
                          <a:latin typeface="Roboto"/>
                        </a:rPr>
                        <a:t>AUROC</a:t>
                      </a:r>
                    </a:p>
                  </a:txBody>
                  <a:tcPr marL="117768" marR="75492" marT="90591" marB="9059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bg1"/>
                          </a:solidFill>
                          <a:effectLst/>
                          <a:latin typeface="Roboto"/>
                        </a:rPr>
                        <a:t>AUPRC</a:t>
                      </a:r>
                    </a:p>
                  </a:txBody>
                  <a:tcPr marL="117768" marR="75492" marT="90591" marB="905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bg1"/>
                          </a:solidFill>
                          <a:effectLst/>
                          <a:latin typeface="Roboto"/>
                        </a:rPr>
                        <a:t>F1</a:t>
                      </a:r>
                    </a:p>
                  </a:txBody>
                  <a:tcPr marL="117768" marR="75492" marT="90591" marB="905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bg1"/>
                          </a:solidFill>
                          <a:effectLst/>
                          <a:latin typeface="Roboto"/>
                        </a:rPr>
                        <a:t>Sensitivity</a:t>
                      </a:r>
                    </a:p>
                  </a:txBody>
                  <a:tcPr marL="117768" marR="75492" marT="90591" marB="905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bg1"/>
                          </a:solidFill>
                          <a:effectLst/>
                          <a:latin typeface="Roboto"/>
                        </a:rPr>
                        <a:t>Specificity</a:t>
                      </a:r>
                    </a:p>
                  </a:txBody>
                  <a:tcPr marL="117768" marR="75492" marT="90591" marB="905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41918"/>
                  </a:ext>
                </a:extLst>
              </a:tr>
              <a:tr h="64017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Clinical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Logistic regression (9 features)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0.7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0.73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0.64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0.55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0.47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0.84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50517"/>
                  </a:ext>
                </a:extLst>
              </a:tr>
              <a:tr h="64017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MRI (Non Demented vs Demented) - preliminary</a:t>
                      </a: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ResNet18 (frozen backbone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0.81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0.91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0.89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0.78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0.7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0.91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75254"/>
                  </a:ext>
                </a:extLst>
              </a:tr>
              <a:tr h="64017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EEG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Logistic regression on band-power features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0.75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0.82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0.83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0.77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0.75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0.76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117768" marR="75492" marT="90591" marB="905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13579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C0BC0B-9797-977A-2BE2-BECC08951C3B}"/>
              </a:ext>
            </a:extLst>
          </p:cNvPr>
          <p:cNvSpPr txBox="1"/>
          <p:nvPr/>
        </p:nvSpPr>
        <p:spPr>
          <a:xfrm>
            <a:off x="775173" y="5467018"/>
            <a:ext cx="105668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*metrics will change once we get approval from larger datasets.</a:t>
            </a:r>
          </a:p>
        </p:txBody>
      </p:sp>
    </p:spTree>
    <p:extLst>
      <p:ext uri="{BB962C8B-B14F-4D97-AF65-F5344CB8AC3E}">
        <p14:creationId xmlns:p14="http://schemas.microsoft.com/office/powerpoint/2010/main" val="24604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33080-029E-821C-537D-31724DCB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/>
              <a:t>Cost</a:t>
            </a:r>
            <a:endParaRPr lang="en-US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378520-0E33-5281-9A92-B878C1CD2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903389"/>
              </p:ext>
            </p:extLst>
          </p:nvPr>
        </p:nvGraphicFramePr>
        <p:xfrm>
          <a:off x="544285" y="442685"/>
          <a:ext cx="1102783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5946">
                  <a:extLst>
                    <a:ext uri="{9D8B030D-6E8A-4147-A177-3AD203B41FA5}">
                      <a16:colId xmlns:a16="http://schemas.microsoft.com/office/drawing/2014/main" val="1306715302"/>
                    </a:ext>
                  </a:extLst>
                </a:gridCol>
                <a:gridCol w="3675946">
                  <a:extLst>
                    <a:ext uri="{9D8B030D-6E8A-4147-A177-3AD203B41FA5}">
                      <a16:colId xmlns:a16="http://schemas.microsoft.com/office/drawing/2014/main" val="3932120125"/>
                    </a:ext>
                  </a:extLst>
                </a:gridCol>
                <a:gridCol w="3675946">
                  <a:extLst>
                    <a:ext uri="{9D8B030D-6E8A-4147-A177-3AD203B41FA5}">
                      <a16:colId xmlns:a16="http://schemas.microsoft.com/office/drawing/2014/main" val="1084353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Cost per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89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ptos"/>
                        </a:rPr>
                        <a:t>MRI vision findings (</a:t>
                      </a:r>
                      <a:r>
                        <a:rPr lang="en-US" sz="2000" b="0" i="0" u="none" strike="noStrike" noProof="0" dirty="0" err="1">
                          <a:latin typeface="Aptos"/>
                        </a:rPr>
                        <a:t>HuggingFace</a:t>
                      </a:r>
                      <a:r>
                        <a:rPr lang="en-US" sz="2000" b="0" i="0" u="none" strike="noStrike" noProof="0" dirty="0">
                          <a:latin typeface="Aptos"/>
                        </a:rPr>
                        <a:t> Inference Providers, google/gemma-3-27b-it)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~$0.0006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/>
                        <a:t>~300 prompt tokens + 1 image (256 tokens/crop, Gemma 3's fixed vision-encoder output) + ~120 output tokens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352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ptos"/>
                        </a:rPr>
                        <a:t>Clinical summary (</a:t>
                      </a:r>
                      <a:r>
                        <a:rPr lang="en-US" sz="2000" b="0" i="0" u="none" strike="noStrike" noProof="0" dirty="0" err="1">
                          <a:latin typeface="Aptos"/>
                        </a:rPr>
                        <a:t>Groq</a:t>
                      </a:r>
                      <a:r>
                        <a:rPr lang="en-US" sz="2000" b="0" i="0" u="none" strike="noStrike" noProof="0" dirty="0">
                          <a:latin typeface="Aptos"/>
                        </a:rPr>
                        <a:t>, llama-3.1-8b-instant)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~$0.00004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~400 input / ~150 output tokens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830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ptos"/>
                        </a:rPr>
                        <a:t>Evidence &amp; recommendations (</a:t>
                      </a:r>
                      <a:r>
                        <a:rPr lang="en-US" sz="2000" b="0" i="0" u="none" strike="noStrike" noProof="0" dirty="0" err="1">
                          <a:latin typeface="Aptos"/>
                        </a:rPr>
                        <a:t>Groq</a:t>
                      </a:r>
                      <a:r>
                        <a:rPr lang="en-US" sz="2000" b="0" i="0" u="none" strike="noStrike" noProof="0" dirty="0">
                          <a:latin typeface="Aptos"/>
                        </a:rPr>
                        <a:t>, llama-3.1-8b-instant)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~$0.00005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~700 input / ~200 output tokens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47574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/>
                        <a:t>PubMed / ClinicalTrials.gov retrieval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ptos"/>
                        </a:rPr>
                        <a:t>Free public APIs (</a:t>
                      </a:r>
                      <a:r>
                        <a:rPr lang="en-US" sz="2000" b="0" i="0" u="none" strike="noStrike" noProof="0" dirty="0" err="1">
                          <a:latin typeface="Aptos"/>
                        </a:rPr>
                        <a:t>esearch</a:t>
                      </a:r>
                      <a:r>
                        <a:rPr lang="en-US" sz="2000" b="0" i="0" u="none" strike="noStrike" noProof="0" dirty="0">
                          <a:latin typeface="Aptos"/>
                        </a:rPr>
                        <a:t>/</a:t>
                      </a:r>
                      <a:r>
                        <a:rPr lang="en-US" sz="2000" b="0" i="0" u="none" strike="noStrike" noProof="0" dirty="0" err="1">
                          <a:latin typeface="Aptos"/>
                        </a:rPr>
                        <a:t>esummary</a:t>
                      </a:r>
                      <a:r>
                        <a:rPr lang="en-US" sz="2000" b="0" i="0" u="none" strike="noStrike" noProof="0" dirty="0">
                          <a:latin typeface="Aptos"/>
                        </a:rPr>
                        <a:t>, ClinicalTrials.gov v2)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128314"/>
                  </a:ext>
                </a:extLst>
              </a:tr>
            </a:tbl>
          </a:graphicData>
        </a:graphic>
      </p:graphicFrame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97BDF117-3A4A-F9A8-5398-17D4E93CBB98}"/>
              </a:ext>
            </a:extLst>
          </p:cNvPr>
          <p:cNvSpPr/>
          <p:nvPr/>
        </p:nvSpPr>
        <p:spPr>
          <a:xfrm>
            <a:off x="358502" y="4977976"/>
            <a:ext cx="3901440" cy="865074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b="1" dirty="0">
                <a:solidFill>
                  <a:srgbClr val="FFFFFF"/>
                </a:solidFill>
              </a:rPr>
              <a:t>Expected </a:t>
            </a:r>
            <a:r>
              <a:rPr lang="en-IN" sz="2000" b="1">
                <a:solidFill>
                  <a:srgbClr val="FFFFFF"/>
                </a:solidFill>
              </a:rPr>
              <a:t>results</a:t>
            </a:r>
            <a:r>
              <a:rPr lang="en-IN" sz="2000" b="1" dirty="0">
                <a:solidFill>
                  <a:srgbClr val="FFFFFF"/>
                </a:solidFill>
              </a:rPr>
              <a:t> and impact</a:t>
            </a:r>
            <a:endParaRPr sz="2000" b="1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1EC1E6-52F4-4EC7-FC7A-7BE3A771AA97}"/>
              </a:ext>
            </a:extLst>
          </p:cNvPr>
          <p:cNvSpPr/>
          <p:nvPr/>
        </p:nvSpPr>
        <p:spPr>
          <a:xfrm>
            <a:off x="358502" y="5583378"/>
            <a:ext cx="11850586" cy="1278731"/>
          </a:xfrm>
          <a:prstGeom prst="rect">
            <a:avLst/>
          </a:prstGeom>
          <a:solidFill>
            <a:srgbClr val="F8FAFC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0F172A"/>
                </a:solidFill>
                <a:ea typeface="+mn-lt"/>
                <a:cs typeface="+mn-lt"/>
              </a:rPr>
              <a:t>Total LLM inference cost: ~$0.00014 per patient case (published rates × actual prompt/response sizes: </a:t>
            </a:r>
            <a:r>
              <a:rPr lang="en-US" sz="2000" dirty="0" err="1">
                <a:solidFill>
                  <a:srgbClr val="0F172A"/>
                </a:solidFill>
                <a:ea typeface="+mn-lt"/>
                <a:cs typeface="+mn-lt"/>
              </a:rPr>
              <a:t>Groq</a:t>
            </a:r>
            <a:r>
              <a:rPr lang="en-US" sz="2000" dirty="0">
                <a:solidFill>
                  <a:srgbClr val="0F172A"/>
                </a:solidFill>
                <a:ea typeface="+mn-lt"/>
                <a:cs typeface="+mn-lt"/>
              </a:rPr>
              <a:t> $0.05/$0.08 per 1M in/out tokens, HF-routed Gemma 3 27B $0.08/$0.16 per 1M in/out tokens). The real cost lever is </a:t>
            </a:r>
            <a:r>
              <a:rPr lang="en-US" sz="2000" b="1" dirty="0">
                <a:solidFill>
                  <a:srgbClr val="0F172A"/>
                </a:solidFill>
                <a:ea typeface="+mn-lt"/>
                <a:cs typeface="+mn-lt"/>
              </a:rPr>
              <a:t>imaging volume</a:t>
            </a:r>
            <a:r>
              <a:rPr lang="en-US" sz="2000" dirty="0">
                <a:solidFill>
                  <a:srgbClr val="0F172A"/>
                </a:solidFill>
                <a:ea typeface="+mn-lt"/>
                <a:cs typeface="+mn-lt"/>
              </a:rPr>
              <a:t>, which this tool is designed to reduce by triaging who really needs an MRI.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886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10146-5CF2-3C6E-4761-09883D57E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8A57A5-8233-F38D-52CD-BDAB9D580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 /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E8229-5948-BC5F-91E8-B8BFF827D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/>
          </a:p>
          <a:p>
            <a:pPr marL="0"/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99CAD-05DB-0CE1-93A0-07B2BD4E882F}"/>
              </a:ext>
            </a:extLst>
          </p:cNvPr>
          <p:cNvSpPr txBox="1"/>
          <p:nvPr/>
        </p:nvSpPr>
        <p:spPr>
          <a:xfrm>
            <a:off x="591580" y="1060764"/>
            <a:ext cx="109544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BD419-6B3D-F45F-4A83-8257D611534E}"/>
              </a:ext>
            </a:extLst>
          </p:cNvPr>
          <p:cNvSpPr txBox="1"/>
          <p:nvPr/>
        </p:nvSpPr>
        <p:spPr>
          <a:xfrm>
            <a:off x="4345785" y="518900"/>
            <a:ext cx="7181816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 b="1">
                <a:ea typeface="+mn-lt"/>
                <a:cs typeface="+mn-lt"/>
              </a:rPr>
              <a:t>For patients:</a:t>
            </a:r>
            <a:r>
              <a:rPr lang="en-US" sz="2400">
                <a:ea typeface="+mn-lt"/>
                <a:cs typeface="+mn-lt"/>
              </a:rPr>
              <a:t> Turns routine clinical data into an explainable early-risk signal ahead of costly imaging, targeting the client's imaging-cost and late-detection pain points directly.</a:t>
            </a:r>
            <a:endParaRPr lang="en-US" sz="2400"/>
          </a:p>
          <a:p>
            <a:pPr marL="457200" indent="-457200">
              <a:buAutoNum type="arabicPeriod"/>
            </a:pPr>
            <a:r>
              <a:rPr lang="en-US" sz="2400" b="1">
                <a:ea typeface="+mn-lt"/>
                <a:cs typeface="+mn-lt"/>
              </a:rPr>
              <a:t>For clinicians:</a:t>
            </a:r>
            <a:r>
              <a:rPr lang="en-US" sz="2400">
                <a:ea typeface="+mn-lt"/>
                <a:cs typeface="+mn-lt"/>
              </a:rPr>
              <a:t> every score arrives with its top reasons in plain </a:t>
            </a:r>
            <a:r>
              <a:rPr lang="en-US" sz="2400" dirty="0">
                <a:ea typeface="+mn-lt"/>
                <a:cs typeface="+mn-lt"/>
              </a:rPr>
              <a:t>language, plus an MRI second opinion and an EEG third opinion when needed, so a clinician is never asked to act on a number they can't interrogate.</a:t>
            </a:r>
            <a:endParaRPr lang="en-US" sz="2400"/>
          </a:p>
          <a:p>
            <a:pPr marL="457200" indent="-457200">
              <a:buAutoNum type="arabicPeriod"/>
            </a:pPr>
            <a:r>
              <a:rPr lang="en-US" sz="2400" b="1">
                <a:ea typeface="+mn-lt"/>
                <a:cs typeface="+mn-lt"/>
              </a:rPr>
              <a:t>For clinicians:</a:t>
            </a:r>
            <a:r>
              <a:rPr lang="en-US" sz="2400">
                <a:ea typeface="+mn-lt"/>
                <a:cs typeface="+mn-lt"/>
              </a:rPr>
              <a:t> an AI layer drafts the case summary, translates MRI </a:t>
            </a:r>
            <a:r>
              <a:rPr lang="en-US" sz="2400" dirty="0">
                <a:ea typeface="+mn-lt"/>
                <a:cs typeface="+mn-lt"/>
              </a:rPr>
              <a:t>findings into plain language, answers follow-up questions about the case, and pulls cited supporting evidence, so it removes the busywork around a decision without ever making the decision for them.</a:t>
            </a:r>
            <a:endParaRPr lang="en-US" sz="2400" dirty="0"/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8011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39B10-0D1A-BDC2-71A8-1DE7A283C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6000">
                <a:gradFill>
                  <a:gsLst>
                    <a:gs pos="0">
                      <a:srgbClr val="42A5F5">
                        <a:lumMod val="92000"/>
                        <a:lumOff val="8000"/>
                      </a:srgbClr>
                    </a:gs>
                    <a:gs pos="100000">
                      <a:srgbClr val="467FF0">
                        <a:lumMod val="63000"/>
                      </a:srgbClr>
                    </a:gs>
                  </a:gsLst>
                  <a:lin ang="16200000" scaled="1"/>
                </a:gradFill>
                <a:latin typeface="Aptos Light"/>
              </a:rPr>
              <a:t>Thank You</a:t>
            </a:r>
            <a:endParaRPr lang="en-US" sz="6000">
              <a:gradFill>
                <a:gsLst>
                  <a:gs pos="0">
                    <a:srgbClr val="42A5F5">
                      <a:lumMod val="92000"/>
                      <a:lumOff val="8000"/>
                    </a:srgbClr>
                  </a:gs>
                  <a:gs pos="100000">
                    <a:srgbClr val="467FF0">
                      <a:lumMod val="63000"/>
                    </a:srgbClr>
                  </a:gs>
                </a:gsLst>
                <a:lin ang="16200000" scaled="1"/>
              </a:gra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F6478B-7FF5-3899-477F-5420B750864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6174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AO Template_White">
  <a:themeElements>
    <a:clrScheme name="TAO Brand Colors_Aug_2024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12585"/>
      </a:accent1>
      <a:accent2>
        <a:srgbClr val="013CB9"/>
      </a:accent2>
      <a:accent3>
        <a:srgbClr val="007CEC"/>
      </a:accent3>
      <a:accent4>
        <a:srgbClr val="5EC8F3"/>
      </a:accent4>
      <a:accent5>
        <a:srgbClr val="ECC700"/>
      </a:accent5>
      <a:accent6>
        <a:srgbClr val="EEE491"/>
      </a:accent6>
      <a:hlink>
        <a:srgbClr val="7397F3"/>
      </a:hlink>
      <a:folHlink>
        <a:srgbClr val="9CC4FF"/>
      </a:folHlink>
    </a:clrScheme>
    <a:fontScheme name="Custom 2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O White Template for powerpoint" id="{C5AB5AC5-E521-3F46-96F9-946E2142D1D6}" vid="{6ABD6F5F-D1BB-EA42-A541-95C11282EDC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1D0602319CF3409F457B3BD9E7AAEB" ma:contentTypeVersion="8" ma:contentTypeDescription="Create a new document." ma:contentTypeScope="" ma:versionID="ee148bb7e852f1f80cdb6216535a0881">
  <xsd:schema xmlns:xsd="http://www.w3.org/2001/XMLSchema" xmlns:xs="http://www.w3.org/2001/XMLSchema" xmlns:p="http://schemas.microsoft.com/office/2006/metadata/properties" xmlns:ns3="13e3bddc-9044-4a0b-9fba-67dd8804b63a" targetNamespace="http://schemas.microsoft.com/office/2006/metadata/properties" ma:root="true" ma:fieldsID="8bef1e738afd2fae5600eda84b0297e3" ns3:_="">
    <xsd:import namespace="13e3bddc-9044-4a0b-9fba-67dd8804b63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e3bddc-9044-4a0b-9fba-67dd8804b63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AAD3A4-1E56-4866-B67C-5EAE4E8A3FDC}">
  <ds:schemaRefs>
    <ds:schemaRef ds:uri="http://schemas.microsoft.com/office/infopath/2007/PartnerControls"/>
    <ds:schemaRef ds:uri="http://purl.org/dc/elements/1.1/"/>
    <ds:schemaRef ds:uri="http://purl.org/dc/terms/"/>
    <ds:schemaRef ds:uri="13e3bddc-9044-4a0b-9fba-67dd8804b63a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909A84-671A-4B2D-8295-2BDF0059F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D8BC30-2DB2-449B-A3DA-3D57F8B071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e3bddc-9044-4a0b-9fba-67dd8804b6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670</TotalTime>
  <Words>2350</Words>
  <Application>Microsoft Office PowerPoint</Application>
  <PresentationFormat>Widescreen</PresentationFormat>
  <Paragraphs>136</Paragraphs>
  <Slides>20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TAO Template_White</vt:lpstr>
      <vt:lpstr>PowerPoint Presentation</vt:lpstr>
      <vt:lpstr>PowerPoint Presentation</vt:lpstr>
      <vt:lpstr>Alzheimer's Early Risk Triage - Overview</vt:lpstr>
      <vt:lpstr>Problems and Challenges</vt:lpstr>
      <vt:lpstr>Current solutions: Arpy8's Streamlit app</vt:lpstr>
      <vt:lpstr>HippoVolume.AI:  Predicts the risk of Alzheimer's based on hippocampal volume</vt:lpstr>
      <vt:lpstr>PowerPoint Presentation</vt:lpstr>
      <vt:lpstr>How the System Works – Overview</vt:lpstr>
      <vt:lpstr>Data Overview</vt:lpstr>
      <vt:lpstr>User journey</vt:lpstr>
      <vt:lpstr>User journey</vt:lpstr>
      <vt:lpstr>PowerPoint Presentation</vt:lpstr>
      <vt:lpstr>PowerPoint Presentation</vt:lpstr>
      <vt:lpstr>User journey</vt:lpstr>
      <vt:lpstr>PowerPoint Presentation</vt:lpstr>
      <vt:lpstr>PowerPoint Presentation</vt:lpstr>
      <vt:lpstr>Results</vt:lpstr>
      <vt:lpstr>Cost</vt:lpstr>
      <vt:lpstr>Conclusion / Key 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Zow Ormazabal</dc:creator>
  <cp:lastModifiedBy>Zow Ormazabal</cp:lastModifiedBy>
  <cp:revision>1136</cp:revision>
  <dcterms:created xsi:type="dcterms:W3CDTF">2025-03-13T13:32:47Z</dcterms:created>
  <dcterms:modified xsi:type="dcterms:W3CDTF">2026-08-31T03:50:34Z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0x010100001D0602319CF3409F457B3BD9E7AAEB</vt:lpwstr>
  </property>
</Properties>
</file>