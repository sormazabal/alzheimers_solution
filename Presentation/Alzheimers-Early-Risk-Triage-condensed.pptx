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technical walkthrough. The deck covers the mechanism of each modality, the integration method, and the place of the tool in a clinical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leakage point. It is the most credible item in the deck for a technical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the interface sends data to three models, and the three models converge into the pooled score. The footer names every source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MRI, EEG and fusion use the same shape of call. A user interface, a notebook or a hospital system calls one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clearly that the 3D pathway is a documented v1 approximation, and not a validated volumetric classifier. The limitations slide covers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of EEG is independence. It fails in a different way from imaging, so agreement between the two is real corroboration.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is not that pooling is clever. The point is that we did not invent parameters that we cannot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HuggingFace gemma-3-27b-it for vision, and Groq-hosted LLMs for text. Both are hosted services behind one client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frames are placeholders. Replace them with current captures before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question about use beyond one clinician.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clinical row. An honest label for that row carries the credibility of the whole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limits before a reviewer finds them. This is what makes the other numbers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Offer the 2-minute recorded demo as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E"/>
        </a:solidFill>
      </p:bgPr>
    </p:bg>
    <p:spTree>
      <p:nvGrpSpPr>
        <p:cNvPr id="1" name=""/>
        <p:cNvGrpSpPr/>
        <p:nvPr/>
      </p:nvGrpSpPr>
      <p:grpSpPr>
        <a:xfrm>
          <a:off x="0" y="0"/>
          <a:ext cx="0" cy="0"/>
          <a:chOff x="0" y="0"/>
          <a:chExt cx="0" cy="0"/>
        </a:xfrm>
      </p:grpSpPr>
      <p:sp>
        <p:nvSpPr>
          <p:cNvPr id="2" name="Shape 0"/>
          <p:cNvSpPr/>
          <p:nvPr/>
        </p:nvSpPr>
        <p:spPr>
          <a:xfrm rot="1080000">
            <a:off x="-2011680" y="3108960"/>
            <a:ext cx="7680960" cy="7680960"/>
          </a:xfrm>
          <a:prstGeom prst="roundRect">
            <a:avLst>
              <a:gd name="adj" fmla="val 5952"/>
            </a:avLst>
          </a:prstGeom>
          <a:solidFill>
            <a:srgbClr val="16273F"/>
          </a:solidFill>
          <a:ln w="12700">
            <a:solidFill>
              <a:srgbClr val="16273F"/>
            </a:solidFill>
            <a:prstDash val="solid"/>
          </a:ln>
        </p:spPr>
      </p:sp>
      <p:pic>
        <p:nvPicPr>
          <p:cNvPr id="3" name="Image 0" descr="media/tao_logo_white.png">    </p:cNvPr>
          <p:cNvPicPr>
            <a:picLocks noChangeAspect="1"/>
          </p:cNvPicPr>
          <p:nvPr/>
        </p:nvPicPr>
        <p:blipFill>
          <a:blip r:embed="rId1"/>
          <a:stretch>
            <a:fillRect/>
          </a:stretch>
        </p:blipFill>
        <p:spPr>
          <a:xfrm>
            <a:off x="685800" y="640080"/>
            <a:ext cx="2103120" cy="393192"/>
          </a:xfrm>
          <a:prstGeom prst="rect">
            <a:avLst/>
          </a:prstGeom>
        </p:spPr>
      </p:pic>
      <p:sp>
        <p:nvSpPr>
          <p:cNvPr id="4" name="Text 1"/>
          <p:cNvSpPr txBox="1"/>
          <p:nvPr/>
        </p:nvSpPr>
        <p:spPr>
          <a:xfrm>
            <a:off x="685800" y="2057400"/>
            <a:ext cx="8778240" cy="86868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Alzheimer's Early-Risk Triage</a:t>
            </a:r>
            <a:endParaRPr lang="en-US" sz="4200" dirty="0"/>
          </a:p>
        </p:txBody>
      </p:sp>
      <p:sp>
        <p:nvSpPr>
          <p:cNvPr id="5" name="Text 2"/>
          <p:cNvSpPr txBox="1"/>
          <p:nvPr/>
        </p:nvSpPr>
        <p:spPr>
          <a:xfrm>
            <a:off x="685800" y="2971800"/>
            <a:ext cx="8503920" cy="685800"/>
          </a:xfrm>
          <a:prstGeom prst="rect">
            <a:avLst/>
          </a:prstGeom>
          <a:noFill/>
          <a:ln/>
        </p:spPr>
        <p:txBody>
          <a:bodyPr wrap="square" lIns="0" tIns="0" rIns="0" bIns="0" rtlCol="0" anchor="ctr"/>
          <a:lstStyle/>
          <a:p>
            <a:pPr indent="0" marL="0">
              <a:lnSpc>
                <a:spcPct val="120000"/>
              </a:lnSpc>
              <a:buNone/>
            </a:pPr>
            <a:r>
              <a:rPr lang="en-US" sz="1600" dirty="0">
                <a:solidFill>
                  <a:srgbClr val="AFC3DB"/>
                </a:solidFill>
                <a:latin typeface="Calibri" pitchFamily="34" charset="0"/>
                <a:ea typeface="Calibri" pitchFamily="34" charset="-122"/>
                <a:cs typeface="Calibri" pitchFamily="34" charset="-120"/>
              </a:rPr>
              <a:t>The system fuses clinical, MRI and EEG evidence into one explainable risk score. It gives this score before a clinic orders imaging.</a:t>
            </a:r>
            <a:endParaRPr lang="en-US" sz="1600" dirty="0"/>
          </a:p>
        </p:txBody>
      </p:sp>
      <p:sp>
        <p:nvSpPr>
          <p:cNvPr id="6" name="Shape 3"/>
          <p:cNvSpPr/>
          <p:nvPr/>
        </p:nvSpPr>
        <p:spPr>
          <a:xfrm>
            <a:off x="685800" y="4114800"/>
            <a:ext cx="1600200" cy="329184"/>
          </a:xfrm>
          <a:prstGeom prst="roundRect">
            <a:avLst>
              <a:gd name="adj" fmla="val 50000"/>
            </a:avLst>
          </a:prstGeom>
          <a:solidFill>
            <a:srgbClr val="16273F"/>
          </a:solidFill>
          <a:ln w="12700">
            <a:solidFill>
              <a:srgbClr val="2C4260"/>
            </a:solidFill>
            <a:prstDash val="solid"/>
          </a:ln>
        </p:spPr>
      </p:sp>
      <p:sp>
        <p:nvSpPr>
          <p:cNvPr id="7" name="Text 4"/>
          <p:cNvSpPr txBox="1"/>
          <p:nvPr/>
        </p:nvSpPr>
        <p:spPr>
          <a:xfrm>
            <a:off x="685800" y="4114800"/>
            <a:ext cx="1600200" cy="329184"/>
          </a:xfrm>
          <a:prstGeom prst="rect">
            <a:avLst/>
          </a:prstGeom>
          <a:noFill/>
          <a:ln/>
        </p:spPr>
        <p:txBody>
          <a:bodyPr wrap="square" lIns="0" tIns="0" rIns="0" bIns="0" rtlCol="0" anchor="ctr"/>
          <a:lstStyle/>
          <a:p>
            <a:pPr algn="ctr" indent="0" marL="0">
              <a:buNone/>
            </a:pPr>
            <a:r>
              <a:rPr lang="en-US" sz="1050" b="1" dirty="0">
                <a:solidFill>
                  <a:srgbClr val="2E9BD6"/>
                </a:solidFill>
                <a:latin typeface="Calibri" pitchFamily="34" charset="0"/>
                <a:ea typeface="Calibri" pitchFamily="34" charset="-122"/>
                <a:cs typeface="Calibri" pitchFamily="34" charset="-120"/>
              </a:rPr>
              <a:t>Clinical model</a:t>
            </a:r>
            <a:endParaRPr lang="en-US" sz="1050" dirty="0"/>
          </a:p>
        </p:txBody>
      </p:sp>
      <p:sp>
        <p:nvSpPr>
          <p:cNvPr id="8" name="Shape 5"/>
          <p:cNvSpPr/>
          <p:nvPr/>
        </p:nvSpPr>
        <p:spPr>
          <a:xfrm>
            <a:off x="2432304" y="4114800"/>
            <a:ext cx="1312164" cy="329184"/>
          </a:xfrm>
          <a:prstGeom prst="roundRect">
            <a:avLst>
              <a:gd name="adj" fmla="val 50000"/>
            </a:avLst>
          </a:prstGeom>
          <a:solidFill>
            <a:srgbClr val="16273F"/>
          </a:solidFill>
          <a:ln w="12700">
            <a:solidFill>
              <a:srgbClr val="2C4260"/>
            </a:solidFill>
            <a:prstDash val="solid"/>
          </a:ln>
        </p:spPr>
      </p:sp>
      <p:sp>
        <p:nvSpPr>
          <p:cNvPr id="9" name="Text 6"/>
          <p:cNvSpPr txBox="1"/>
          <p:nvPr/>
        </p:nvSpPr>
        <p:spPr>
          <a:xfrm>
            <a:off x="2432304" y="4114800"/>
            <a:ext cx="1312164" cy="329184"/>
          </a:xfrm>
          <a:prstGeom prst="rect">
            <a:avLst/>
          </a:prstGeom>
          <a:noFill/>
          <a:ln/>
        </p:spPr>
        <p:txBody>
          <a:bodyPr wrap="square" lIns="0" tIns="0" rIns="0" bIns="0" rtlCol="0" anchor="ctr"/>
          <a:lstStyle/>
          <a:p>
            <a:pPr algn="ctr" indent="0" marL="0">
              <a:buNone/>
            </a:pPr>
            <a:r>
              <a:rPr lang="en-US" sz="1050" b="1" dirty="0">
                <a:solidFill>
                  <a:srgbClr val="2E9BD6"/>
                </a:solidFill>
                <a:latin typeface="Calibri" pitchFamily="34" charset="0"/>
                <a:ea typeface="Calibri" pitchFamily="34" charset="-122"/>
                <a:cs typeface="Calibri" pitchFamily="34" charset="-120"/>
              </a:rPr>
              <a:t>MRI 2D + 3D</a:t>
            </a:r>
            <a:endParaRPr lang="en-US" sz="1050" dirty="0"/>
          </a:p>
        </p:txBody>
      </p:sp>
      <p:sp>
        <p:nvSpPr>
          <p:cNvPr id="10" name="Shape 7"/>
          <p:cNvSpPr/>
          <p:nvPr/>
        </p:nvSpPr>
        <p:spPr>
          <a:xfrm>
            <a:off x="3890772" y="4114800"/>
            <a:ext cx="544068" cy="329184"/>
          </a:xfrm>
          <a:prstGeom prst="roundRect">
            <a:avLst>
              <a:gd name="adj" fmla="val 50000"/>
            </a:avLst>
          </a:prstGeom>
          <a:solidFill>
            <a:srgbClr val="16273F"/>
          </a:solidFill>
          <a:ln w="12700">
            <a:solidFill>
              <a:srgbClr val="2C4260"/>
            </a:solidFill>
            <a:prstDash val="solid"/>
          </a:ln>
        </p:spPr>
      </p:sp>
      <p:sp>
        <p:nvSpPr>
          <p:cNvPr id="11" name="Text 8"/>
          <p:cNvSpPr txBox="1"/>
          <p:nvPr/>
        </p:nvSpPr>
        <p:spPr>
          <a:xfrm>
            <a:off x="3890772" y="4114800"/>
            <a:ext cx="544068" cy="329184"/>
          </a:xfrm>
          <a:prstGeom prst="rect">
            <a:avLst/>
          </a:prstGeom>
          <a:noFill/>
          <a:ln/>
        </p:spPr>
        <p:txBody>
          <a:bodyPr wrap="square" lIns="0" tIns="0" rIns="0" bIns="0" rtlCol="0" anchor="ctr"/>
          <a:lstStyle/>
          <a:p>
            <a:pPr algn="ctr" indent="0" marL="0">
              <a:buNone/>
            </a:pPr>
            <a:r>
              <a:rPr lang="en-US" sz="1050" b="1" dirty="0">
                <a:solidFill>
                  <a:srgbClr val="2E9BD6"/>
                </a:solidFill>
                <a:latin typeface="Calibri" pitchFamily="34" charset="0"/>
                <a:ea typeface="Calibri" pitchFamily="34" charset="-122"/>
                <a:cs typeface="Calibri" pitchFamily="34" charset="-120"/>
              </a:rPr>
              <a:t>EEG</a:t>
            </a:r>
            <a:endParaRPr lang="en-US" sz="1050" dirty="0"/>
          </a:p>
        </p:txBody>
      </p:sp>
      <p:sp>
        <p:nvSpPr>
          <p:cNvPr id="12" name="Shape 9"/>
          <p:cNvSpPr/>
          <p:nvPr/>
        </p:nvSpPr>
        <p:spPr>
          <a:xfrm>
            <a:off x="4581144" y="4114800"/>
            <a:ext cx="832104" cy="329184"/>
          </a:xfrm>
          <a:prstGeom prst="roundRect">
            <a:avLst>
              <a:gd name="adj" fmla="val 50000"/>
            </a:avLst>
          </a:prstGeom>
          <a:solidFill>
            <a:srgbClr val="16273F"/>
          </a:solidFill>
          <a:ln w="12700">
            <a:solidFill>
              <a:srgbClr val="2C4260"/>
            </a:solidFill>
            <a:prstDash val="solid"/>
          </a:ln>
        </p:spPr>
      </p:sp>
      <p:sp>
        <p:nvSpPr>
          <p:cNvPr id="13" name="Text 10"/>
          <p:cNvSpPr txBox="1"/>
          <p:nvPr/>
        </p:nvSpPr>
        <p:spPr>
          <a:xfrm>
            <a:off x="4581144" y="4114800"/>
            <a:ext cx="832104" cy="329184"/>
          </a:xfrm>
          <a:prstGeom prst="rect">
            <a:avLst/>
          </a:prstGeom>
          <a:noFill/>
          <a:ln/>
        </p:spPr>
        <p:txBody>
          <a:bodyPr wrap="square" lIns="0" tIns="0" rIns="0" bIns="0" rtlCol="0" anchor="ctr"/>
          <a:lstStyle/>
          <a:p>
            <a:pPr algn="ctr" indent="0" marL="0">
              <a:buNone/>
            </a:pPr>
            <a:r>
              <a:rPr lang="en-US" sz="1050" b="1" dirty="0">
                <a:solidFill>
                  <a:srgbClr val="2E9BD6"/>
                </a:solidFill>
                <a:latin typeface="Calibri" pitchFamily="34" charset="0"/>
                <a:ea typeface="Calibri" pitchFamily="34" charset="-122"/>
                <a:cs typeface="Calibri" pitchFamily="34" charset="-120"/>
              </a:rPr>
              <a:t>Fusion</a:t>
            </a:r>
            <a:endParaRPr lang="en-US" sz="1050" dirty="0"/>
          </a:p>
        </p:txBody>
      </p:sp>
      <p:sp>
        <p:nvSpPr>
          <p:cNvPr id="14" name="Shape 11"/>
          <p:cNvSpPr/>
          <p:nvPr/>
        </p:nvSpPr>
        <p:spPr>
          <a:xfrm>
            <a:off x="5559552" y="4114800"/>
            <a:ext cx="1120140" cy="329184"/>
          </a:xfrm>
          <a:prstGeom prst="roundRect">
            <a:avLst>
              <a:gd name="adj" fmla="val 50000"/>
            </a:avLst>
          </a:prstGeom>
          <a:solidFill>
            <a:srgbClr val="16273F"/>
          </a:solidFill>
          <a:ln w="12700">
            <a:solidFill>
              <a:srgbClr val="2C4260"/>
            </a:solidFill>
            <a:prstDash val="solid"/>
          </a:ln>
        </p:spPr>
      </p:sp>
      <p:sp>
        <p:nvSpPr>
          <p:cNvPr id="15" name="Text 12"/>
          <p:cNvSpPr txBox="1"/>
          <p:nvPr/>
        </p:nvSpPr>
        <p:spPr>
          <a:xfrm>
            <a:off x="5559552" y="4114800"/>
            <a:ext cx="1120140" cy="329184"/>
          </a:xfrm>
          <a:prstGeom prst="rect">
            <a:avLst/>
          </a:prstGeom>
          <a:noFill/>
          <a:ln/>
        </p:spPr>
        <p:txBody>
          <a:bodyPr wrap="square" lIns="0" tIns="0" rIns="0" bIns="0" rtlCol="0" anchor="ctr"/>
          <a:lstStyle/>
          <a:p>
            <a:pPr algn="ctr" indent="0" marL="0">
              <a:buNone/>
            </a:pPr>
            <a:r>
              <a:rPr lang="en-US" sz="1050" b="1" dirty="0">
                <a:solidFill>
                  <a:srgbClr val="2E9BD6"/>
                </a:solidFill>
                <a:latin typeface="Calibri" pitchFamily="34" charset="0"/>
                <a:ea typeface="Calibri" pitchFamily="34" charset="-122"/>
                <a:cs typeface="Calibri" pitchFamily="34" charset="-120"/>
              </a:rPr>
              <a:t>LLM layer</a:t>
            </a:r>
            <a:endParaRPr lang="en-US" sz="1050" dirty="0"/>
          </a:p>
        </p:txBody>
      </p:sp>
      <p:sp>
        <p:nvSpPr>
          <p:cNvPr id="16" name="Text 13"/>
          <p:cNvSpPr txBox="1"/>
          <p:nvPr/>
        </p:nvSpPr>
        <p:spPr>
          <a:xfrm>
            <a:off x="685800" y="5760720"/>
            <a:ext cx="64008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Zow Ormazabal  ·  TAO Digital Solutions</a:t>
            </a:r>
            <a:endParaRPr lang="en-US" sz="1300" dirty="0"/>
          </a:p>
        </p:txBody>
      </p:sp>
      <p:sp>
        <p:nvSpPr>
          <p:cNvPr id="17" name="Text 14"/>
          <p:cNvSpPr txBox="1"/>
          <p:nvPr/>
        </p:nvSpPr>
        <p:spPr>
          <a:xfrm>
            <a:off x="685800" y="6053328"/>
            <a:ext cx="6400800" cy="274320"/>
          </a:xfrm>
          <a:prstGeom prst="rect">
            <a:avLst/>
          </a:prstGeom>
          <a:noFill/>
          <a:ln/>
        </p:spPr>
        <p:txBody>
          <a:bodyPr wrap="square" lIns="0" tIns="0" rIns="0" bIns="0" rtlCol="0" anchor="ctr"/>
          <a:lstStyle/>
          <a:p>
            <a:pPr indent="0" marL="0">
              <a:buNone/>
            </a:pPr>
            <a:r>
              <a:rPr lang="en-US" sz="1100" dirty="0">
                <a:solidFill>
                  <a:srgbClr val="5C6B7F"/>
                </a:solidFill>
                <a:latin typeface="Calibri" pitchFamily="34" charset="0"/>
                <a:ea typeface="Calibri" pitchFamily="34" charset="-122"/>
                <a:cs typeface="Calibri" pitchFamily="34" charset="-120"/>
              </a:rPr>
              <a:t>Proof of capability for Siemens Digital Health / SHS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01752"/>
            <a:ext cx="8229600" cy="237744"/>
          </a:xfrm>
          <a:prstGeom prst="rect">
            <a:avLst/>
          </a:prstGeom>
          <a:noFill/>
          <a:ln/>
        </p:spPr>
        <p:txBody>
          <a:bodyPr wrap="square" lIns="0" tIns="0" rIns="0" bIns="0" rtlCol="0" anchor="ctr"/>
          <a:lstStyle/>
          <a:p>
            <a:pPr indent="0" marL="0">
              <a:buNone/>
            </a:pPr>
            <a:r>
              <a:rPr lang="en-US" sz="1100" b="1" spc="200" kern="0" dirty="0">
                <a:solidFill>
                  <a:srgbClr val="2E9BD6"/>
                </a:solidFill>
                <a:latin typeface="Calibri" pitchFamily="34" charset="0"/>
                <a:ea typeface="Calibri" pitchFamily="34" charset="-122"/>
                <a:cs typeface="Calibri" pitchFamily="34" charset="-120"/>
              </a:rPr>
              <a:t>FRAMING</a:t>
            </a:r>
            <a:endParaRPr lang="en-US" sz="1100" dirty="0"/>
          </a:p>
        </p:txBody>
      </p:sp>
      <p:sp>
        <p:nvSpPr>
          <p:cNvPr id="3" name="Text 1"/>
          <p:cNvSpPr txBox="1"/>
          <p:nvPr/>
        </p:nvSpPr>
        <p:spPr>
          <a:xfrm>
            <a:off x="548640" y="548640"/>
            <a:ext cx="10241280" cy="685800"/>
          </a:xfrm>
          <a:prstGeom prst="rect">
            <a:avLst/>
          </a:prstGeom>
          <a:noFill/>
          <a:ln/>
        </p:spPr>
        <p:txBody>
          <a:bodyPr wrap="square" lIns="0" tIns="0" rIns="0" bIns="0" rtlCol="0" anchor="t"/>
          <a:lstStyle/>
          <a:p>
            <a:pPr indent="0" marL="0">
              <a:buNone/>
            </a:pPr>
            <a:r>
              <a:rPr lang="en-US" sz="3000" b="1" dirty="0">
                <a:solidFill>
                  <a:srgbClr val="16202E"/>
                </a:solidFill>
                <a:latin typeface="Calibri" pitchFamily="34" charset="0"/>
                <a:ea typeface="Calibri" pitchFamily="34" charset="-122"/>
                <a:cs typeface="Calibri" pitchFamily="34" charset="-120"/>
              </a:rPr>
              <a:t>The problem, and the constraints that shaped the design</a:t>
            </a:r>
            <a:endParaRPr lang="en-US" sz="3000" dirty="0"/>
          </a:p>
        </p:txBody>
      </p:sp>
      <p:sp>
        <p:nvSpPr>
          <p:cNvPr id="4" name="Shape 2"/>
          <p:cNvSpPr/>
          <p:nvPr/>
        </p:nvSpPr>
        <p:spPr>
          <a:xfrm>
            <a:off x="548640" y="1417320"/>
            <a:ext cx="5394960" cy="2697480"/>
          </a:xfrm>
          <a:prstGeom prst="roundRect">
            <a:avLst>
              <a:gd name="adj" fmla="val 2712"/>
            </a:avLst>
          </a:prstGeom>
          <a:solidFill>
            <a:srgbClr val="F2F5FA"/>
          </a:solidFill>
          <a:ln w="12700">
            <a:solidFill>
              <a:srgbClr val="F2F5FA"/>
            </a:solidFill>
            <a:prstDash val="solid"/>
          </a:ln>
        </p:spPr>
      </p:sp>
      <p:sp>
        <p:nvSpPr>
          <p:cNvPr id="5" name="Text 3"/>
          <p:cNvSpPr txBox="1"/>
          <p:nvPr/>
        </p:nvSpPr>
        <p:spPr>
          <a:xfrm>
            <a:off x="822960" y="1600200"/>
            <a:ext cx="4846320" cy="292608"/>
          </a:xfrm>
          <a:prstGeom prst="rect">
            <a:avLst/>
          </a:prstGeom>
          <a:noFill/>
          <a:ln/>
        </p:spPr>
        <p:txBody>
          <a:bodyPr wrap="square" lIns="0" tIns="0" rIns="0" bIns="0" rtlCol="0" anchor="ctr"/>
          <a:lstStyle/>
          <a:p>
            <a:pPr indent="0" marL="0">
              <a:buNone/>
            </a:pPr>
            <a:r>
              <a:rPr lang="en-US" sz="1600" b="1" dirty="0">
                <a:solidFill>
                  <a:srgbClr val="1B5FA8"/>
                </a:solidFill>
                <a:latin typeface="Calibri" pitchFamily="34" charset="0"/>
                <a:ea typeface="Calibri" pitchFamily="34" charset="-122"/>
                <a:cs typeface="Calibri" pitchFamily="34" charset="-120"/>
              </a:rPr>
              <a:t>The clinical problem</a:t>
            </a:r>
            <a:endParaRPr lang="en-US" sz="1600" dirty="0"/>
          </a:p>
        </p:txBody>
      </p:sp>
      <p:sp>
        <p:nvSpPr>
          <p:cNvPr id="6" name="Text 4"/>
          <p:cNvSpPr txBox="1"/>
          <p:nvPr/>
        </p:nvSpPr>
        <p:spPr>
          <a:xfrm>
            <a:off x="822960" y="2011680"/>
            <a:ext cx="4846320" cy="22860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6202E"/>
                </a:solidFill>
                <a:latin typeface="Calibri" pitchFamily="34" charset="0"/>
                <a:ea typeface="Calibri" pitchFamily="34" charset="-122"/>
                <a:cs typeface="Calibri" pitchFamily="34" charset="-120"/>
              </a:rPr>
              <a:t>Imaging is the most expensive step in the diagnostic path, and its capacity is limited. Every scan without prior evidence displaces a patient with higher priority.</a:t>
            </a:r>
            <a:endParaRPr lang="en-US" sz="1200" dirty="0"/>
          </a:p>
          <a:p>
            <a:pPr marL="342900" indent="-342900">
              <a:spcAft>
                <a:spcPts val="700"/>
              </a:spcAft>
              <a:buSzPct val="100000"/>
              <a:buChar char="•"/>
            </a:pPr>
            <a:r>
              <a:rPr lang="en-US" sz="1200" dirty="0">
                <a:solidFill>
                  <a:srgbClr val="16202E"/>
                </a:solidFill>
                <a:latin typeface="Calibri" pitchFamily="34" charset="0"/>
                <a:ea typeface="Calibri" pitchFamily="34" charset="-122"/>
                <a:cs typeface="Calibri" pitchFamily="34" charset="-120"/>
              </a:rPr>
              <a:t>Diagnosis usually happens after the symptoms are visible. The data that can show the risk earlier stays unused in the chart.</a:t>
            </a:r>
            <a:endParaRPr lang="en-US" sz="1200" dirty="0"/>
          </a:p>
          <a:p>
            <a:pPr marL="342900" indent="-342900">
              <a:spcAft>
                <a:spcPts val="700"/>
              </a:spcAft>
              <a:buSzPct val="100000"/>
              <a:buChar char="•"/>
            </a:pPr>
            <a:r>
              <a:rPr lang="en-US" sz="1200" dirty="0">
                <a:solidFill>
                  <a:srgbClr val="16202E"/>
                </a:solidFill>
                <a:latin typeface="Calibri" pitchFamily="34" charset="0"/>
                <a:ea typeface="Calibri" pitchFamily="34" charset="-122"/>
                <a:cs typeface="Calibri" pitchFamily="34" charset="-120"/>
              </a:rPr>
              <a:t>Existing risk tools are black boxes. Clinicians hesitate to act on these tools, and certification across a product line is difficult.</a:t>
            </a:r>
            <a:endParaRPr lang="en-US" sz="1200" dirty="0"/>
          </a:p>
        </p:txBody>
      </p:sp>
      <p:sp>
        <p:nvSpPr>
          <p:cNvPr id="7" name="Shape 5"/>
          <p:cNvSpPr/>
          <p:nvPr/>
        </p:nvSpPr>
        <p:spPr>
          <a:xfrm>
            <a:off x="6263640" y="1417320"/>
            <a:ext cx="5394960" cy="2697480"/>
          </a:xfrm>
          <a:prstGeom prst="roundRect">
            <a:avLst>
              <a:gd name="adj" fmla="val 2712"/>
            </a:avLst>
          </a:prstGeom>
          <a:solidFill>
            <a:srgbClr val="F2F5FA"/>
          </a:solidFill>
          <a:ln w="12700">
            <a:solidFill>
              <a:srgbClr val="F2F5FA"/>
            </a:solidFill>
            <a:prstDash val="solid"/>
          </a:ln>
        </p:spPr>
      </p:sp>
      <p:sp>
        <p:nvSpPr>
          <p:cNvPr id="8" name="Text 6"/>
          <p:cNvSpPr txBox="1"/>
          <p:nvPr/>
        </p:nvSpPr>
        <p:spPr>
          <a:xfrm>
            <a:off x="6537960" y="1600200"/>
            <a:ext cx="4846320" cy="292608"/>
          </a:xfrm>
          <a:prstGeom prst="rect">
            <a:avLst/>
          </a:prstGeom>
          <a:noFill/>
          <a:ln/>
        </p:spPr>
        <p:txBody>
          <a:bodyPr wrap="square" lIns="0" tIns="0" rIns="0" bIns="0" rtlCol="0" anchor="ctr"/>
          <a:lstStyle/>
          <a:p>
            <a:pPr indent="0" marL="0">
              <a:buNone/>
            </a:pPr>
            <a:r>
              <a:rPr lang="en-US" sz="1600" b="1" dirty="0">
                <a:solidFill>
                  <a:srgbClr val="1B5FA8"/>
                </a:solidFill>
                <a:latin typeface="Calibri" pitchFamily="34" charset="0"/>
                <a:ea typeface="Calibri" pitchFamily="34" charset="-122"/>
                <a:cs typeface="Calibri" pitchFamily="34" charset="-120"/>
              </a:rPr>
              <a:t>The engineering constraints</a:t>
            </a:r>
            <a:endParaRPr lang="en-US" sz="1600" dirty="0"/>
          </a:p>
        </p:txBody>
      </p:sp>
      <p:sp>
        <p:nvSpPr>
          <p:cNvPr id="9" name="Text 7"/>
          <p:cNvSpPr txBox="1"/>
          <p:nvPr/>
        </p:nvSpPr>
        <p:spPr>
          <a:xfrm>
            <a:off x="6537960" y="2011680"/>
            <a:ext cx="4846320" cy="22860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6202E"/>
                </a:solidFill>
                <a:latin typeface="Calibri" pitchFamily="34" charset="0"/>
                <a:ea typeface="Calibri" pitchFamily="34" charset="-122"/>
                <a:cs typeface="Calibri" pitchFamily="34" charset="-120"/>
              </a:rPr>
              <a:t>Target leakage: the Clinical Dementia Rating is not a predictor of the diagnosis. It is the diagnosis. Some published approaches still train on it.</a:t>
            </a:r>
            <a:endParaRPr lang="en-US" sz="1200" dirty="0"/>
          </a:p>
          <a:p>
            <a:pPr marL="342900" indent="-342900">
              <a:spcAft>
                <a:spcPts val="700"/>
              </a:spcAft>
              <a:buSzPct val="100000"/>
              <a:buChar char="•"/>
            </a:pPr>
            <a:r>
              <a:rPr lang="en-US" sz="1200" dirty="0">
                <a:solidFill>
                  <a:srgbClr val="16202E"/>
                </a:solidFill>
                <a:latin typeface="Calibri" pitchFamily="34" charset="0"/>
                <a:ea typeface="Calibri" pitchFamily="34" charset="-122"/>
                <a:cs typeface="Calibri" pitchFamily="34" charset="-120"/>
              </a:rPr>
              <a:t>Data availability: privacy rules and data-use terms restrict access to complete medical datasets.</a:t>
            </a:r>
            <a:endParaRPr lang="en-US" sz="1200" dirty="0"/>
          </a:p>
          <a:p>
            <a:pPr marL="342900" indent="-342900">
              <a:spcAft>
                <a:spcPts val="700"/>
              </a:spcAft>
              <a:buSzPct val="100000"/>
              <a:buChar char="•"/>
            </a:pPr>
            <a:r>
              <a:rPr lang="en-US" sz="1200" dirty="0">
                <a:solidFill>
                  <a:srgbClr val="16202E"/>
                </a:solidFill>
                <a:latin typeface="Calibri" pitchFamily="34" charset="0"/>
                <a:ea typeface="Calibri" pitchFamily="34" charset="-122"/>
                <a:cs typeface="Calibri" pitchFamily="34" charset="-120"/>
              </a:rPr>
              <a:t>No paired multimodal data: no public dataset pairs tabular, imaging and EEG records for one patient under one label.</a:t>
            </a:r>
            <a:endParaRPr lang="en-US" sz="1200" dirty="0"/>
          </a:p>
        </p:txBody>
      </p:sp>
      <p:sp>
        <p:nvSpPr>
          <p:cNvPr id="10" name="Shape 8"/>
          <p:cNvSpPr/>
          <p:nvPr/>
        </p:nvSpPr>
        <p:spPr>
          <a:xfrm>
            <a:off x="548640" y="4389120"/>
            <a:ext cx="11109960" cy="868680"/>
          </a:xfrm>
          <a:prstGeom prst="roundRect">
            <a:avLst>
              <a:gd name="adj" fmla="val 6316"/>
            </a:avLst>
          </a:prstGeom>
          <a:solidFill>
            <a:srgbClr val="FFF6E9"/>
          </a:solidFill>
          <a:ln w="12700">
            <a:solidFill>
              <a:srgbClr val="F2952B"/>
            </a:solidFill>
            <a:prstDash val="solid"/>
          </a:ln>
        </p:spPr>
      </p:sp>
      <p:sp>
        <p:nvSpPr>
          <p:cNvPr id="11" name="Text 9"/>
          <p:cNvSpPr txBox="1"/>
          <p:nvPr/>
        </p:nvSpPr>
        <p:spPr>
          <a:xfrm>
            <a:off x="713232" y="4425696"/>
            <a:ext cx="10780776" cy="795528"/>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Design decision: the model does not use the Clinical Dementia Rating as a predictor. A tool that screens patients before diagnosis cannot train on the diagnosis. This is why the clinical metrics are lower than published baselines that contain leakage.</a:t>
            </a:r>
            <a:endParaRPr lang="en-US" sz="1250" dirty="0"/>
          </a:p>
        </p:txBody>
      </p:sp>
      <p:sp>
        <p:nvSpPr>
          <p:cNvPr id="12" name="Text 10"/>
          <p:cNvSpPr txBox="1"/>
          <p:nvPr/>
        </p:nvSpPr>
        <p:spPr>
          <a:xfrm>
            <a:off x="548640" y="5486400"/>
            <a:ext cx="11109960" cy="274320"/>
          </a:xfrm>
          <a:prstGeom prst="rect">
            <a:avLst/>
          </a:prstGeom>
          <a:noFill/>
          <a:ln/>
        </p:spPr>
        <p:txBody>
          <a:bodyPr wrap="square" lIns="0" tIns="0" rIns="0" bIns="0" rtlCol="0" anchor="ctr"/>
          <a:lstStyle/>
          <a:p>
            <a:pPr indent="0" marL="0">
              <a:buNone/>
            </a:pPr>
            <a:r>
              <a:rPr lang="en-US" sz="1150" i="1" dirty="0">
                <a:solidFill>
                  <a:srgbClr val="5C6B7F"/>
                </a:solidFill>
                <a:latin typeface="Calibri" pitchFamily="34" charset="0"/>
                <a:ea typeface="Calibri" pitchFamily="34" charset="-122"/>
                <a:cs typeface="Calibri" pitchFamily="34" charset="-120"/>
              </a:rPr>
              <a:t>The rest of this deck follows from these three constraints.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01752"/>
            <a:ext cx="8229600" cy="237744"/>
          </a:xfrm>
          <a:prstGeom prst="rect">
            <a:avLst/>
          </a:prstGeom>
          <a:noFill/>
          <a:ln/>
        </p:spPr>
        <p:txBody>
          <a:bodyPr wrap="square" lIns="0" tIns="0" rIns="0" bIns="0" rtlCol="0" anchor="ctr"/>
          <a:lstStyle/>
          <a:p>
            <a:pPr indent="0" marL="0">
              <a:buNone/>
            </a:pPr>
            <a:r>
              <a:rPr lang="en-US" sz="1100" b="1" spc="200" kern="0" dirty="0">
                <a:solidFill>
                  <a:srgbClr val="2E9BD6"/>
                </a:solidFill>
                <a:latin typeface="Calibri" pitchFamily="34" charset="0"/>
                <a:ea typeface="Calibri" pitchFamily="34" charset="-122"/>
                <a:cs typeface="Calibri" pitchFamily="34" charset="-120"/>
              </a:rPr>
              <a:t>SYSTEM ARCHITECTURE</a:t>
            </a:r>
            <a:endParaRPr lang="en-US" sz="1100" dirty="0"/>
          </a:p>
        </p:txBody>
      </p:sp>
      <p:sp>
        <p:nvSpPr>
          <p:cNvPr id="3" name="Text 1"/>
          <p:cNvSpPr txBox="1"/>
          <p:nvPr/>
        </p:nvSpPr>
        <p:spPr>
          <a:xfrm>
            <a:off x="548640" y="548640"/>
            <a:ext cx="10241280" cy="685800"/>
          </a:xfrm>
          <a:prstGeom prst="rect">
            <a:avLst/>
          </a:prstGeom>
          <a:noFill/>
          <a:ln/>
        </p:spPr>
        <p:txBody>
          <a:bodyPr wrap="square" lIns="0" tIns="0" rIns="0" bIns="0" rtlCol="0" anchor="t"/>
          <a:lstStyle/>
          <a:p>
            <a:pPr indent="0" marL="0">
              <a:buNone/>
            </a:pPr>
            <a:r>
              <a:rPr lang="en-US" sz="3000" b="1" dirty="0">
                <a:solidFill>
                  <a:srgbClr val="16202E"/>
                </a:solidFill>
                <a:latin typeface="Calibri" pitchFamily="34" charset="0"/>
                <a:ea typeface="Calibri" pitchFamily="34" charset="-122"/>
                <a:cs typeface="Calibri" pitchFamily="34" charset="-120"/>
              </a:rPr>
              <a:t>Three independent models, one fused output</a:t>
            </a:r>
            <a:endParaRPr lang="en-US" sz="3000" dirty="0"/>
          </a:p>
        </p:txBody>
      </p:sp>
      <p:pic>
        <p:nvPicPr>
          <p:cNvPr id="4" name="Image 0" descr="media/architecture.png">    </p:cNvPr>
          <p:cNvPicPr>
            <a:picLocks noChangeAspect="1"/>
          </p:cNvPicPr>
          <p:nvPr/>
        </p:nvPicPr>
        <p:blipFill>
          <a:blip r:embed="rId1"/>
          <a:stretch>
            <a:fillRect/>
          </a:stretch>
        </p:blipFill>
        <p:spPr>
          <a:xfrm>
            <a:off x="795528" y="1325880"/>
            <a:ext cx="10607040" cy="4535424"/>
          </a:xfrm>
          <a:prstGeom prst="rect">
            <a:avLst/>
          </a:prstGeom>
        </p:spPr>
      </p:pic>
      <p:sp>
        <p:nvSpPr>
          <p:cNvPr id="5" name="Text 2"/>
          <p:cNvSpPr txBox="1"/>
          <p:nvPr/>
        </p:nvSpPr>
        <p:spPr>
          <a:xfrm>
            <a:off x="548640" y="6035040"/>
            <a:ext cx="11064240" cy="320040"/>
          </a:xfrm>
          <a:prstGeom prst="rect">
            <a:avLst/>
          </a:prstGeom>
          <a:noFill/>
          <a:ln/>
        </p:spPr>
        <p:txBody>
          <a:bodyPr wrap="square" lIns="0" tIns="0" rIns="0" bIns="0" rtlCol="0" anchor="ctr"/>
          <a:lstStyle/>
          <a:p>
            <a:pPr indent="0" marL="0">
              <a:buNone/>
            </a:pPr>
            <a:r>
              <a:rPr lang="en-US" sz="1250" i="1" dirty="0">
                <a:solidFill>
                  <a:srgbClr val="5C6B7F"/>
                </a:solidFill>
                <a:latin typeface="Calibri" pitchFamily="34" charset="0"/>
                <a:ea typeface="Calibri" pitchFamily="34" charset="-122"/>
                <a:cs typeface="Calibri" pitchFamily="34" charset="-120"/>
              </a:rPr>
              <a:t>Each model scores its own modality and stays open to inspection. Fusion happens once, at the end, and never inside a model.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01752"/>
            <a:ext cx="8229600" cy="237744"/>
          </a:xfrm>
          <a:prstGeom prst="rect">
            <a:avLst/>
          </a:prstGeom>
          <a:noFill/>
          <a:ln/>
        </p:spPr>
        <p:txBody>
          <a:bodyPr wrap="square" lIns="0" tIns="0" rIns="0" bIns="0" rtlCol="0" anchor="ctr"/>
          <a:lstStyle/>
          <a:p>
            <a:pPr indent="0" marL="0">
              <a:buNone/>
            </a:pPr>
            <a:r>
              <a:rPr lang="en-US" sz="1100" b="1" spc="200" kern="0" dirty="0">
                <a:solidFill>
                  <a:srgbClr val="2E9BD6"/>
                </a:solidFill>
                <a:latin typeface="Calibri" pitchFamily="34" charset="0"/>
                <a:ea typeface="Calibri" pitchFamily="34" charset="-122"/>
                <a:cs typeface="Calibri" pitchFamily="34" charset="-120"/>
              </a:rPr>
              <a:t>MECHANISM 1 OF 3</a:t>
            </a:r>
            <a:endParaRPr lang="en-US" sz="1100" dirty="0"/>
          </a:p>
        </p:txBody>
      </p:sp>
      <p:sp>
        <p:nvSpPr>
          <p:cNvPr id="3" name="Text 1"/>
          <p:cNvSpPr txBox="1"/>
          <p:nvPr/>
        </p:nvSpPr>
        <p:spPr>
          <a:xfrm>
            <a:off x="548640" y="548640"/>
            <a:ext cx="10241280" cy="685800"/>
          </a:xfrm>
          <a:prstGeom prst="rect">
            <a:avLst/>
          </a:prstGeom>
          <a:noFill/>
          <a:ln/>
        </p:spPr>
        <p:txBody>
          <a:bodyPr wrap="square" lIns="0" tIns="0" rIns="0" bIns="0" rtlCol="0" anchor="t"/>
          <a:lstStyle/>
          <a:p>
            <a:pPr indent="0" marL="0">
              <a:buNone/>
            </a:pPr>
            <a:r>
              <a:rPr lang="en-US" sz="3000" b="1" dirty="0">
                <a:solidFill>
                  <a:srgbClr val="16202E"/>
                </a:solidFill>
                <a:latin typeface="Calibri" pitchFamily="34" charset="0"/>
                <a:ea typeface="Calibri" pitchFamily="34" charset="-122"/>
                <a:cs typeface="Calibri" pitchFamily="34" charset="-120"/>
              </a:rPr>
              <a:t>Clinical risk model — the pre-imaging signal</a:t>
            </a:r>
            <a:endParaRPr lang="en-US" sz="3000" dirty="0"/>
          </a:p>
        </p:txBody>
      </p:sp>
      <p:sp>
        <p:nvSpPr>
          <p:cNvPr id="4" name="Shape 2"/>
          <p:cNvSpPr/>
          <p:nvPr/>
        </p:nvSpPr>
        <p:spPr>
          <a:xfrm>
            <a:off x="548640" y="1371600"/>
            <a:ext cx="2061058" cy="566928"/>
          </a:xfrm>
          <a:prstGeom prst="roundRect">
            <a:avLst>
              <a:gd name="adj" fmla="val 9677"/>
            </a:avLst>
          </a:prstGeom>
          <a:solidFill>
            <a:srgbClr val="E7EEF7"/>
          </a:solidFill>
          <a:ln w="12700">
            <a:solidFill>
              <a:srgbClr val="E7EEF7"/>
            </a:solidFill>
            <a:prstDash val="solid"/>
          </a:ln>
        </p:spPr>
      </p:sp>
      <p:sp>
        <p:nvSpPr>
          <p:cNvPr id="5" name="Text 3"/>
          <p:cNvSpPr txBox="1"/>
          <p:nvPr/>
        </p:nvSpPr>
        <p:spPr>
          <a:xfrm>
            <a:off x="603504" y="1371600"/>
            <a:ext cx="1951330" cy="566928"/>
          </a:xfrm>
          <a:prstGeom prst="rect">
            <a:avLst/>
          </a:prstGeom>
          <a:noFill/>
          <a:ln/>
        </p:spPr>
        <p:txBody>
          <a:bodyPr wrap="square" lIns="0" tIns="0" rIns="0" bIns="0" rtlCol="0" anchor="ctr"/>
          <a:lstStyle/>
          <a:p>
            <a:pPr algn="ctr" indent="0" marL="0">
              <a:buNone/>
            </a:pPr>
            <a:r>
              <a:rPr lang="en-US" sz="1100" b="1" dirty="0">
                <a:solidFill>
                  <a:srgbClr val="1B5FA8"/>
                </a:solidFill>
                <a:latin typeface="Calibri" pitchFamily="34" charset="0"/>
                <a:ea typeface="Calibri" pitchFamily="34" charset="-122"/>
                <a:cs typeface="Calibri" pitchFamily="34" charset="-120"/>
              </a:rPr>
              <a:t>9 tabular features</a:t>
            </a:r>
            <a:endParaRPr lang="en-US" sz="1100" dirty="0"/>
          </a:p>
        </p:txBody>
      </p:sp>
      <p:sp>
        <p:nvSpPr>
          <p:cNvPr id="6" name="Text 4"/>
          <p:cNvSpPr txBox="1"/>
          <p:nvPr/>
        </p:nvSpPr>
        <p:spPr>
          <a:xfrm>
            <a:off x="2609698" y="1371600"/>
            <a:ext cx="201168" cy="566928"/>
          </a:xfrm>
          <a:prstGeom prst="rect">
            <a:avLst/>
          </a:prstGeom>
          <a:noFill/>
          <a:ln/>
        </p:spPr>
        <p:txBody>
          <a:bodyPr wrap="square" lIns="0" tIns="0" rIns="0" bIns="0" rtlCol="0" anchor="ctr"/>
          <a:lstStyle/>
          <a:p>
            <a:pPr algn="ctr" indent="0" marL="0">
              <a:buNone/>
            </a:pPr>
            <a:r>
              <a:rPr lang="en-US" sz="1600" b="1" dirty="0">
                <a:solidFill>
                  <a:srgbClr val="5C6B7F"/>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810866" y="1371600"/>
            <a:ext cx="2061058" cy="566928"/>
          </a:xfrm>
          <a:prstGeom prst="roundRect">
            <a:avLst>
              <a:gd name="adj" fmla="val 9677"/>
            </a:avLst>
          </a:prstGeom>
          <a:solidFill>
            <a:srgbClr val="E7EEF7"/>
          </a:solidFill>
          <a:ln w="12700">
            <a:solidFill>
              <a:srgbClr val="E7EEF7"/>
            </a:solidFill>
            <a:prstDash val="solid"/>
          </a:ln>
        </p:spPr>
      </p:sp>
      <p:sp>
        <p:nvSpPr>
          <p:cNvPr id="8" name="Text 6"/>
          <p:cNvSpPr txBox="1"/>
          <p:nvPr/>
        </p:nvSpPr>
        <p:spPr>
          <a:xfrm>
            <a:off x="2865730" y="1371600"/>
            <a:ext cx="1951330" cy="566928"/>
          </a:xfrm>
          <a:prstGeom prst="rect">
            <a:avLst/>
          </a:prstGeom>
          <a:noFill/>
          <a:ln/>
        </p:spPr>
        <p:txBody>
          <a:bodyPr wrap="square" lIns="0" tIns="0" rIns="0" bIns="0" rtlCol="0" anchor="ctr"/>
          <a:lstStyle/>
          <a:p>
            <a:pPr algn="ctr" indent="0" marL="0">
              <a:buNone/>
            </a:pPr>
            <a:r>
              <a:rPr lang="en-US" sz="1100" b="1" dirty="0">
                <a:solidFill>
                  <a:srgbClr val="1B5FA8"/>
                </a:solidFill>
                <a:latin typeface="Calibri" pitchFamily="34" charset="0"/>
                <a:ea typeface="Calibri" pitchFamily="34" charset="-122"/>
                <a:cs typeface="Calibri" pitchFamily="34" charset="-120"/>
              </a:rPr>
              <a:t>Mean imputation</a:t>
            </a:r>
            <a:endParaRPr lang="en-US" sz="1100" dirty="0"/>
          </a:p>
        </p:txBody>
      </p:sp>
      <p:sp>
        <p:nvSpPr>
          <p:cNvPr id="9" name="Text 7"/>
          <p:cNvSpPr txBox="1"/>
          <p:nvPr/>
        </p:nvSpPr>
        <p:spPr>
          <a:xfrm>
            <a:off x="4871923" y="1371600"/>
            <a:ext cx="201168" cy="566928"/>
          </a:xfrm>
          <a:prstGeom prst="rect">
            <a:avLst/>
          </a:prstGeom>
          <a:noFill/>
          <a:ln/>
        </p:spPr>
        <p:txBody>
          <a:bodyPr wrap="square" lIns="0" tIns="0" rIns="0" bIns="0" rtlCol="0" anchor="ctr"/>
          <a:lstStyle/>
          <a:p>
            <a:pPr algn="ctr" indent="0" marL="0">
              <a:buNone/>
            </a:pPr>
            <a:r>
              <a:rPr lang="en-US" sz="1600" b="1" dirty="0">
                <a:solidFill>
                  <a:srgbClr val="5C6B7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5073091" y="1371600"/>
            <a:ext cx="2061058" cy="566928"/>
          </a:xfrm>
          <a:prstGeom prst="roundRect">
            <a:avLst>
              <a:gd name="adj" fmla="val 9677"/>
            </a:avLst>
          </a:prstGeom>
          <a:solidFill>
            <a:srgbClr val="E7EEF7"/>
          </a:solidFill>
          <a:ln w="12700">
            <a:solidFill>
              <a:srgbClr val="E7EEF7"/>
            </a:solidFill>
            <a:prstDash val="solid"/>
          </a:ln>
        </p:spPr>
      </p:sp>
      <p:sp>
        <p:nvSpPr>
          <p:cNvPr id="11" name="Text 9"/>
          <p:cNvSpPr txBox="1"/>
          <p:nvPr/>
        </p:nvSpPr>
        <p:spPr>
          <a:xfrm>
            <a:off x="5127955" y="1371600"/>
            <a:ext cx="1951330" cy="566928"/>
          </a:xfrm>
          <a:prstGeom prst="rect">
            <a:avLst/>
          </a:prstGeom>
          <a:noFill/>
          <a:ln/>
        </p:spPr>
        <p:txBody>
          <a:bodyPr wrap="square" lIns="0" tIns="0" rIns="0" bIns="0" rtlCol="0" anchor="ctr"/>
          <a:lstStyle/>
          <a:p>
            <a:pPr algn="ctr" indent="0" marL="0">
              <a:buNone/>
            </a:pPr>
            <a:r>
              <a:rPr lang="en-US" sz="1100" b="1" dirty="0">
                <a:solidFill>
                  <a:srgbClr val="1B5FA8"/>
                </a:solidFill>
                <a:latin typeface="Calibri" pitchFamily="34" charset="0"/>
                <a:ea typeface="Calibri" pitchFamily="34" charset="-122"/>
                <a:cs typeface="Calibri" pitchFamily="34" charset="-120"/>
              </a:rPr>
              <a:t>Standardization</a:t>
            </a:r>
            <a:endParaRPr lang="en-US" sz="1100" dirty="0"/>
          </a:p>
        </p:txBody>
      </p:sp>
      <p:sp>
        <p:nvSpPr>
          <p:cNvPr id="12" name="Text 10"/>
          <p:cNvSpPr txBox="1"/>
          <p:nvPr/>
        </p:nvSpPr>
        <p:spPr>
          <a:xfrm>
            <a:off x="7134149" y="1371600"/>
            <a:ext cx="201168" cy="566928"/>
          </a:xfrm>
          <a:prstGeom prst="rect">
            <a:avLst/>
          </a:prstGeom>
          <a:noFill/>
          <a:ln/>
        </p:spPr>
        <p:txBody>
          <a:bodyPr wrap="square" lIns="0" tIns="0" rIns="0" bIns="0" rtlCol="0" anchor="ctr"/>
          <a:lstStyle/>
          <a:p>
            <a:pPr algn="ctr" indent="0" marL="0">
              <a:buNone/>
            </a:pPr>
            <a:r>
              <a:rPr lang="en-US" sz="1600" b="1" dirty="0">
                <a:solidFill>
                  <a:srgbClr val="5C6B7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7335317" y="1371600"/>
            <a:ext cx="2061058" cy="566928"/>
          </a:xfrm>
          <a:prstGeom prst="roundRect">
            <a:avLst>
              <a:gd name="adj" fmla="val 9677"/>
            </a:avLst>
          </a:prstGeom>
          <a:solidFill>
            <a:srgbClr val="E7EEF7"/>
          </a:solidFill>
          <a:ln w="12700">
            <a:solidFill>
              <a:srgbClr val="E7EEF7"/>
            </a:solidFill>
            <a:prstDash val="solid"/>
          </a:ln>
        </p:spPr>
      </p:sp>
      <p:sp>
        <p:nvSpPr>
          <p:cNvPr id="14" name="Text 12"/>
          <p:cNvSpPr txBox="1"/>
          <p:nvPr/>
        </p:nvSpPr>
        <p:spPr>
          <a:xfrm>
            <a:off x="7390181" y="1371600"/>
            <a:ext cx="1951330" cy="566928"/>
          </a:xfrm>
          <a:prstGeom prst="rect">
            <a:avLst/>
          </a:prstGeom>
          <a:noFill/>
          <a:ln/>
        </p:spPr>
        <p:txBody>
          <a:bodyPr wrap="square" lIns="0" tIns="0" rIns="0" bIns="0" rtlCol="0" anchor="ctr"/>
          <a:lstStyle/>
          <a:p>
            <a:pPr algn="ctr" indent="0" marL="0">
              <a:buNone/>
            </a:pPr>
            <a:r>
              <a:rPr lang="en-US" sz="1100" b="1" dirty="0">
                <a:solidFill>
                  <a:srgbClr val="1B5FA8"/>
                </a:solidFill>
                <a:latin typeface="Calibri" pitchFamily="34" charset="0"/>
                <a:ea typeface="Calibri" pitchFamily="34" charset="-122"/>
                <a:cs typeface="Calibri" pitchFamily="34" charset="-120"/>
              </a:rPr>
              <a:t>Logistic regression</a:t>
            </a:r>
            <a:endParaRPr lang="en-US" sz="1100" dirty="0"/>
          </a:p>
        </p:txBody>
      </p:sp>
      <p:sp>
        <p:nvSpPr>
          <p:cNvPr id="15" name="Text 13"/>
          <p:cNvSpPr txBox="1"/>
          <p:nvPr/>
        </p:nvSpPr>
        <p:spPr>
          <a:xfrm>
            <a:off x="9396374" y="1371600"/>
            <a:ext cx="201168" cy="566928"/>
          </a:xfrm>
          <a:prstGeom prst="rect">
            <a:avLst/>
          </a:prstGeom>
          <a:noFill/>
          <a:ln/>
        </p:spPr>
        <p:txBody>
          <a:bodyPr wrap="square" lIns="0" tIns="0" rIns="0" bIns="0" rtlCol="0" anchor="ctr"/>
          <a:lstStyle/>
          <a:p>
            <a:pPr algn="ctr" indent="0" marL="0">
              <a:buNone/>
            </a:pPr>
            <a:r>
              <a:rPr lang="en-US" sz="1600" b="1" dirty="0">
                <a:solidFill>
                  <a:srgbClr val="5C6B7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9597542" y="1371600"/>
            <a:ext cx="2061058" cy="566928"/>
          </a:xfrm>
          <a:prstGeom prst="roundRect">
            <a:avLst>
              <a:gd name="adj" fmla="val 9677"/>
            </a:avLst>
          </a:prstGeom>
          <a:solidFill>
            <a:srgbClr val="E7EEF7"/>
          </a:solidFill>
          <a:ln w="12700">
            <a:solidFill>
              <a:srgbClr val="E7EEF7"/>
            </a:solidFill>
            <a:prstDash val="solid"/>
          </a:ln>
        </p:spPr>
      </p:sp>
      <p:sp>
        <p:nvSpPr>
          <p:cNvPr id="17" name="Text 15"/>
          <p:cNvSpPr txBox="1"/>
          <p:nvPr/>
        </p:nvSpPr>
        <p:spPr>
          <a:xfrm>
            <a:off x="9652406" y="1371600"/>
            <a:ext cx="1951330" cy="566928"/>
          </a:xfrm>
          <a:prstGeom prst="rect">
            <a:avLst/>
          </a:prstGeom>
          <a:noFill/>
          <a:ln/>
        </p:spPr>
        <p:txBody>
          <a:bodyPr wrap="square" lIns="0" tIns="0" rIns="0" bIns="0" rtlCol="0" anchor="ctr"/>
          <a:lstStyle/>
          <a:p>
            <a:pPr algn="ctr" indent="0" marL="0">
              <a:buNone/>
            </a:pPr>
            <a:r>
              <a:rPr lang="en-US" sz="1100" b="1" dirty="0">
                <a:solidFill>
                  <a:srgbClr val="1B5FA8"/>
                </a:solidFill>
                <a:latin typeface="Calibri" pitchFamily="34" charset="0"/>
                <a:ea typeface="Calibri" pitchFamily="34" charset="-122"/>
                <a:cs typeface="Calibri" pitchFamily="34" charset="-120"/>
              </a:rPr>
              <a:t>score = P(at risk)</a:t>
            </a:r>
            <a:endParaRPr lang="en-US" sz="1100" dirty="0"/>
          </a:p>
        </p:txBody>
      </p:sp>
      <p:sp>
        <p:nvSpPr>
          <p:cNvPr id="18" name="Shape 16"/>
          <p:cNvSpPr/>
          <p:nvPr/>
        </p:nvSpPr>
        <p:spPr>
          <a:xfrm>
            <a:off x="548640" y="2148840"/>
            <a:ext cx="3520440" cy="2606040"/>
          </a:xfrm>
          <a:prstGeom prst="roundRect">
            <a:avLst>
              <a:gd name="adj" fmla="val 2807"/>
            </a:avLst>
          </a:prstGeom>
          <a:solidFill>
            <a:srgbClr val="F2F5FA"/>
          </a:solidFill>
          <a:ln w="12700">
            <a:solidFill>
              <a:srgbClr val="F2F5FA"/>
            </a:solidFill>
            <a:prstDash val="solid"/>
          </a:ln>
        </p:spPr>
      </p:sp>
      <p:sp>
        <p:nvSpPr>
          <p:cNvPr id="19" name="Text 17"/>
          <p:cNvSpPr txBox="1"/>
          <p:nvPr/>
        </p:nvSpPr>
        <p:spPr>
          <a:xfrm>
            <a:off x="777240" y="2286000"/>
            <a:ext cx="3108960" cy="274320"/>
          </a:xfrm>
          <a:prstGeom prst="rect">
            <a:avLst/>
          </a:prstGeom>
          <a:noFill/>
          <a:ln/>
        </p:spPr>
        <p:txBody>
          <a:bodyPr wrap="square" lIns="0" tIns="0" rIns="0" bIns="0" rtlCol="0" anchor="ctr"/>
          <a:lstStyle/>
          <a:p>
            <a:pPr indent="0" marL="0">
              <a:buNone/>
            </a:pPr>
            <a:r>
              <a:rPr lang="en-US" sz="1450" b="1" dirty="0">
                <a:solidFill>
                  <a:srgbClr val="1B5FA8"/>
                </a:solidFill>
                <a:latin typeface="Calibri" pitchFamily="34" charset="0"/>
                <a:ea typeface="Calibri" pitchFamily="34" charset="-122"/>
                <a:cs typeface="Calibri" pitchFamily="34" charset="-120"/>
              </a:rPr>
              <a:t>What goes in</a:t>
            </a:r>
            <a:endParaRPr lang="en-US" sz="1450" dirty="0"/>
          </a:p>
        </p:txBody>
      </p:sp>
      <p:sp>
        <p:nvSpPr>
          <p:cNvPr id="20" name="Text 18"/>
          <p:cNvSpPr txBox="1"/>
          <p:nvPr/>
        </p:nvSpPr>
        <p:spPr>
          <a:xfrm>
            <a:off x="777240" y="2651760"/>
            <a:ext cx="3063240" cy="192024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6202E"/>
                </a:solidFill>
                <a:latin typeface="Calibri" pitchFamily="34" charset="0"/>
                <a:ea typeface="Calibri" pitchFamily="34" charset="-122"/>
                <a:cs typeface="Calibri" pitchFamily="34" charset="-120"/>
              </a:rPr>
              <a:t>Demographics: Age, Sex, Education, SES</a:t>
            </a:r>
            <a:endParaRPr lang="en-US" sz="1150" dirty="0"/>
          </a:p>
          <a:p>
            <a:pPr marL="342900" indent="-342900">
              <a:spcAft>
                <a:spcPts val="800"/>
              </a:spcAft>
              <a:buSzPct val="100000"/>
              <a:buChar char="•"/>
            </a:pPr>
            <a:r>
              <a:rPr lang="en-US" sz="1150" dirty="0">
                <a:solidFill>
                  <a:srgbClr val="16202E"/>
                </a:solidFill>
                <a:latin typeface="Calibri" pitchFamily="34" charset="0"/>
                <a:ea typeface="Calibri" pitchFamily="34" charset="-122"/>
                <a:cs typeface="Calibri" pitchFamily="34" charset="-120"/>
              </a:rPr>
              <a:t>Cognitive: MMSE</a:t>
            </a:r>
            <a:endParaRPr lang="en-US" sz="1150" dirty="0"/>
          </a:p>
          <a:p>
            <a:pPr marL="342900" indent="-342900">
              <a:spcAft>
                <a:spcPts val="800"/>
              </a:spcAft>
              <a:buSzPct val="100000"/>
              <a:buChar char="•"/>
            </a:pPr>
            <a:r>
              <a:rPr lang="en-US" sz="1150" dirty="0">
                <a:solidFill>
                  <a:srgbClr val="16202E"/>
                </a:solidFill>
                <a:latin typeface="Calibri" pitchFamily="34" charset="0"/>
                <a:ea typeface="Calibri" pitchFamily="34" charset="-122"/>
                <a:cs typeface="Calibri" pitchFamily="34" charset="-120"/>
              </a:rPr>
              <a:t>Structural summaries: nWBV, eTIV, ASF</a:t>
            </a:r>
            <a:endParaRPr lang="en-US" sz="1150" dirty="0"/>
          </a:p>
          <a:p>
            <a:pPr marL="342900" indent="-342900">
              <a:spcAft>
                <a:spcPts val="800"/>
              </a:spcAft>
              <a:buSzPct val="100000"/>
              <a:buChar char="•"/>
            </a:pPr>
            <a:r>
              <a:rPr lang="en-US" sz="1150" dirty="0">
                <a:solidFill>
                  <a:srgbClr val="16202E"/>
                </a:solidFill>
                <a:latin typeface="Calibri" pitchFamily="34" charset="0"/>
                <a:ea typeface="Calibri" pitchFamily="34" charset="-122"/>
                <a:cs typeface="Calibri" pitchFamily="34" charset="-120"/>
              </a:rPr>
              <a:t>Visit history: Visit no., MR Delay</a:t>
            </a:r>
            <a:endParaRPr lang="en-US" sz="1150" dirty="0"/>
          </a:p>
        </p:txBody>
      </p:sp>
      <p:sp>
        <p:nvSpPr>
          <p:cNvPr id="21" name="Text 19"/>
          <p:cNvSpPr txBox="1"/>
          <p:nvPr/>
        </p:nvSpPr>
        <p:spPr>
          <a:xfrm>
            <a:off x="777240" y="4251960"/>
            <a:ext cx="3063240" cy="411480"/>
          </a:xfrm>
          <a:prstGeom prst="rect">
            <a:avLst/>
          </a:prstGeom>
          <a:noFill/>
          <a:ln/>
        </p:spPr>
        <p:txBody>
          <a:bodyPr wrap="square" lIns="0" tIns="0" rIns="0" bIns="0" rtlCol="0" anchor="ctr"/>
          <a:lstStyle/>
          <a:p>
            <a:pPr indent="0" marL="0">
              <a:buNone/>
            </a:pPr>
            <a:r>
              <a:rPr lang="en-US" sz="1050" i="1" dirty="0">
                <a:solidFill>
                  <a:srgbClr val="5C6B7F"/>
                </a:solidFill>
                <a:latin typeface="Calibri" pitchFamily="34" charset="0"/>
                <a:ea typeface="Calibri" pitchFamily="34" charset="-122"/>
                <a:cs typeface="Calibri" pitchFamily="34" charset="-120"/>
              </a:rPr>
              <a:t>The clinic already holds this data. The score needs no new test.</a:t>
            </a:r>
            <a:endParaRPr lang="en-US" sz="1050" dirty="0"/>
          </a:p>
        </p:txBody>
      </p:sp>
      <p:sp>
        <p:nvSpPr>
          <p:cNvPr id="22" name="Shape 20"/>
          <p:cNvSpPr/>
          <p:nvPr/>
        </p:nvSpPr>
        <p:spPr>
          <a:xfrm>
            <a:off x="4343400" y="2148840"/>
            <a:ext cx="3520440" cy="2606040"/>
          </a:xfrm>
          <a:prstGeom prst="roundRect">
            <a:avLst>
              <a:gd name="adj" fmla="val 2807"/>
            </a:avLst>
          </a:prstGeom>
          <a:solidFill>
            <a:srgbClr val="F2F5FA"/>
          </a:solidFill>
          <a:ln w="12700">
            <a:solidFill>
              <a:srgbClr val="F2F5FA"/>
            </a:solidFill>
            <a:prstDash val="solid"/>
          </a:ln>
        </p:spPr>
      </p:sp>
      <p:sp>
        <p:nvSpPr>
          <p:cNvPr id="23" name="Text 21"/>
          <p:cNvSpPr txBox="1"/>
          <p:nvPr/>
        </p:nvSpPr>
        <p:spPr>
          <a:xfrm>
            <a:off x="4572000" y="2286000"/>
            <a:ext cx="3108960" cy="274320"/>
          </a:xfrm>
          <a:prstGeom prst="rect">
            <a:avLst/>
          </a:prstGeom>
          <a:noFill/>
          <a:ln/>
        </p:spPr>
        <p:txBody>
          <a:bodyPr wrap="square" lIns="0" tIns="0" rIns="0" bIns="0" rtlCol="0" anchor="ctr"/>
          <a:lstStyle/>
          <a:p>
            <a:pPr indent="0" marL="0">
              <a:buNone/>
            </a:pPr>
            <a:r>
              <a:rPr lang="en-US" sz="1450" b="1" dirty="0">
                <a:solidFill>
                  <a:srgbClr val="1B5FA8"/>
                </a:solidFill>
                <a:latin typeface="Calibri" pitchFamily="34" charset="0"/>
                <a:ea typeface="Calibri" pitchFamily="34" charset="-122"/>
                <a:cs typeface="Calibri" pitchFamily="34" charset="-120"/>
              </a:rPr>
              <a:t>Why logistic regression</a:t>
            </a:r>
            <a:endParaRPr lang="en-US" sz="1450" dirty="0"/>
          </a:p>
        </p:txBody>
      </p:sp>
      <p:sp>
        <p:nvSpPr>
          <p:cNvPr id="24" name="Text 22"/>
          <p:cNvSpPr txBox="1"/>
          <p:nvPr/>
        </p:nvSpPr>
        <p:spPr>
          <a:xfrm>
            <a:off x="4572000" y="2651760"/>
            <a:ext cx="3063240" cy="20116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6202E"/>
                </a:solidFill>
                <a:latin typeface="Calibri" pitchFamily="34" charset="0"/>
                <a:ea typeface="Calibri" pitchFamily="34" charset="-122"/>
                <a:cs typeface="Calibri" pitchFamily="34" charset="-120"/>
              </a:rPr>
              <a:t>The coefficients are the explanation. No surrogate model stands between the score and its reason.</a:t>
            </a:r>
            <a:endParaRPr lang="en-US" sz="1150" dirty="0"/>
          </a:p>
          <a:p>
            <a:pPr marL="342900" indent="-342900">
              <a:spcAft>
                <a:spcPts val="800"/>
              </a:spcAft>
              <a:buSzPct val="100000"/>
              <a:buChar char="•"/>
            </a:pPr>
            <a:r>
              <a:rPr lang="en-US" sz="1150" dirty="0">
                <a:solidFill>
                  <a:srgbClr val="16202E"/>
                </a:solidFill>
                <a:latin typeface="Calibri" pitchFamily="34" charset="0"/>
                <a:ea typeface="Calibri" pitchFamily="34" charset="-122"/>
                <a:cs typeface="Calibri" pitchFamily="34" charset="-120"/>
              </a:rPr>
              <a:t>The model is monotone and open to inspection. A reviewer can read it, version it and certify it.</a:t>
            </a:r>
            <a:endParaRPr lang="en-US" sz="1150" dirty="0"/>
          </a:p>
          <a:p>
            <a:pPr marL="342900" indent="-342900">
              <a:spcAft>
                <a:spcPts val="800"/>
              </a:spcAft>
              <a:buSzPct val="100000"/>
              <a:buChar char="•"/>
            </a:pPr>
            <a:r>
              <a:rPr lang="en-US" sz="1150" dirty="0">
                <a:solidFill>
                  <a:srgbClr val="16202E"/>
                </a:solidFill>
                <a:latin typeface="Calibri" pitchFamily="34" charset="0"/>
                <a:ea typeface="Calibri" pitchFamily="34" charset="-122"/>
                <a:cs typeface="Calibri" pitchFamily="34" charset="-120"/>
              </a:rPr>
              <a:t>A gradient-boosted model gives a small accuracy increase on 82 rows. It also removes the audit path.</a:t>
            </a:r>
            <a:endParaRPr lang="en-US" sz="1150" dirty="0"/>
          </a:p>
        </p:txBody>
      </p:sp>
      <p:sp>
        <p:nvSpPr>
          <p:cNvPr id="25" name="Shape 23"/>
          <p:cNvSpPr/>
          <p:nvPr/>
        </p:nvSpPr>
        <p:spPr>
          <a:xfrm>
            <a:off x="8138160" y="2148840"/>
            <a:ext cx="3520440" cy="2606040"/>
          </a:xfrm>
          <a:prstGeom prst="roundRect">
            <a:avLst>
              <a:gd name="adj" fmla="val 2807"/>
            </a:avLst>
          </a:prstGeom>
          <a:solidFill>
            <a:srgbClr val="F2F5FA"/>
          </a:solidFill>
          <a:ln w="12700">
            <a:solidFill>
              <a:srgbClr val="F2F5FA"/>
            </a:solidFill>
            <a:prstDash val="solid"/>
          </a:ln>
        </p:spPr>
      </p:sp>
      <p:sp>
        <p:nvSpPr>
          <p:cNvPr id="26" name="Text 24"/>
          <p:cNvSpPr txBox="1"/>
          <p:nvPr/>
        </p:nvSpPr>
        <p:spPr>
          <a:xfrm>
            <a:off x="8366760" y="2286000"/>
            <a:ext cx="3108960" cy="274320"/>
          </a:xfrm>
          <a:prstGeom prst="rect">
            <a:avLst/>
          </a:prstGeom>
          <a:noFill/>
          <a:ln/>
        </p:spPr>
        <p:txBody>
          <a:bodyPr wrap="square" lIns="0" tIns="0" rIns="0" bIns="0" rtlCol="0" anchor="ctr"/>
          <a:lstStyle/>
          <a:p>
            <a:pPr indent="0" marL="0">
              <a:buNone/>
            </a:pPr>
            <a:r>
              <a:rPr lang="en-US" sz="1450" b="1" dirty="0">
                <a:solidFill>
                  <a:srgbClr val="1B5FA8"/>
                </a:solidFill>
                <a:latin typeface="Calibri" pitchFamily="34" charset="0"/>
                <a:ea typeface="Calibri" pitchFamily="34" charset="-122"/>
                <a:cs typeface="Calibri" pitchFamily="34" charset="-120"/>
              </a:rPr>
              <a:t>What comes out</a:t>
            </a:r>
            <a:endParaRPr lang="en-US" sz="1450" dirty="0"/>
          </a:p>
        </p:txBody>
      </p:sp>
      <p:sp>
        <p:nvSpPr>
          <p:cNvPr id="27" name="Text 25"/>
          <p:cNvSpPr txBox="1"/>
          <p:nvPr/>
        </p:nvSpPr>
        <p:spPr>
          <a:xfrm>
            <a:off x="8366760" y="2651760"/>
            <a:ext cx="3063240" cy="20116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6202E"/>
                </a:solidFill>
                <a:latin typeface="Calibri" pitchFamily="34" charset="0"/>
                <a:ea typeface="Calibri" pitchFamily="34" charset="-122"/>
                <a:cs typeface="Calibri" pitchFamily="34" charset="-120"/>
              </a:rPr>
              <a:t>score — the calibrated probability of risk, from the positive class</a:t>
            </a:r>
            <a:endParaRPr lang="en-US" sz="1150" dirty="0"/>
          </a:p>
          <a:p>
            <a:pPr marL="342900" indent="-342900">
              <a:spcAft>
                <a:spcPts val="800"/>
              </a:spcAft>
              <a:buSzPct val="100000"/>
              <a:buChar char="•"/>
            </a:pPr>
            <a:r>
              <a:rPr lang="en-US" sz="1150" dirty="0">
                <a:solidFill>
                  <a:srgbClr val="16202E"/>
                </a:solidFill>
                <a:latin typeface="Calibri" pitchFamily="34" charset="0"/>
                <a:ea typeface="Calibri" pitchFamily="34" charset="-122"/>
                <a:cs typeface="Calibri" pitchFamily="34" charset="-120"/>
              </a:rPr>
              <a:t>label — the severity band, Normal or At-risk</a:t>
            </a:r>
            <a:endParaRPr lang="en-US" sz="1150" dirty="0"/>
          </a:p>
          <a:p>
            <a:pPr marL="342900" indent="-342900">
              <a:spcAft>
                <a:spcPts val="800"/>
              </a:spcAft>
              <a:buSzPct val="100000"/>
              <a:buChar char="•"/>
            </a:pPr>
            <a:r>
              <a:rPr lang="en-US" sz="1150" dirty="0">
                <a:solidFill>
                  <a:srgbClr val="16202E"/>
                </a:solidFill>
                <a:latin typeface="Calibri" pitchFamily="34" charset="0"/>
                <a:ea typeface="Calibri" pitchFamily="34" charset="-122"/>
                <a:cs typeface="Calibri" pitchFamily="34" charset="-120"/>
              </a:rPr>
              <a:t>drivers — top_drivers() ranks coefficient × standardized value. The app shows each driver as “raises risk” or “lowers risk”.</a:t>
            </a:r>
            <a:endParaRPr lang="en-US" sz="1150" dirty="0"/>
          </a:p>
        </p:txBody>
      </p:sp>
      <p:sp>
        <p:nvSpPr>
          <p:cNvPr id="28" name="Shape 26"/>
          <p:cNvSpPr/>
          <p:nvPr/>
        </p:nvSpPr>
        <p:spPr>
          <a:xfrm>
            <a:off x="548640" y="4983480"/>
            <a:ext cx="11109960" cy="960120"/>
          </a:xfrm>
          <a:prstGeom prst="roundRect">
            <a:avLst>
              <a:gd name="adj" fmla="val 5714"/>
            </a:avLst>
          </a:prstGeom>
          <a:solidFill>
            <a:srgbClr val="0E1B2E"/>
          </a:solidFill>
          <a:ln w="12700">
            <a:solidFill>
              <a:srgbClr val="0E1B2E"/>
            </a:solidFill>
            <a:prstDash val="solid"/>
          </a:ln>
        </p:spPr>
      </p:sp>
      <p:sp>
        <p:nvSpPr>
          <p:cNvPr id="29" name="Text 27"/>
          <p:cNvSpPr txBox="1"/>
          <p:nvPr/>
        </p:nvSpPr>
        <p:spPr>
          <a:xfrm>
            <a:off x="822960" y="5102352"/>
            <a:ext cx="2743200" cy="274320"/>
          </a:xfrm>
          <a:prstGeom prst="rect">
            <a:avLst/>
          </a:prstGeom>
          <a:noFill/>
          <a:ln/>
        </p:spPr>
        <p:txBody>
          <a:bodyPr wrap="square" lIns="0" tIns="0" rIns="0" bIns="0" rtlCol="0" anchor="ctr"/>
          <a:lstStyle/>
          <a:p>
            <a:pPr indent="0" marL="0">
              <a:buNone/>
            </a:pPr>
            <a:r>
              <a:rPr lang="en-US" sz="1200" b="1" dirty="0">
                <a:solidFill>
                  <a:srgbClr val="2E9BD6"/>
                </a:solidFill>
                <a:latin typeface="Calibri" pitchFamily="34" charset="0"/>
                <a:ea typeface="Calibri" pitchFamily="34" charset="-122"/>
                <a:cs typeface="Calibri" pitchFamily="34" charset="-120"/>
              </a:rPr>
              <a:t>One integration seam</a:t>
            </a:r>
            <a:endParaRPr lang="en-US" sz="1200" dirty="0"/>
          </a:p>
        </p:txBody>
      </p:sp>
      <p:sp>
        <p:nvSpPr>
          <p:cNvPr id="30" name="Text 28"/>
          <p:cNvSpPr txBox="1"/>
          <p:nvPr/>
        </p:nvSpPr>
        <p:spPr>
          <a:xfrm>
            <a:off x="822960" y="5394960"/>
            <a:ext cx="10607040" cy="411480"/>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predict({"Age": 75, "EDUC": 12, "SES": 3, "MMSE": 27, "nWBV": 0.75, ...})  →  {"score": 0.12, "label": "Normal", "drivers": […]}</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01752"/>
            <a:ext cx="8229600" cy="237744"/>
          </a:xfrm>
          <a:prstGeom prst="rect">
            <a:avLst/>
          </a:prstGeom>
          <a:noFill/>
          <a:ln/>
        </p:spPr>
        <p:txBody>
          <a:bodyPr wrap="square" lIns="0" tIns="0" rIns="0" bIns="0" rtlCol="0" anchor="ctr"/>
          <a:lstStyle/>
          <a:p>
            <a:pPr indent="0" marL="0">
              <a:buNone/>
            </a:pPr>
            <a:r>
              <a:rPr lang="en-US" sz="1100" b="1" spc="200" kern="0" dirty="0">
                <a:solidFill>
                  <a:srgbClr val="2E9BD6"/>
                </a:solidFill>
                <a:latin typeface="Calibri" pitchFamily="34" charset="0"/>
                <a:ea typeface="Calibri" pitchFamily="34" charset="-122"/>
                <a:cs typeface="Calibri" pitchFamily="34" charset="-120"/>
              </a:rPr>
              <a:t>MECHANISM 2 OF 3</a:t>
            </a:r>
            <a:endParaRPr lang="en-US" sz="1100" dirty="0"/>
          </a:p>
        </p:txBody>
      </p:sp>
      <p:sp>
        <p:nvSpPr>
          <p:cNvPr id="3" name="Text 1"/>
          <p:cNvSpPr txBox="1"/>
          <p:nvPr/>
        </p:nvSpPr>
        <p:spPr>
          <a:xfrm>
            <a:off x="548640" y="548640"/>
            <a:ext cx="10241280" cy="685800"/>
          </a:xfrm>
          <a:prstGeom prst="rect">
            <a:avLst/>
          </a:prstGeom>
          <a:noFill/>
          <a:ln/>
        </p:spPr>
        <p:txBody>
          <a:bodyPr wrap="square" lIns="0" tIns="0" rIns="0" bIns="0" rtlCol="0" anchor="t"/>
          <a:lstStyle/>
          <a:p>
            <a:pPr indent="0" marL="0">
              <a:buNone/>
            </a:pPr>
            <a:r>
              <a:rPr lang="en-US" sz="3000" b="1" dirty="0">
                <a:solidFill>
                  <a:srgbClr val="16202E"/>
                </a:solidFill>
                <a:latin typeface="Calibri" pitchFamily="34" charset="0"/>
                <a:ea typeface="Calibri" pitchFamily="34" charset="-122"/>
                <a:cs typeface="Calibri" pitchFamily="34" charset="-120"/>
              </a:rPr>
              <a:t>MRI severity model — a second opinion you can examine</a:t>
            </a:r>
            <a:endParaRPr lang="en-US" sz="3000" dirty="0"/>
          </a:p>
        </p:txBody>
      </p:sp>
      <p:sp>
        <p:nvSpPr>
          <p:cNvPr id="4" name="Shape 2"/>
          <p:cNvSpPr/>
          <p:nvPr/>
        </p:nvSpPr>
        <p:spPr>
          <a:xfrm>
            <a:off x="548640" y="1371600"/>
            <a:ext cx="2626614" cy="566928"/>
          </a:xfrm>
          <a:prstGeom prst="roundRect">
            <a:avLst>
              <a:gd name="adj" fmla="val 9677"/>
            </a:avLst>
          </a:prstGeom>
          <a:solidFill>
            <a:srgbClr val="E7EEF7"/>
          </a:solidFill>
          <a:ln w="12700">
            <a:solidFill>
              <a:srgbClr val="E7EEF7"/>
            </a:solidFill>
            <a:prstDash val="solid"/>
          </a:ln>
        </p:spPr>
      </p:sp>
      <p:sp>
        <p:nvSpPr>
          <p:cNvPr id="5" name="Text 3"/>
          <p:cNvSpPr txBox="1"/>
          <p:nvPr/>
        </p:nvSpPr>
        <p:spPr>
          <a:xfrm>
            <a:off x="603504" y="1371600"/>
            <a:ext cx="2516886" cy="566928"/>
          </a:xfrm>
          <a:prstGeom prst="rect">
            <a:avLst/>
          </a:prstGeom>
          <a:noFill/>
          <a:ln/>
        </p:spPr>
        <p:txBody>
          <a:bodyPr wrap="square" lIns="0" tIns="0" rIns="0" bIns="0" rtlCol="0" anchor="ctr"/>
          <a:lstStyle/>
          <a:p>
            <a:pPr algn="ctr" indent="0" marL="0">
              <a:buNone/>
            </a:pPr>
            <a:r>
              <a:rPr lang="en-US" sz="1050" b="1" dirty="0">
                <a:solidFill>
                  <a:srgbClr val="1B5FA8"/>
                </a:solidFill>
                <a:latin typeface="Calibri" pitchFamily="34" charset="0"/>
                <a:ea typeface="Calibri" pitchFamily="34" charset="-122"/>
                <a:cs typeface="Calibri" pitchFamily="34" charset="-120"/>
              </a:rPr>
              <a:t>Brain slice / volume</a:t>
            </a:r>
            <a:endParaRPr lang="en-US" sz="1050" dirty="0"/>
          </a:p>
        </p:txBody>
      </p:sp>
      <p:sp>
        <p:nvSpPr>
          <p:cNvPr id="6" name="Text 4"/>
          <p:cNvSpPr txBox="1"/>
          <p:nvPr/>
        </p:nvSpPr>
        <p:spPr>
          <a:xfrm>
            <a:off x="3175254" y="1371600"/>
            <a:ext cx="201168" cy="566928"/>
          </a:xfrm>
          <a:prstGeom prst="rect">
            <a:avLst/>
          </a:prstGeom>
          <a:noFill/>
          <a:ln/>
        </p:spPr>
        <p:txBody>
          <a:bodyPr wrap="square" lIns="0" tIns="0" rIns="0" bIns="0" rtlCol="0" anchor="ctr"/>
          <a:lstStyle/>
          <a:p>
            <a:pPr algn="ctr" indent="0" marL="0">
              <a:buNone/>
            </a:pPr>
            <a:r>
              <a:rPr lang="en-US" sz="1600" b="1" dirty="0">
                <a:solidFill>
                  <a:srgbClr val="5C6B7F"/>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3376422" y="1371600"/>
            <a:ext cx="2626614" cy="566928"/>
          </a:xfrm>
          <a:prstGeom prst="roundRect">
            <a:avLst>
              <a:gd name="adj" fmla="val 9677"/>
            </a:avLst>
          </a:prstGeom>
          <a:solidFill>
            <a:srgbClr val="E7EEF7"/>
          </a:solidFill>
          <a:ln w="12700">
            <a:solidFill>
              <a:srgbClr val="E7EEF7"/>
            </a:solidFill>
            <a:prstDash val="solid"/>
          </a:ln>
        </p:spPr>
      </p:sp>
      <p:sp>
        <p:nvSpPr>
          <p:cNvPr id="8" name="Text 6"/>
          <p:cNvSpPr txBox="1"/>
          <p:nvPr/>
        </p:nvSpPr>
        <p:spPr>
          <a:xfrm>
            <a:off x="3431286" y="1371600"/>
            <a:ext cx="2516886" cy="566928"/>
          </a:xfrm>
          <a:prstGeom prst="rect">
            <a:avLst/>
          </a:prstGeom>
          <a:noFill/>
          <a:ln/>
        </p:spPr>
        <p:txBody>
          <a:bodyPr wrap="square" lIns="0" tIns="0" rIns="0" bIns="0" rtlCol="0" anchor="ctr"/>
          <a:lstStyle/>
          <a:p>
            <a:pPr algn="ctr" indent="0" marL="0">
              <a:buNone/>
            </a:pPr>
            <a:r>
              <a:rPr lang="en-US" sz="1050" b="1" dirty="0">
                <a:solidFill>
                  <a:srgbClr val="1B5FA8"/>
                </a:solidFill>
                <a:latin typeface="Calibri" pitchFamily="34" charset="0"/>
                <a:ea typeface="Calibri" pitchFamily="34" charset="-122"/>
                <a:cs typeface="Calibri" pitchFamily="34" charset="-120"/>
              </a:rPr>
              <a:t>ResNet18 (frozen backbone, retrained head)</a:t>
            </a:r>
            <a:endParaRPr lang="en-US" sz="1050" dirty="0"/>
          </a:p>
        </p:txBody>
      </p:sp>
      <p:sp>
        <p:nvSpPr>
          <p:cNvPr id="9" name="Text 7"/>
          <p:cNvSpPr txBox="1"/>
          <p:nvPr/>
        </p:nvSpPr>
        <p:spPr>
          <a:xfrm>
            <a:off x="6003036" y="1371600"/>
            <a:ext cx="201168" cy="566928"/>
          </a:xfrm>
          <a:prstGeom prst="rect">
            <a:avLst/>
          </a:prstGeom>
          <a:noFill/>
          <a:ln/>
        </p:spPr>
        <p:txBody>
          <a:bodyPr wrap="square" lIns="0" tIns="0" rIns="0" bIns="0" rtlCol="0" anchor="ctr"/>
          <a:lstStyle/>
          <a:p>
            <a:pPr algn="ctr" indent="0" marL="0">
              <a:buNone/>
            </a:pPr>
            <a:r>
              <a:rPr lang="en-US" sz="1600" b="1" dirty="0">
                <a:solidFill>
                  <a:srgbClr val="5C6B7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6204204" y="1371600"/>
            <a:ext cx="2626614" cy="566928"/>
          </a:xfrm>
          <a:prstGeom prst="roundRect">
            <a:avLst>
              <a:gd name="adj" fmla="val 9677"/>
            </a:avLst>
          </a:prstGeom>
          <a:solidFill>
            <a:srgbClr val="E7EEF7"/>
          </a:solidFill>
          <a:ln w="12700">
            <a:solidFill>
              <a:srgbClr val="E7EEF7"/>
            </a:solidFill>
            <a:prstDash val="solid"/>
          </a:ln>
        </p:spPr>
      </p:sp>
      <p:sp>
        <p:nvSpPr>
          <p:cNvPr id="11" name="Text 9"/>
          <p:cNvSpPr txBox="1"/>
          <p:nvPr/>
        </p:nvSpPr>
        <p:spPr>
          <a:xfrm>
            <a:off x="6259068" y="1371600"/>
            <a:ext cx="2516886" cy="566928"/>
          </a:xfrm>
          <a:prstGeom prst="rect">
            <a:avLst/>
          </a:prstGeom>
          <a:noFill/>
          <a:ln/>
        </p:spPr>
        <p:txBody>
          <a:bodyPr wrap="square" lIns="0" tIns="0" rIns="0" bIns="0" rtlCol="0" anchor="ctr"/>
          <a:lstStyle/>
          <a:p>
            <a:pPr algn="ctr" indent="0" marL="0">
              <a:buNone/>
            </a:pPr>
            <a:r>
              <a:rPr lang="en-US" sz="1050" b="1" dirty="0">
                <a:solidFill>
                  <a:srgbClr val="1B5FA8"/>
                </a:solidFill>
                <a:latin typeface="Calibri" pitchFamily="34" charset="0"/>
                <a:ea typeface="Calibri" pitchFamily="34" charset="-122"/>
                <a:cs typeface="Calibri" pitchFamily="34" charset="-120"/>
              </a:rPr>
              <a:t>Softmax over severity</a:t>
            </a:r>
            <a:endParaRPr lang="en-US" sz="1050" dirty="0"/>
          </a:p>
        </p:txBody>
      </p:sp>
      <p:sp>
        <p:nvSpPr>
          <p:cNvPr id="12" name="Text 10"/>
          <p:cNvSpPr txBox="1"/>
          <p:nvPr/>
        </p:nvSpPr>
        <p:spPr>
          <a:xfrm>
            <a:off x="8830818" y="1371600"/>
            <a:ext cx="201168" cy="566928"/>
          </a:xfrm>
          <a:prstGeom prst="rect">
            <a:avLst/>
          </a:prstGeom>
          <a:noFill/>
          <a:ln/>
        </p:spPr>
        <p:txBody>
          <a:bodyPr wrap="square" lIns="0" tIns="0" rIns="0" bIns="0" rtlCol="0" anchor="ctr"/>
          <a:lstStyle/>
          <a:p>
            <a:pPr algn="ctr" indent="0" marL="0">
              <a:buNone/>
            </a:pPr>
            <a:r>
              <a:rPr lang="en-US" sz="1600" b="1" dirty="0">
                <a:solidFill>
                  <a:srgbClr val="5C6B7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9031986" y="1371600"/>
            <a:ext cx="2626614" cy="566928"/>
          </a:xfrm>
          <a:prstGeom prst="roundRect">
            <a:avLst>
              <a:gd name="adj" fmla="val 9677"/>
            </a:avLst>
          </a:prstGeom>
          <a:solidFill>
            <a:srgbClr val="E7EEF7"/>
          </a:solidFill>
          <a:ln w="12700">
            <a:solidFill>
              <a:srgbClr val="E7EEF7"/>
            </a:solidFill>
            <a:prstDash val="solid"/>
          </a:ln>
        </p:spPr>
      </p:sp>
      <p:sp>
        <p:nvSpPr>
          <p:cNvPr id="14" name="Text 12"/>
          <p:cNvSpPr txBox="1"/>
          <p:nvPr/>
        </p:nvSpPr>
        <p:spPr>
          <a:xfrm>
            <a:off x="9086850" y="1371600"/>
            <a:ext cx="2516886" cy="566928"/>
          </a:xfrm>
          <a:prstGeom prst="rect">
            <a:avLst/>
          </a:prstGeom>
          <a:noFill/>
          <a:ln/>
        </p:spPr>
        <p:txBody>
          <a:bodyPr wrap="square" lIns="0" tIns="0" rIns="0" bIns="0" rtlCol="0" anchor="ctr"/>
          <a:lstStyle/>
          <a:p>
            <a:pPr algn="ctr" indent="0" marL="0">
              <a:buNone/>
            </a:pPr>
            <a:r>
              <a:rPr lang="en-US" sz="1050" b="1" dirty="0">
                <a:solidFill>
                  <a:srgbClr val="1B5FA8"/>
                </a:solidFill>
                <a:latin typeface="Calibri" pitchFamily="34" charset="0"/>
                <a:ea typeface="Calibri" pitchFamily="34" charset="-122"/>
                <a:cs typeface="Calibri" pitchFamily="34" charset="-120"/>
              </a:rPr>
              <a:t>Grad-CAM attribution</a:t>
            </a:r>
            <a:endParaRPr lang="en-US" sz="1050" dirty="0"/>
          </a:p>
        </p:txBody>
      </p:sp>
      <p:sp>
        <p:nvSpPr>
          <p:cNvPr id="15" name="Shape 13"/>
          <p:cNvSpPr/>
          <p:nvPr/>
        </p:nvSpPr>
        <p:spPr>
          <a:xfrm>
            <a:off x="548640" y="2148840"/>
            <a:ext cx="3547872" cy="1828800"/>
          </a:xfrm>
          <a:prstGeom prst="roundRect">
            <a:avLst>
              <a:gd name="adj" fmla="val 4000"/>
            </a:avLst>
          </a:prstGeom>
          <a:solidFill>
            <a:srgbClr val="F2F5FA"/>
          </a:solidFill>
          <a:ln w="12700">
            <a:solidFill>
              <a:srgbClr val="F2F5FA"/>
            </a:solidFill>
            <a:prstDash val="solid"/>
          </a:ln>
        </p:spPr>
      </p:sp>
      <p:sp>
        <p:nvSpPr>
          <p:cNvPr id="16" name="Shape 14"/>
          <p:cNvSpPr/>
          <p:nvPr/>
        </p:nvSpPr>
        <p:spPr>
          <a:xfrm>
            <a:off x="777240" y="2286000"/>
            <a:ext cx="310896" cy="310896"/>
          </a:xfrm>
          <a:prstGeom prst="roundRect">
            <a:avLst>
              <a:gd name="adj" fmla="val 50000"/>
            </a:avLst>
          </a:prstGeom>
          <a:solidFill>
            <a:srgbClr val="1B5FA8"/>
          </a:solidFill>
          <a:ln w="12700">
            <a:solidFill>
              <a:srgbClr val="1B5FA8"/>
            </a:solidFill>
            <a:prstDash val="solid"/>
          </a:ln>
        </p:spPr>
      </p:sp>
      <p:sp>
        <p:nvSpPr>
          <p:cNvPr id="17" name="Text 15"/>
          <p:cNvSpPr txBox="1"/>
          <p:nvPr/>
        </p:nvSpPr>
        <p:spPr>
          <a:xfrm>
            <a:off x="777240" y="228600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6"/>
          <p:cNvSpPr txBox="1"/>
          <p:nvPr/>
        </p:nvSpPr>
        <p:spPr>
          <a:xfrm>
            <a:off x="1188720" y="2286000"/>
            <a:ext cx="2743200" cy="310896"/>
          </a:xfrm>
          <a:prstGeom prst="rect">
            <a:avLst/>
          </a:prstGeom>
          <a:noFill/>
          <a:ln/>
        </p:spPr>
        <p:txBody>
          <a:bodyPr wrap="square" lIns="0" tIns="0" rIns="0" bIns="0" rtlCol="0" anchor="ctr"/>
          <a:lstStyle/>
          <a:p>
            <a:pPr indent="0" marL="0">
              <a:buNone/>
            </a:pPr>
            <a:r>
              <a:rPr lang="en-US" sz="1450" b="1" dirty="0">
                <a:solidFill>
                  <a:srgbClr val="16202E"/>
                </a:solidFill>
                <a:latin typeface="Calibri" pitchFamily="34" charset="0"/>
                <a:ea typeface="Calibri" pitchFamily="34" charset="-122"/>
                <a:cs typeface="Calibri" pitchFamily="34" charset="-120"/>
              </a:rPr>
              <a:t>2D slice</a:t>
            </a:r>
            <a:endParaRPr lang="en-US" sz="1450" dirty="0"/>
          </a:p>
        </p:txBody>
      </p:sp>
      <p:sp>
        <p:nvSpPr>
          <p:cNvPr id="19" name="Text 17"/>
          <p:cNvSpPr txBox="1"/>
          <p:nvPr/>
        </p:nvSpPr>
        <p:spPr>
          <a:xfrm>
            <a:off x="777240" y="2697480"/>
            <a:ext cx="3108960" cy="1188720"/>
          </a:xfrm>
          <a:prstGeom prst="rect">
            <a:avLst/>
          </a:prstGeom>
          <a:noFill/>
          <a:ln/>
        </p:spPr>
        <p:txBody>
          <a:bodyPr wrap="square" lIns="0" tIns="0" rIns="0" bIns="0" rtlCol="0" anchor="t"/>
          <a:lstStyle/>
          <a:p>
            <a:pPr indent="0" marL="0">
              <a:lnSpc>
                <a:spcPct val="110000"/>
              </a:lnSpc>
              <a:buNone/>
            </a:pPr>
            <a:r>
              <a:rPr lang="en-US" sz="1150" dirty="0">
                <a:solidFill>
                  <a:srgbClr val="16202E"/>
                </a:solidFill>
                <a:latin typeface="Calibri" pitchFamily="34" charset="0"/>
                <a:ea typeface="Calibri" pitchFamily="34" charset="-122"/>
                <a:cs typeface="Calibri" pitchFamily="34" charset="-120"/>
              </a:rPr>
              <a:t>The model classifies one axial slice directly. The model was trained on these slices, and every MRI metric in this deck comes from this pathway.</a:t>
            </a:r>
            <a:endParaRPr lang="en-US" sz="1150" dirty="0"/>
          </a:p>
        </p:txBody>
      </p:sp>
      <p:sp>
        <p:nvSpPr>
          <p:cNvPr id="20" name="Shape 18"/>
          <p:cNvSpPr/>
          <p:nvPr/>
        </p:nvSpPr>
        <p:spPr>
          <a:xfrm>
            <a:off x="4325112" y="2148840"/>
            <a:ext cx="3547872" cy="1828800"/>
          </a:xfrm>
          <a:prstGeom prst="roundRect">
            <a:avLst>
              <a:gd name="adj" fmla="val 4000"/>
            </a:avLst>
          </a:prstGeom>
          <a:solidFill>
            <a:srgbClr val="F2F5FA"/>
          </a:solidFill>
          <a:ln w="12700">
            <a:solidFill>
              <a:srgbClr val="F2F5FA"/>
            </a:solidFill>
            <a:prstDash val="solid"/>
          </a:ln>
        </p:spPr>
      </p:sp>
      <p:sp>
        <p:nvSpPr>
          <p:cNvPr id="21" name="Shape 19"/>
          <p:cNvSpPr/>
          <p:nvPr/>
        </p:nvSpPr>
        <p:spPr>
          <a:xfrm>
            <a:off x="4553712" y="2286000"/>
            <a:ext cx="310896" cy="310896"/>
          </a:xfrm>
          <a:prstGeom prst="roundRect">
            <a:avLst>
              <a:gd name="adj" fmla="val 50000"/>
            </a:avLst>
          </a:prstGeom>
          <a:solidFill>
            <a:srgbClr val="2E9BD6"/>
          </a:solidFill>
          <a:ln w="12700">
            <a:solidFill>
              <a:srgbClr val="2E9BD6"/>
            </a:solidFill>
            <a:prstDash val="solid"/>
          </a:ln>
        </p:spPr>
      </p:sp>
      <p:sp>
        <p:nvSpPr>
          <p:cNvPr id="22" name="Text 20"/>
          <p:cNvSpPr txBox="1"/>
          <p:nvPr/>
        </p:nvSpPr>
        <p:spPr>
          <a:xfrm>
            <a:off x="4553712" y="228600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3" name="Text 21"/>
          <p:cNvSpPr txBox="1"/>
          <p:nvPr/>
        </p:nvSpPr>
        <p:spPr>
          <a:xfrm>
            <a:off x="4965192" y="2286000"/>
            <a:ext cx="2743200" cy="310896"/>
          </a:xfrm>
          <a:prstGeom prst="rect">
            <a:avLst/>
          </a:prstGeom>
          <a:noFill/>
          <a:ln/>
        </p:spPr>
        <p:txBody>
          <a:bodyPr wrap="square" lIns="0" tIns="0" rIns="0" bIns="0" rtlCol="0" anchor="ctr"/>
          <a:lstStyle/>
          <a:p>
            <a:pPr indent="0" marL="0">
              <a:buNone/>
            </a:pPr>
            <a:r>
              <a:rPr lang="en-US" sz="1450" b="1" dirty="0">
                <a:solidFill>
                  <a:srgbClr val="16202E"/>
                </a:solidFill>
                <a:latin typeface="Calibri" pitchFamily="34" charset="0"/>
                <a:ea typeface="Calibri" pitchFamily="34" charset="-122"/>
                <a:cs typeface="Calibri" pitchFamily="34" charset="-120"/>
              </a:rPr>
              <a:t>3D volume</a:t>
            </a:r>
            <a:endParaRPr lang="en-US" sz="1450" dirty="0"/>
          </a:p>
        </p:txBody>
      </p:sp>
      <p:sp>
        <p:nvSpPr>
          <p:cNvPr id="24" name="Text 22"/>
          <p:cNvSpPr txBox="1"/>
          <p:nvPr/>
        </p:nvSpPr>
        <p:spPr>
          <a:xfrm>
            <a:off x="4553712" y="2697480"/>
            <a:ext cx="3108960" cy="1188720"/>
          </a:xfrm>
          <a:prstGeom prst="rect">
            <a:avLst/>
          </a:prstGeom>
          <a:noFill/>
          <a:ln/>
        </p:spPr>
        <p:txBody>
          <a:bodyPr wrap="square" lIns="0" tIns="0" rIns="0" bIns="0" rtlCol="0" anchor="t"/>
          <a:lstStyle/>
          <a:p>
            <a:pPr indent="0" marL="0">
              <a:lnSpc>
                <a:spcPct val="110000"/>
              </a:lnSpc>
              <a:buNone/>
            </a:pPr>
            <a:r>
              <a:rPr lang="en-US" sz="1150" dirty="0">
                <a:solidFill>
                  <a:srgbClr val="16202E"/>
                </a:solidFill>
                <a:latin typeface="Calibri" pitchFamily="34" charset="0"/>
                <a:ea typeface="Calibri" pitchFamily="34" charset="-122"/>
                <a:cs typeface="Calibri" pitchFamily="34" charset="-120"/>
              </a:rPr>
              <a:t>The app pools central axial slices from a NIfTI volume. The same 2D model scores them, and a rotatable render shows the attention.</a:t>
            </a:r>
            <a:endParaRPr lang="en-US" sz="1150" dirty="0"/>
          </a:p>
        </p:txBody>
      </p:sp>
      <p:sp>
        <p:nvSpPr>
          <p:cNvPr id="25" name="Shape 23"/>
          <p:cNvSpPr/>
          <p:nvPr/>
        </p:nvSpPr>
        <p:spPr>
          <a:xfrm>
            <a:off x="8101584" y="2148840"/>
            <a:ext cx="3547872" cy="1828800"/>
          </a:xfrm>
          <a:prstGeom prst="roundRect">
            <a:avLst>
              <a:gd name="adj" fmla="val 4000"/>
            </a:avLst>
          </a:prstGeom>
          <a:solidFill>
            <a:srgbClr val="F2F5FA"/>
          </a:solidFill>
          <a:ln w="12700">
            <a:solidFill>
              <a:srgbClr val="F2F5FA"/>
            </a:solidFill>
            <a:prstDash val="solid"/>
          </a:ln>
        </p:spPr>
      </p:sp>
      <p:sp>
        <p:nvSpPr>
          <p:cNvPr id="26" name="Shape 24"/>
          <p:cNvSpPr/>
          <p:nvPr/>
        </p:nvSpPr>
        <p:spPr>
          <a:xfrm>
            <a:off x="8330184" y="2286000"/>
            <a:ext cx="310896" cy="310896"/>
          </a:xfrm>
          <a:prstGeom prst="roundRect">
            <a:avLst>
              <a:gd name="adj" fmla="val 50000"/>
            </a:avLst>
          </a:prstGeom>
          <a:solidFill>
            <a:srgbClr val="3FA34D"/>
          </a:solidFill>
          <a:ln w="12700">
            <a:solidFill>
              <a:srgbClr val="3FA34D"/>
            </a:solidFill>
            <a:prstDash val="solid"/>
          </a:ln>
        </p:spPr>
      </p:sp>
      <p:sp>
        <p:nvSpPr>
          <p:cNvPr id="27" name="Text 25"/>
          <p:cNvSpPr txBox="1"/>
          <p:nvPr/>
        </p:nvSpPr>
        <p:spPr>
          <a:xfrm>
            <a:off x="8330184" y="228600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6"/>
          <p:cNvSpPr txBox="1"/>
          <p:nvPr/>
        </p:nvSpPr>
        <p:spPr>
          <a:xfrm>
            <a:off x="8741664" y="2286000"/>
            <a:ext cx="2743200" cy="310896"/>
          </a:xfrm>
          <a:prstGeom prst="rect">
            <a:avLst/>
          </a:prstGeom>
          <a:noFill/>
          <a:ln/>
        </p:spPr>
        <p:txBody>
          <a:bodyPr wrap="square" lIns="0" tIns="0" rIns="0" bIns="0" rtlCol="0" anchor="ctr"/>
          <a:lstStyle/>
          <a:p>
            <a:pPr indent="0" marL="0">
              <a:buNone/>
            </a:pPr>
            <a:r>
              <a:rPr lang="en-US" sz="1450" b="1" dirty="0">
                <a:solidFill>
                  <a:srgbClr val="16202E"/>
                </a:solidFill>
                <a:latin typeface="Calibri" pitchFamily="34" charset="0"/>
                <a:ea typeface="Calibri" pitchFamily="34" charset="-122"/>
                <a:cs typeface="Calibri" pitchFamily="34" charset="-120"/>
              </a:rPr>
              <a:t>2D + 3D combined</a:t>
            </a:r>
            <a:endParaRPr lang="en-US" sz="1450" dirty="0"/>
          </a:p>
        </p:txBody>
      </p:sp>
      <p:sp>
        <p:nvSpPr>
          <p:cNvPr id="29" name="Text 27"/>
          <p:cNvSpPr txBox="1"/>
          <p:nvPr/>
        </p:nvSpPr>
        <p:spPr>
          <a:xfrm>
            <a:off x="8330184" y="2697480"/>
            <a:ext cx="3108960" cy="1188720"/>
          </a:xfrm>
          <a:prstGeom prst="rect">
            <a:avLst/>
          </a:prstGeom>
          <a:noFill/>
          <a:ln/>
        </p:spPr>
        <p:txBody>
          <a:bodyPr wrap="square" lIns="0" tIns="0" rIns="0" bIns="0" rtlCol="0" anchor="t"/>
          <a:lstStyle/>
          <a:p>
            <a:pPr indent="0" marL="0">
              <a:lnSpc>
                <a:spcPct val="110000"/>
              </a:lnSpc>
              <a:buNone/>
            </a:pPr>
            <a:r>
              <a:rPr lang="en-US" sz="1150" dirty="0">
                <a:solidFill>
                  <a:srgbClr val="16202E"/>
                </a:solidFill>
                <a:latin typeface="Calibri" pitchFamily="34" charset="0"/>
                <a:ea typeface="Calibri" pitchFamily="34" charset="-122"/>
                <a:cs typeface="Calibri" pitchFamily="34" charset="-120"/>
              </a:rPr>
              <a:t>The app combines the two reads into one call. It also shows if the two reads agree, so the clinician gets one number.</a:t>
            </a:r>
            <a:endParaRPr lang="en-US" sz="1150" dirty="0"/>
          </a:p>
        </p:txBody>
      </p:sp>
      <p:sp>
        <p:nvSpPr>
          <p:cNvPr id="30" name="Shape 28"/>
          <p:cNvSpPr/>
          <p:nvPr/>
        </p:nvSpPr>
        <p:spPr>
          <a:xfrm>
            <a:off x="548640" y="4160520"/>
            <a:ext cx="5623560" cy="1600200"/>
          </a:xfrm>
          <a:prstGeom prst="roundRect">
            <a:avLst>
              <a:gd name="adj" fmla="val 4571"/>
            </a:avLst>
          </a:prstGeom>
          <a:solidFill>
            <a:srgbClr val="E7EEF7"/>
          </a:solidFill>
          <a:ln w="12700">
            <a:solidFill>
              <a:srgbClr val="E7EEF7"/>
            </a:solidFill>
            <a:prstDash val="solid"/>
          </a:ln>
        </p:spPr>
      </p:sp>
      <p:sp>
        <p:nvSpPr>
          <p:cNvPr id="31" name="Text 29"/>
          <p:cNvSpPr txBox="1"/>
          <p:nvPr/>
        </p:nvSpPr>
        <p:spPr>
          <a:xfrm>
            <a:off x="777240" y="4297680"/>
            <a:ext cx="5120640" cy="274320"/>
          </a:xfrm>
          <a:prstGeom prst="rect">
            <a:avLst/>
          </a:prstGeom>
          <a:noFill/>
          <a:ln/>
        </p:spPr>
        <p:txBody>
          <a:bodyPr wrap="square" lIns="0" tIns="0" rIns="0" bIns="0" rtlCol="0" anchor="ctr"/>
          <a:lstStyle/>
          <a:p>
            <a:pPr indent="0" marL="0">
              <a:buNone/>
            </a:pPr>
            <a:r>
              <a:rPr lang="en-US" sz="1350" b="1" dirty="0">
                <a:solidFill>
                  <a:srgbClr val="1B5FA8"/>
                </a:solidFill>
                <a:latin typeface="Calibri" pitchFamily="34" charset="0"/>
                <a:ea typeface="Calibri" pitchFamily="34" charset="-122"/>
                <a:cs typeface="Calibri" pitchFamily="34" charset="-120"/>
              </a:rPr>
              <a:t>Explainability is part of the model</a:t>
            </a:r>
            <a:endParaRPr lang="en-US" sz="1350" dirty="0"/>
          </a:p>
        </p:txBody>
      </p:sp>
      <p:sp>
        <p:nvSpPr>
          <p:cNvPr id="32" name="Text 30"/>
          <p:cNvSpPr txBox="1"/>
          <p:nvPr/>
        </p:nvSpPr>
        <p:spPr>
          <a:xfrm>
            <a:off x="777240" y="4636008"/>
            <a:ext cx="5120640" cy="10058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02E"/>
                </a:solidFill>
                <a:latin typeface="Calibri" pitchFamily="34" charset="0"/>
                <a:ea typeface="Calibri" pitchFamily="34" charset="-122"/>
                <a:cs typeface="Calibri" pitchFamily="34" charset="-120"/>
              </a:rPr>
              <a:t>Grad-CAM gives pixel attribution for the winning class. The app puts this attribution on the scan.</a:t>
            </a:r>
            <a:endParaRPr lang="en-US" sz="1150" dirty="0"/>
          </a:p>
          <a:p>
            <a:pPr marL="342900" indent="-342900">
              <a:spcAft>
                <a:spcPts val="600"/>
              </a:spcAft>
              <a:buSzPct val="100000"/>
              <a:buChar char="•"/>
            </a:pPr>
            <a:r>
              <a:rPr lang="en-US" sz="1150" dirty="0">
                <a:solidFill>
                  <a:srgbClr val="16202E"/>
                </a:solidFill>
                <a:latin typeface="Calibri" pitchFamily="34" charset="0"/>
                <a:ea typeface="Calibri" pitchFamily="34" charset="-122"/>
                <a:cs typeface="Calibri" pitchFamily="34" charset="-120"/>
              </a:rPr>
              <a:t>The radiologist compares the model result with the real anatomy, and does not have to trust a label alone.</a:t>
            </a:r>
            <a:endParaRPr lang="en-US" sz="1150" dirty="0"/>
          </a:p>
        </p:txBody>
      </p:sp>
      <p:sp>
        <p:nvSpPr>
          <p:cNvPr id="33" name="Shape 31"/>
          <p:cNvSpPr/>
          <p:nvPr/>
        </p:nvSpPr>
        <p:spPr>
          <a:xfrm>
            <a:off x="6309360" y="4160520"/>
            <a:ext cx="5349240" cy="1600200"/>
          </a:xfrm>
          <a:prstGeom prst="roundRect">
            <a:avLst>
              <a:gd name="adj" fmla="val 4571"/>
            </a:avLst>
          </a:prstGeom>
          <a:solidFill>
            <a:srgbClr val="E7EEF7"/>
          </a:solidFill>
          <a:ln w="12700">
            <a:solidFill>
              <a:srgbClr val="E7EEF7"/>
            </a:solidFill>
            <a:prstDash val="solid"/>
          </a:ln>
        </p:spPr>
      </p:sp>
      <p:sp>
        <p:nvSpPr>
          <p:cNvPr id="34" name="Text 32"/>
          <p:cNvSpPr txBox="1"/>
          <p:nvPr/>
        </p:nvSpPr>
        <p:spPr>
          <a:xfrm>
            <a:off x="6537960" y="4297680"/>
            <a:ext cx="4846320" cy="274320"/>
          </a:xfrm>
          <a:prstGeom prst="rect">
            <a:avLst/>
          </a:prstGeom>
          <a:noFill/>
          <a:ln/>
        </p:spPr>
        <p:txBody>
          <a:bodyPr wrap="square" lIns="0" tIns="0" rIns="0" bIns="0" rtlCol="0" anchor="ctr"/>
          <a:lstStyle/>
          <a:p>
            <a:pPr indent="0" marL="0">
              <a:buNone/>
            </a:pPr>
            <a:r>
              <a:rPr lang="en-US" sz="1350" b="1" dirty="0">
                <a:solidFill>
                  <a:srgbClr val="1B5FA8"/>
                </a:solidFill>
                <a:latin typeface="Calibri" pitchFamily="34" charset="0"/>
                <a:ea typeface="Calibri" pitchFamily="34" charset="-122"/>
                <a:cs typeface="Calibri" pitchFamily="34" charset="-120"/>
              </a:rPr>
              <a:t>Scored on real imaging data</a:t>
            </a:r>
            <a:endParaRPr lang="en-US" sz="1350" dirty="0"/>
          </a:p>
        </p:txBody>
      </p:sp>
      <p:sp>
        <p:nvSpPr>
          <p:cNvPr id="35" name="Text 33"/>
          <p:cNvSpPr txBox="1"/>
          <p:nvPr/>
        </p:nvSpPr>
        <p:spPr>
          <a:xfrm>
            <a:off x="6537960" y="4636008"/>
            <a:ext cx="4846320" cy="10058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02E"/>
                </a:solidFill>
                <a:latin typeface="Calibri" pitchFamily="34" charset="0"/>
                <a:ea typeface="Calibri" pitchFamily="34" charset="-122"/>
                <a:cs typeface="Calibri" pitchFamily="34" charset="-120"/>
              </a:rPr>
              <a:t>The data is about 23,000 slices from about 94 subjects (Kaggle imagesoasis mirror). The split is 70/15/15 by patient.</a:t>
            </a:r>
            <a:endParaRPr lang="en-US" sz="1150" dirty="0"/>
          </a:p>
          <a:p>
            <a:pPr marL="342900" indent="-342900">
              <a:spcAft>
                <a:spcPts val="600"/>
              </a:spcAft>
              <a:buSzPct val="100000"/>
              <a:buChar char="•"/>
            </a:pPr>
            <a:r>
              <a:rPr lang="en-US" sz="1150" dirty="0">
                <a:solidFill>
                  <a:srgbClr val="16202E"/>
                </a:solidFill>
                <a:latin typeface="Calibri" pitchFamily="34" charset="0"/>
                <a:ea typeface="Calibri" pitchFamily="34" charset="-122"/>
                <a:cs typeface="Calibri" pitchFamily="34" charset="-120"/>
              </a:rPr>
              <a:t>score = 1 − P(Non Demented). The score enters fusion as a probability, and not as a label.</a:t>
            </a:r>
            <a:endParaRPr lang="en-US" sz="1150" dirty="0"/>
          </a:p>
        </p:txBody>
      </p:sp>
      <p:sp>
        <p:nvSpPr>
          <p:cNvPr id="36" name="Text 34"/>
          <p:cNvSpPr txBox="1"/>
          <p:nvPr/>
        </p:nvSpPr>
        <p:spPr>
          <a:xfrm>
            <a:off x="548640" y="5897880"/>
            <a:ext cx="11109960" cy="274320"/>
          </a:xfrm>
          <a:prstGeom prst="rect">
            <a:avLst/>
          </a:prstGeom>
          <a:noFill/>
          <a:ln/>
        </p:spPr>
        <p:txBody>
          <a:bodyPr wrap="square" lIns="0" tIns="0" rIns="0" bIns="0" rtlCol="0" anchor="ctr"/>
          <a:lstStyle/>
          <a:p>
            <a:pPr indent="0" marL="0">
              <a:buNone/>
            </a:pPr>
            <a:r>
              <a:rPr lang="en-US" sz="1150" i="1" dirty="0">
                <a:solidFill>
                  <a:srgbClr val="5C6B7F"/>
                </a:solidFill>
                <a:latin typeface="Calibri" pitchFamily="34" charset="0"/>
                <a:ea typeface="Calibri" pitchFamily="34" charset="-122"/>
                <a:cs typeface="Calibri" pitchFamily="34" charset="-120"/>
              </a:rPr>
              <a:t>The split is by patient. Slices from one brain never go into both the training set and the test set.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01752"/>
            <a:ext cx="8229600" cy="237744"/>
          </a:xfrm>
          <a:prstGeom prst="rect">
            <a:avLst/>
          </a:prstGeom>
          <a:noFill/>
          <a:ln/>
        </p:spPr>
        <p:txBody>
          <a:bodyPr wrap="square" lIns="0" tIns="0" rIns="0" bIns="0" rtlCol="0" anchor="ctr"/>
          <a:lstStyle/>
          <a:p>
            <a:pPr indent="0" marL="0">
              <a:buNone/>
            </a:pPr>
            <a:r>
              <a:rPr lang="en-US" sz="1100" b="1" spc="200" kern="0" dirty="0">
                <a:solidFill>
                  <a:srgbClr val="2E9BD6"/>
                </a:solidFill>
                <a:latin typeface="Calibri" pitchFamily="34" charset="0"/>
                <a:ea typeface="Calibri" pitchFamily="34" charset="-122"/>
                <a:cs typeface="Calibri" pitchFamily="34" charset="-120"/>
              </a:rPr>
              <a:t>MECHANISM 3 OF 3</a:t>
            </a:r>
            <a:endParaRPr lang="en-US" sz="1100" dirty="0"/>
          </a:p>
        </p:txBody>
      </p:sp>
      <p:sp>
        <p:nvSpPr>
          <p:cNvPr id="3" name="Text 1"/>
          <p:cNvSpPr txBox="1"/>
          <p:nvPr/>
        </p:nvSpPr>
        <p:spPr>
          <a:xfrm>
            <a:off x="548640" y="548640"/>
            <a:ext cx="10241280" cy="685800"/>
          </a:xfrm>
          <a:prstGeom prst="rect">
            <a:avLst/>
          </a:prstGeom>
          <a:noFill/>
          <a:ln/>
        </p:spPr>
        <p:txBody>
          <a:bodyPr wrap="square" lIns="0" tIns="0" rIns="0" bIns="0" rtlCol="0" anchor="t"/>
          <a:lstStyle/>
          <a:p>
            <a:pPr indent="0" marL="0">
              <a:buNone/>
            </a:pPr>
            <a:r>
              <a:rPr lang="en-US" sz="3000" b="1" dirty="0">
                <a:solidFill>
                  <a:srgbClr val="16202E"/>
                </a:solidFill>
                <a:latin typeface="Calibri" pitchFamily="34" charset="0"/>
                <a:ea typeface="Calibri" pitchFamily="34" charset="-122"/>
                <a:cs typeface="Calibri" pitchFamily="34" charset="-120"/>
              </a:rPr>
              <a:t>EEG model — a third signal, independent of anatomy</a:t>
            </a:r>
            <a:endParaRPr lang="en-US" sz="3000" dirty="0"/>
          </a:p>
        </p:txBody>
      </p:sp>
      <p:sp>
        <p:nvSpPr>
          <p:cNvPr id="4" name="Shape 2"/>
          <p:cNvSpPr/>
          <p:nvPr/>
        </p:nvSpPr>
        <p:spPr>
          <a:xfrm>
            <a:off x="548640" y="1371600"/>
            <a:ext cx="2061058" cy="566928"/>
          </a:xfrm>
          <a:prstGeom prst="roundRect">
            <a:avLst>
              <a:gd name="adj" fmla="val 9677"/>
            </a:avLst>
          </a:prstGeom>
          <a:solidFill>
            <a:srgbClr val="E7EEF7"/>
          </a:solidFill>
          <a:ln w="12700">
            <a:solidFill>
              <a:srgbClr val="E7EEF7"/>
            </a:solidFill>
            <a:prstDash val="solid"/>
          </a:ln>
        </p:spPr>
      </p:sp>
      <p:sp>
        <p:nvSpPr>
          <p:cNvPr id="5" name="Text 3"/>
          <p:cNvSpPr txBox="1"/>
          <p:nvPr/>
        </p:nvSpPr>
        <p:spPr>
          <a:xfrm>
            <a:off x="603504" y="1371600"/>
            <a:ext cx="1951330" cy="566928"/>
          </a:xfrm>
          <a:prstGeom prst="rect">
            <a:avLst/>
          </a:prstGeom>
          <a:noFill/>
          <a:ln/>
        </p:spPr>
        <p:txBody>
          <a:bodyPr wrap="square" lIns="0" tIns="0" rIns="0" bIns="0" rtlCol="0" anchor="ctr"/>
          <a:lstStyle/>
          <a:p>
            <a:pPr algn="ctr" indent="0" marL="0">
              <a:buNone/>
            </a:pPr>
            <a:r>
              <a:rPr lang="en-US" sz="1050" b="1" dirty="0">
                <a:solidFill>
                  <a:srgbClr val="1B5FA8"/>
                </a:solidFill>
                <a:latin typeface="Calibri" pitchFamily="34" charset="0"/>
                <a:ea typeface="Calibri" pitchFamily="34" charset="-122"/>
                <a:cs typeface="Calibri" pitchFamily="34" charset="-120"/>
              </a:rPr>
              <a:t>Resting-state recording</a:t>
            </a:r>
            <a:endParaRPr lang="en-US" sz="1050" dirty="0"/>
          </a:p>
        </p:txBody>
      </p:sp>
      <p:sp>
        <p:nvSpPr>
          <p:cNvPr id="6" name="Text 4"/>
          <p:cNvSpPr txBox="1"/>
          <p:nvPr/>
        </p:nvSpPr>
        <p:spPr>
          <a:xfrm>
            <a:off x="2609698" y="1371600"/>
            <a:ext cx="201168" cy="566928"/>
          </a:xfrm>
          <a:prstGeom prst="rect">
            <a:avLst/>
          </a:prstGeom>
          <a:noFill/>
          <a:ln/>
        </p:spPr>
        <p:txBody>
          <a:bodyPr wrap="square" lIns="0" tIns="0" rIns="0" bIns="0" rtlCol="0" anchor="ctr"/>
          <a:lstStyle/>
          <a:p>
            <a:pPr algn="ctr" indent="0" marL="0">
              <a:buNone/>
            </a:pPr>
            <a:r>
              <a:rPr lang="en-US" sz="1600" b="1" dirty="0">
                <a:solidFill>
                  <a:srgbClr val="5C6B7F"/>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810866" y="1371600"/>
            <a:ext cx="2061058" cy="566928"/>
          </a:xfrm>
          <a:prstGeom prst="roundRect">
            <a:avLst>
              <a:gd name="adj" fmla="val 9677"/>
            </a:avLst>
          </a:prstGeom>
          <a:solidFill>
            <a:srgbClr val="E7EEF7"/>
          </a:solidFill>
          <a:ln w="12700">
            <a:solidFill>
              <a:srgbClr val="E7EEF7"/>
            </a:solidFill>
            <a:prstDash val="solid"/>
          </a:ln>
        </p:spPr>
      </p:sp>
      <p:sp>
        <p:nvSpPr>
          <p:cNvPr id="8" name="Text 6"/>
          <p:cNvSpPr txBox="1"/>
          <p:nvPr/>
        </p:nvSpPr>
        <p:spPr>
          <a:xfrm>
            <a:off x="2865730" y="1371600"/>
            <a:ext cx="1951330" cy="566928"/>
          </a:xfrm>
          <a:prstGeom prst="rect">
            <a:avLst/>
          </a:prstGeom>
          <a:noFill/>
          <a:ln/>
        </p:spPr>
        <p:txBody>
          <a:bodyPr wrap="square" lIns="0" tIns="0" rIns="0" bIns="0" rtlCol="0" anchor="ctr"/>
          <a:lstStyle/>
          <a:p>
            <a:pPr algn="ctr" indent="0" marL="0">
              <a:buNone/>
            </a:pPr>
            <a:r>
              <a:rPr lang="en-US" sz="1050" b="1" dirty="0">
                <a:solidFill>
                  <a:srgbClr val="1B5FA8"/>
                </a:solidFill>
                <a:latin typeface="Calibri" pitchFamily="34" charset="0"/>
                <a:ea typeface="Calibri" pitchFamily="34" charset="-122"/>
                <a:cs typeface="Calibri" pitchFamily="34" charset="-120"/>
              </a:rPr>
              <a:t>Relative band power + 2 slowing ratios</a:t>
            </a:r>
            <a:endParaRPr lang="en-US" sz="1050" dirty="0"/>
          </a:p>
        </p:txBody>
      </p:sp>
      <p:sp>
        <p:nvSpPr>
          <p:cNvPr id="9" name="Text 7"/>
          <p:cNvSpPr txBox="1"/>
          <p:nvPr/>
        </p:nvSpPr>
        <p:spPr>
          <a:xfrm>
            <a:off x="4871923" y="1371600"/>
            <a:ext cx="201168" cy="566928"/>
          </a:xfrm>
          <a:prstGeom prst="rect">
            <a:avLst/>
          </a:prstGeom>
          <a:noFill/>
          <a:ln/>
        </p:spPr>
        <p:txBody>
          <a:bodyPr wrap="square" lIns="0" tIns="0" rIns="0" bIns="0" rtlCol="0" anchor="ctr"/>
          <a:lstStyle/>
          <a:p>
            <a:pPr algn="ctr" indent="0" marL="0">
              <a:buNone/>
            </a:pPr>
            <a:r>
              <a:rPr lang="en-US" sz="1600" b="1" dirty="0">
                <a:solidFill>
                  <a:srgbClr val="5C6B7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5073091" y="1371600"/>
            <a:ext cx="2061058" cy="566928"/>
          </a:xfrm>
          <a:prstGeom prst="roundRect">
            <a:avLst>
              <a:gd name="adj" fmla="val 9677"/>
            </a:avLst>
          </a:prstGeom>
          <a:solidFill>
            <a:srgbClr val="E7EEF7"/>
          </a:solidFill>
          <a:ln w="12700">
            <a:solidFill>
              <a:srgbClr val="E7EEF7"/>
            </a:solidFill>
            <a:prstDash val="solid"/>
          </a:ln>
        </p:spPr>
      </p:sp>
      <p:sp>
        <p:nvSpPr>
          <p:cNvPr id="11" name="Text 9"/>
          <p:cNvSpPr txBox="1"/>
          <p:nvPr/>
        </p:nvSpPr>
        <p:spPr>
          <a:xfrm>
            <a:off x="5127955" y="1371600"/>
            <a:ext cx="1951330" cy="566928"/>
          </a:xfrm>
          <a:prstGeom prst="rect">
            <a:avLst/>
          </a:prstGeom>
          <a:noFill/>
          <a:ln/>
        </p:spPr>
        <p:txBody>
          <a:bodyPr wrap="square" lIns="0" tIns="0" rIns="0" bIns="0" rtlCol="0" anchor="ctr"/>
          <a:lstStyle/>
          <a:p>
            <a:pPr algn="ctr" indent="0" marL="0">
              <a:buNone/>
            </a:pPr>
            <a:r>
              <a:rPr lang="en-US" sz="1050" b="1" dirty="0">
                <a:solidFill>
                  <a:srgbClr val="1B5FA8"/>
                </a:solidFill>
                <a:latin typeface="Calibri" pitchFamily="34" charset="0"/>
                <a:ea typeface="Calibri" pitchFamily="34" charset="-122"/>
                <a:cs typeface="Calibri" pitchFamily="34" charset="-120"/>
              </a:rPr>
              <a:t>Standardization</a:t>
            </a:r>
            <a:endParaRPr lang="en-US" sz="1050" dirty="0"/>
          </a:p>
        </p:txBody>
      </p:sp>
      <p:sp>
        <p:nvSpPr>
          <p:cNvPr id="12" name="Text 10"/>
          <p:cNvSpPr txBox="1"/>
          <p:nvPr/>
        </p:nvSpPr>
        <p:spPr>
          <a:xfrm>
            <a:off x="7134149" y="1371600"/>
            <a:ext cx="201168" cy="566928"/>
          </a:xfrm>
          <a:prstGeom prst="rect">
            <a:avLst/>
          </a:prstGeom>
          <a:noFill/>
          <a:ln/>
        </p:spPr>
        <p:txBody>
          <a:bodyPr wrap="square" lIns="0" tIns="0" rIns="0" bIns="0" rtlCol="0" anchor="ctr"/>
          <a:lstStyle/>
          <a:p>
            <a:pPr algn="ctr" indent="0" marL="0">
              <a:buNone/>
            </a:pPr>
            <a:r>
              <a:rPr lang="en-US" sz="1600" b="1" dirty="0">
                <a:solidFill>
                  <a:srgbClr val="5C6B7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7335317" y="1371600"/>
            <a:ext cx="2061058" cy="566928"/>
          </a:xfrm>
          <a:prstGeom prst="roundRect">
            <a:avLst>
              <a:gd name="adj" fmla="val 9677"/>
            </a:avLst>
          </a:prstGeom>
          <a:solidFill>
            <a:srgbClr val="E7EEF7"/>
          </a:solidFill>
          <a:ln w="12700">
            <a:solidFill>
              <a:srgbClr val="E7EEF7"/>
            </a:solidFill>
            <a:prstDash val="solid"/>
          </a:ln>
        </p:spPr>
      </p:sp>
      <p:sp>
        <p:nvSpPr>
          <p:cNvPr id="14" name="Text 12"/>
          <p:cNvSpPr txBox="1"/>
          <p:nvPr/>
        </p:nvSpPr>
        <p:spPr>
          <a:xfrm>
            <a:off x="7390181" y="1371600"/>
            <a:ext cx="1951330" cy="566928"/>
          </a:xfrm>
          <a:prstGeom prst="rect">
            <a:avLst/>
          </a:prstGeom>
          <a:noFill/>
          <a:ln/>
        </p:spPr>
        <p:txBody>
          <a:bodyPr wrap="square" lIns="0" tIns="0" rIns="0" bIns="0" rtlCol="0" anchor="ctr"/>
          <a:lstStyle/>
          <a:p>
            <a:pPr algn="ctr" indent="0" marL="0">
              <a:buNone/>
            </a:pPr>
            <a:r>
              <a:rPr lang="en-US" sz="1050" b="1" dirty="0">
                <a:solidFill>
                  <a:srgbClr val="1B5FA8"/>
                </a:solidFill>
                <a:latin typeface="Calibri" pitchFamily="34" charset="0"/>
                <a:ea typeface="Calibri" pitchFamily="34" charset="-122"/>
                <a:cs typeface="Calibri" pitchFamily="34" charset="-120"/>
              </a:rPr>
              <a:t>Logistic regression</a:t>
            </a:r>
            <a:endParaRPr lang="en-US" sz="1050" dirty="0"/>
          </a:p>
        </p:txBody>
      </p:sp>
      <p:sp>
        <p:nvSpPr>
          <p:cNvPr id="15" name="Text 13"/>
          <p:cNvSpPr txBox="1"/>
          <p:nvPr/>
        </p:nvSpPr>
        <p:spPr>
          <a:xfrm>
            <a:off x="9396374" y="1371600"/>
            <a:ext cx="201168" cy="566928"/>
          </a:xfrm>
          <a:prstGeom prst="rect">
            <a:avLst/>
          </a:prstGeom>
          <a:noFill/>
          <a:ln/>
        </p:spPr>
        <p:txBody>
          <a:bodyPr wrap="square" lIns="0" tIns="0" rIns="0" bIns="0" rtlCol="0" anchor="ctr"/>
          <a:lstStyle/>
          <a:p>
            <a:pPr algn="ctr" indent="0" marL="0">
              <a:buNone/>
            </a:pPr>
            <a:r>
              <a:rPr lang="en-US" sz="1600" b="1" dirty="0">
                <a:solidFill>
                  <a:srgbClr val="5C6B7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9597542" y="1371600"/>
            <a:ext cx="2061058" cy="566928"/>
          </a:xfrm>
          <a:prstGeom prst="roundRect">
            <a:avLst>
              <a:gd name="adj" fmla="val 9677"/>
            </a:avLst>
          </a:prstGeom>
          <a:solidFill>
            <a:srgbClr val="E7EEF7"/>
          </a:solidFill>
          <a:ln w="12700">
            <a:solidFill>
              <a:srgbClr val="E7EEF7"/>
            </a:solidFill>
            <a:prstDash val="solid"/>
          </a:ln>
        </p:spPr>
      </p:sp>
      <p:sp>
        <p:nvSpPr>
          <p:cNvPr id="17" name="Text 15"/>
          <p:cNvSpPr txBox="1"/>
          <p:nvPr/>
        </p:nvSpPr>
        <p:spPr>
          <a:xfrm>
            <a:off x="9652406" y="1371600"/>
            <a:ext cx="1951330" cy="566928"/>
          </a:xfrm>
          <a:prstGeom prst="rect">
            <a:avLst/>
          </a:prstGeom>
          <a:noFill/>
          <a:ln/>
        </p:spPr>
        <p:txBody>
          <a:bodyPr wrap="square" lIns="0" tIns="0" rIns="0" bIns="0" rtlCol="0" anchor="ctr"/>
          <a:lstStyle/>
          <a:p>
            <a:pPr algn="ctr" indent="0" marL="0">
              <a:buNone/>
            </a:pPr>
            <a:r>
              <a:rPr lang="en-US" sz="1050" b="1" dirty="0">
                <a:solidFill>
                  <a:srgbClr val="1B5FA8"/>
                </a:solidFill>
                <a:latin typeface="Calibri" pitchFamily="34" charset="0"/>
                <a:ea typeface="Calibri" pitchFamily="34" charset="-122"/>
                <a:cs typeface="Calibri" pitchFamily="34" charset="-120"/>
              </a:rPr>
              <a:t>score = P(AD pattern)</a:t>
            </a:r>
            <a:endParaRPr lang="en-US" sz="1050" dirty="0"/>
          </a:p>
        </p:txBody>
      </p:sp>
      <p:sp>
        <p:nvSpPr>
          <p:cNvPr id="18" name="Shape 16"/>
          <p:cNvSpPr/>
          <p:nvPr/>
        </p:nvSpPr>
        <p:spPr>
          <a:xfrm>
            <a:off x="548640" y="2148840"/>
            <a:ext cx="5394960" cy="2286000"/>
          </a:xfrm>
          <a:prstGeom prst="roundRect">
            <a:avLst>
              <a:gd name="adj" fmla="val 3200"/>
            </a:avLst>
          </a:prstGeom>
          <a:solidFill>
            <a:srgbClr val="F2F5FA"/>
          </a:solidFill>
          <a:ln w="12700">
            <a:solidFill>
              <a:srgbClr val="F2F5FA"/>
            </a:solidFill>
            <a:prstDash val="solid"/>
          </a:ln>
        </p:spPr>
      </p:sp>
      <p:sp>
        <p:nvSpPr>
          <p:cNvPr id="19" name="Text 17"/>
          <p:cNvSpPr txBox="1"/>
          <p:nvPr/>
        </p:nvSpPr>
        <p:spPr>
          <a:xfrm>
            <a:off x="822960" y="2286000"/>
            <a:ext cx="4846320" cy="274320"/>
          </a:xfrm>
          <a:prstGeom prst="rect">
            <a:avLst/>
          </a:prstGeom>
          <a:noFill/>
          <a:ln/>
        </p:spPr>
        <p:txBody>
          <a:bodyPr wrap="square" lIns="0" tIns="0" rIns="0" bIns="0" rtlCol="0" anchor="ctr"/>
          <a:lstStyle/>
          <a:p>
            <a:pPr indent="0" marL="0">
              <a:buNone/>
            </a:pPr>
            <a:r>
              <a:rPr lang="en-US" sz="1450" b="1" dirty="0">
                <a:solidFill>
                  <a:srgbClr val="1B5FA8"/>
                </a:solidFill>
                <a:latin typeface="Calibri" pitchFamily="34" charset="0"/>
                <a:ea typeface="Calibri" pitchFamily="34" charset="-122"/>
                <a:cs typeface="Calibri" pitchFamily="34" charset="-120"/>
              </a:rPr>
              <a:t>The feature set</a:t>
            </a:r>
            <a:endParaRPr lang="en-US" sz="1450" dirty="0"/>
          </a:p>
        </p:txBody>
      </p:sp>
      <p:sp>
        <p:nvSpPr>
          <p:cNvPr id="20" name="Text 18"/>
          <p:cNvSpPr txBox="1"/>
          <p:nvPr/>
        </p:nvSpPr>
        <p:spPr>
          <a:xfrm>
            <a:off x="822960" y="2651760"/>
            <a:ext cx="4846320" cy="18288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6202E"/>
                </a:solidFill>
                <a:latin typeface="Calibri" pitchFamily="34" charset="0"/>
                <a:ea typeface="Calibri" pitchFamily="34" charset="-122"/>
                <a:cs typeface="Calibri" pitchFamily="34" charset="-120"/>
              </a:rPr>
              <a:t>The app extracts relative power in five bands from the raw recording, per channel. The bands are delta, theta, alpha, beta and gamma.</a:t>
            </a:r>
            <a:endParaRPr lang="en-US" sz="1200" dirty="0"/>
          </a:p>
          <a:p>
            <a:pPr marL="342900" indent="-342900">
              <a:spcAft>
                <a:spcPts val="800"/>
              </a:spcAft>
              <a:buSzPct val="100000"/>
              <a:buChar char="•"/>
            </a:pPr>
            <a:r>
              <a:rPr lang="en-US" sz="1200" dirty="0">
                <a:solidFill>
                  <a:srgbClr val="16202E"/>
                </a:solidFill>
                <a:latin typeface="Calibri" pitchFamily="34" charset="0"/>
                <a:ea typeface="Calibri" pitchFamily="34" charset="-122"/>
                <a:cs typeface="Calibri" pitchFamily="34" charset="-120"/>
              </a:rPr>
              <a:t>Two slowing ratios show the Alzheimer's signature. Slow-wave power increases relative to alpha power.</a:t>
            </a:r>
            <a:endParaRPr lang="en-US" sz="1200" dirty="0"/>
          </a:p>
          <a:p>
            <a:pPr marL="342900" indent="-342900">
              <a:spcAft>
                <a:spcPts val="800"/>
              </a:spcAft>
              <a:buSzPct val="100000"/>
              <a:buChar char="•"/>
            </a:pPr>
            <a:r>
              <a:rPr lang="en-US" sz="1200" dirty="0">
                <a:solidFill>
                  <a:srgbClr val="16202E"/>
                </a:solidFill>
                <a:latin typeface="Calibri" pitchFamily="34" charset="0"/>
                <a:ea typeface="Calibri" pitchFamily="34" charset="-122"/>
                <a:cs typeface="Calibri" pitchFamily="34" charset="-120"/>
              </a:rPr>
              <a:t>Every feature has a physiological name, so each input has a meaning that a neurologist already uses.</a:t>
            </a:r>
            <a:endParaRPr lang="en-US" sz="1200" dirty="0"/>
          </a:p>
        </p:txBody>
      </p:sp>
      <p:sp>
        <p:nvSpPr>
          <p:cNvPr id="21" name="Shape 19"/>
          <p:cNvSpPr/>
          <p:nvPr/>
        </p:nvSpPr>
        <p:spPr>
          <a:xfrm>
            <a:off x="6263640" y="2148840"/>
            <a:ext cx="5394960" cy="2286000"/>
          </a:xfrm>
          <a:prstGeom prst="roundRect">
            <a:avLst>
              <a:gd name="adj" fmla="val 3200"/>
            </a:avLst>
          </a:prstGeom>
          <a:solidFill>
            <a:srgbClr val="F2F5FA"/>
          </a:solidFill>
          <a:ln w="12700">
            <a:solidFill>
              <a:srgbClr val="F2F5FA"/>
            </a:solidFill>
            <a:prstDash val="solid"/>
          </a:ln>
        </p:spPr>
      </p:sp>
      <p:sp>
        <p:nvSpPr>
          <p:cNvPr id="22" name="Text 20"/>
          <p:cNvSpPr txBox="1"/>
          <p:nvPr/>
        </p:nvSpPr>
        <p:spPr>
          <a:xfrm>
            <a:off x="6537960" y="2286000"/>
            <a:ext cx="4846320" cy="274320"/>
          </a:xfrm>
          <a:prstGeom prst="rect">
            <a:avLst/>
          </a:prstGeom>
          <a:noFill/>
          <a:ln/>
        </p:spPr>
        <p:txBody>
          <a:bodyPr wrap="square" lIns="0" tIns="0" rIns="0" bIns="0" rtlCol="0" anchor="ctr"/>
          <a:lstStyle/>
          <a:p>
            <a:pPr indent="0" marL="0">
              <a:buNone/>
            </a:pPr>
            <a:r>
              <a:rPr lang="en-US" sz="1450" b="1" dirty="0">
                <a:solidFill>
                  <a:srgbClr val="1B5FA8"/>
                </a:solidFill>
                <a:latin typeface="Calibri" pitchFamily="34" charset="0"/>
                <a:ea typeface="Calibri" pitchFamily="34" charset="-122"/>
                <a:cs typeface="Calibri" pitchFamily="34" charset="-120"/>
              </a:rPr>
              <a:t>What the clinician gets back</a:t>
            </a:r>
            <a:endParaRPr lang="en-US" sz="1450" dirty="0"/>
          </a:p>
        </p:txBody>
      </p:sp>
      <p:sp>
        <p:nvSpPr>
          <p:cNvPr id="23" name="Text 21"/>
          <p:cNvSpPr txBox="1"/>
          <p:nvPr/>
        </p:nvSpPr>
        <p:spPr>
          <a:xfrm>
            <a:off x="6537960" y="2651760"/>
            <a:ext cx="4846320" cy="18288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6202E"/>
                </a:solidFill>
                <a:latin typeface="Calibri" pitchFamily="34" charset="0"/>
                <a:ea typeface="Calibri" pitchFamily="34" charset="-122"/>
                <a:cs typeface="Calibri" pitchFamily="34" charset="-120"/>
              </a:rPr>
              <a:t>The app shows the contribution of each band to the score. The result decomposes by frequency, and does not arrive as one gauge.</a:t>
            </a:r>
            <a:endParaRPr lang="en-US" sz="1200" dirty="0"/>
          </a:p>
          <a:p>
            <a:pPr marL="342900" indent="-342900">
              <a:spcAft>
                <a:spcPts val="800"/>
              </a:spcAft>
              <a:buSzPct val="100000"/>
              <a:buChar char="•"/>
            </a:pPr>
            <a:r>
              <a:rPr lang="en-US" sz="1200" dirty="0">
                <a:solidFill>
                  <a:srgbClr val="16202E"/>
                </a:solidFill>
                <a:latin typeface="Calibri" pitchFamily="34" charset="0"/>
                <a:ea typeface="Calibri" pitchFamily="34" charset="-122"/>
                <a:cs typeface="Calibri" pitchFamily="34" charset="-120"/>
              </a:rPr>
              <a:t>The app plots relative band power against a healthy cohort and an AD cohort.</a:t>
            </a:r>
            <a:endParaRPr lang="en-US" sz="1200" dirty="0"/>
          </a:p>
          <a:p>
            <a:pPr marL="342900" indent="-342900">
              <a:spcAft>
                <a:spcPts val="800"/>
              </a:spcAft>
              <a:buSzPct val="100000"/>
              <a:buChar char="•"/>
            </a:pPr>
            <a:r>
              <a:rPr lang="en-US" sz="1200" dirty="0">
                <a:solidFill>
                  <a:srgbClr val="16202E"/>
                </a:solidFill>
                <a:latin typeface="Calibri" pitchFamily="34" charset="0"/>
                <a:ea typeface="Calibri" pitchFamily="34" charset="-122"/>
                <a:cs typeface="Calibri" pitchFamily="34" charset="-120"/>
              </a:rPr>
              <a:t>A scalp topography map shows where the slowing is strongest. The clinician gets a channel-by-channel picture, and not one number.</a:t>
            </a:r>
            <a:endParaRPr lang="en-US" sz="1200" dirty="0"/>
          </a:p>
        </p:txBody>
      </p:sp>
      <p:sp>
        <p:nvSpPr>
          <p:cNvPr id="24" name="Shape 22"/>
          <p:cNvSpPr/>
          <p:nvPr/>
        </p:nvSpPr>
        <p:spPr>
          <a:xfrm>
            <a:off x="548640" y="4709160"/>
            <a:ext cx="11109960" cy="822960"/>
          </a:xfrm>
          <a:prstGeom prst="roundRect">
            <a:avLst>
              <a:gd name="adj" fmla="val 6667"/>
            </a:avLst>
          </a:prstGeom>
          <a:solidFill>
            <a:srgbClr val="FFF6E9"/>
          </a:solidFill>
          <a:ln w="12700">
            <a:solidFill>
              <a:srgbClr val="F2952B"/>
            </a:solidFill>
            <a:prstDash val="solid"/>
          </a:ln>
        </p:spPr>
      </p:sp>
      <p:sp>
        <p:nvSpPr>
          <p:cNvPr id="25" name="Text 23"/>
          <p:cNvSpPr txBox="1"/>
          <p:nvPr/>
        </p:nvSpPr>
        <p:spPr>
          <a:xfrm>
            <a:off x="713232" y="4745736"/>
            <a:ext cx="10780776" cy="74980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The model uses ds004504 (OpenNeuro / AHEPA resting-state EEG, n = 65). These are real recordings, and not synthetic data. EEG holds information that the chart and the scan do not contain.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01752"/>
            <a:ext cx="8229600" cy="237744"/>
          </a:xfrm>
          <a:prstGeom prst="rect">
            <a:avLst/>
          </a:prstGeom>
          <a:noFill/>
          <a:ln/>
        </p:spPr>
        <p:txBody>
          <a:bodyPr wrap="square" lIns="0" tIns="0" rIns="0" bIns="0" rtlCol="0" anchor="ctr"/>
          <a:lstStyle/>
          <a:p>
            <a:pPr indent="0" marL="0">
              <a:buNone/>
            </a:pPr>
            <a:r>
              <a:rPr lang="en-US" sz="1100" b="1" spc="200" kern="0" dirty="0">
                <a:solidFill>
                  <a:srgbClr val="2E9BD6"/>
                </a:solidFill>
                <a:latin typeface="Calibri" pitchFamily="34" charset="0"/>
                <a:ea typeface="Calibri" pitchFamily="34" charset="-122"/>
                <a:cs typeface="Calibri" pitchFamily="34" charset="-120"/>
              </a:rPr>
              <a:t>THE FUSION LAYER</a:t>
            </a:r>
            <a:endParaRPr lang="en-US" sz="1100" dirty="0"/>
          </a:p>
        </p:txBody>
      </p:sp>
      <p:sp>
        <p:nvSpPr>
          <p:cNvPr id="3" name="Text 1"/>
          <p:cNvSpPr txBox="1"/>
          <p:nvPr/>
        </p:nvSpPr>
        <p:spPr>
          <a:xfrm>
            <a:off x="548640" y="548640"/>
            <a:ext cx="10241280" cy="685800"/>
          </a:xfrm>
          <a:prstGeom prst="rect">
            <a:avLst/>
          </a:prstGeom>
          <a:noFill/>
          <a:ln/>
        </p:spPr>
        <p:txBody>
          <a:bodyPr wrap="square" lIns="0" tIns="0" rIns="0" bIns="0" rtlCol="0" anchor="t"/>
          <a:lstStyle/>
          <a:p>
            <a:pPr indent="0" marL="0">
              <a:buNone/>
            </a:pPr>
            <a:r>
              <a:rPr lang="en-US" sz="3000" b="1" dirty="0">
                <a:solidFill>
                  <a:srgbClr val="16202E"/>
                </a:solidFill>
                <a:latin typeface="Calibri" pitchFamily="34" charset="0"/>
                <a:ea typeface="Calibri" pitchFamily="34" charset="-122"/>
                <a:cs typeface="Calibri" pitchFamily="34" charset="-120"/>
              </a:rPr>
              <a:t>Integration — one prognosis from three opinions</a:t>
            </a:r>
            <a:endParaRPr lang="en-US" sz="3000" dirty="0"/>
          </a:p>
        </p:txBody>
      </p:sp>
      <p:sp>
        <p:nvSpPr>
          <p:cNvPr id="4" name="Shape 2"/>
          <p:cNvSpPr/>
          <p:nvPr/>
        </p:nvSpPr>
        <p:spPr>
          <a:xfrm>
            <a:off x="548640" y="1371600"/>
            <a:ext cx="11109960" cy="1051560"/>
          </a:xfrm>
          <a:prstGeom prst="roundRect">
            <a:avLst>
              <a:gd name="adj" fmla="val 5217"/>
            </a:avLst>
          </a:prstGeom>
          <a:solidFill>
            <a:srgbClr val="0E1B2E"/>
          </a:solidFill>
          <a:ln w="12700">
            <a:solidFill>
              <a:srgbClr val="0E1B2E"/>
            </a:solidFill>
            <a:prstDash val="solid"/>
          </a:ln>
        </p:spPr>
      </p:sp>
      <p:sp>
        <p:nvSpPr>
          <p:cNvPr id="5" name="Text 3"/>
          <p:cNvSpPr txBox="1"/>
          <p:nvPr/>
        </p:nvSpPr>
        <p:spPr>
          <a:xfrm>
            <a:off x="822960" y="1481328"/>
            <a:ext cx="5943600" cy="274320"/>
          </a:xfrm>
          <a:prstGeom prst="rect">
            <a:avLst/>
          </a:prstGeom>
          <a:noFill/>
          <a:ln/>
        </p:spPr>
        <p:txBody>
          <a:bodyPr wrap="square" lIns="0" tIns="0" rIns="0" bIns="0" rtlCol="0" anchor="ctr"/>
          <a:lstStyle/>
          <a:p>
            <a:pPr indent="0" marL="0">
              <a:buNone/>
            </a:pPr>
            <a:r>
              <a:rPr lang="en-US" sz="1200" b="1" dirty="0">
                <a:solidFill>
                  <a:srgbClr val="2E9BD6"/>
                </a:solidFill>
                <a:latin typeface="Calibri" pitchFamily="34" charset="0"/>
                <a:ea typeface="Calibri" pitchFamily="34" charset="-122"/>
                <a:cs typeface="Calibri" pitchFamily="34" charset="-120"/>
              </a:rPr>
              <a:t>Logarithmic opinion pool — a weighted average in log-odds space</a:t>
            </a:r>
            <a:endParaRPr lang="en-US" sz="1200" dirty="0"/>
          </a:p>
        </p:txBody>
      </p:sp>
      <p:sp>
        <p:nvSpPr>
          <p:cNvPr id="6" name="Text 4"/>
          <p:cNvSpPr txBox="1"/>
          <p:nvPr/>
        </p:nvSpPr>
        <p:spPr>
          <a:xfrm>
            <a:off x="822960" y="1810512"/>
            <a:ext cx="10515600" cy="45720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logit(P_fused) = ( Σ rᵢ · logit(pᵢ) ) / ( Σ rᵢ )        P_fused = sigmoid( logit(P_fused) )</a:t>
            </a:r>
            <a:endParaRPr lang="en-US" sz="1300" dirty="0"/>
          </a:p>
        </p:txBody>
      </p:sp>
      <p:sp>
        <p:nvSpPr>
          <p:cNvPr id="7" name="Shape 5"/>
          <p:cNvSpPr/>
          <p:nvPr/>
        </p:nvSpPr>
        <p:spPr>
          <a:xfrm>
            <a:off x="548640" y="2651760"/>
            <a:ext cx="3547872" cy="2148840"/>
          </a:xfrm>
          <a:prstGeom prst="roundRect">
            <a:avLst>
              <a:gd name="adj" fmla="val 3404"/>
            </a:avLst>
          </a:prstGeom>
          <a:solidFill>
            <a:srgbClr val="F2F5FA"/>
          </a:solidFill>
          <a:ln w="12700">
            <a:solidFill>
              <a:srgbClr val="F2F5FA"/>
            </a:solidFill>
            <a:prstDash val="solid"/>
          </a:ln>
        </p:spPr>
      </p:sp>
      <p:sp>
        <p:nvSpPr>
          <p:cNvPr id="8" name="Shape 6"/>
          <p:cNvSpPr/>
          <p:nvPr/>
        </p:nvSpPr>
        <p:spPr>
          <a:xfrm>
            <a:off x="777240" y="2788920"/>
            <a:ext cx="310896" cy="310896"/>
          </a:xfrm>
          <a:prstGeom prst="roundRect">
            <a:avLst>
              <a:gd name="adj" fmla="val 50000"/>
            </a:avLst>
          </a:prstGeom>
          <a:solidFill>
            <a:srgbClr val="1B5FA8"/>
          </a:solidFill>
          <a:ln w="12700">
            <a:solidFill>
              <a:srgbClr val="1B5FA8"/>
            </a:solidFill>
            <a:prstDash val="solid"/>
          </a:ln>
        </p:spPr>
      </p:sp>
      <p:sp>
        <p:nvSpPr>
          <p:cNvPr id="9" name="Text 7"/>
          <p:cNvSpPr txBox="1"/>
          <p:nvPr/>
        </p:nvSpPr>
        <p:spPr>
          <a:xfrm>
            <a:off x="777240" y="278892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188720" y="2788920"/>
            <a:ext cx="2788920" cy="310896"/>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No invented anchors</a:t>
            </a:r>
            <a:endParaRPr lang="en-US" sz="1350" dirty="0"/>
          </a:p>
        </p:txBody>
      </p:sp>
      <p:sp>
        <p:nvSpPr>
          <p:cNvPr id="11" name="Text 9"/>
          <p:cNvSpPr txBox="1"/>
          <p:nvPr/>
        </p:nvSpPr>
        <p:spPr>
          <a:xfrm>
            <a:off x="777240" y="3200400"/>
            <a:ext cx="3108960" cy="1508760"/>
          </a:xfrm>
          <a:prstGeom prst="rect">
            <a:avLst/>
          </a:prstGeom>
          <a:noFill/>
          <a:ln/>
        </p:spPr>
        <p:txBody>
          <a:bodyPr wrap="square" lIns="0" tIns="0" rIns="0" bIns="0" rtlCol="0" anchor="t"/>
          <a:lstStyle/>
          <a:p>
            <a:pPr indent="0" marL="0">
              <a:lnSpc>
                <a:spcPct val="110000"/>
              </a:lnSpc>
              <a:buNone/>
            </a:pPr>
            <a:r>
              <a:rPr lang="en-US" sz="1100" dirty="0">
                <a:solidFill>
                  <a:srgbClr val="16202E"/>
                </a:solidFill>
                <a:latin typeface="Calibri" pitchFamily="34" charset="0"/>
                <a:ea typeface="Calibri" pitchFamily="34" charset="-122"/>
                <a:cs typeface="Calibri" pitchFamily="34" charset="-120"/>
              </a:rPr>
              <a:t>An earlier draft used fixed linear weights and invented severity midpoints. These constants had no basis in data. The pool uses the posterior of each modality directly.</a:t>
            </a:r>
            <a:endParaRPr lang="en-US" sz="1100" dirty="0"/>
          </a:p>
        </p:txBody>
      </p:sp>
      <p:sp>
        <p:nvSpPr>
          <p:cNvPr id="12" name="Shape 10"/>
          <p:cNvSpPr/>
          <p:nvPr/>
        </p:nvSpPr>
        <p:spPr>
          <a:xfrm>
            <a:off x="4325112" y="2651760"/>
            <a:ext cx="3547872" cy="2148840"/>
          </a:xfrm>
          <a:prstGeom prst="roundRect">
            <a:avLst>
              <a:gd name="adj" fmla="val 3404"/>
            </a:avLst>
          </a:prstGeom>
          <a:solidFill>
            <a:srgbClr val="F2F5FA"/>
          </a:solidFill>
          <a:ln w="12700">
            <a:solidFill>
              <a:srgbClr val="F2F5FA"/>
            </a:solidFill>
            <a:prstDash val="solid"/>
          </a:ln>
        </p:spPr>
      </p:sp>
      <p:sp>
        <p:nvSpPr>
          <p:cNvPr id="13" name="Shape 11"/>
          <p:cNvSpPr/>
          <p:nvPr/>
        </p:nvSpPr>
        <p:spPr>
          <a:xfrm>
            <a:off x="4553712" y="2788920"/>
            <a:ext cx="310896" cy="310896"/>
          </a:xfrm>
          <a:prstGeom prst="roundRect">
            <a:avLst>
              <a:gd name="adj" fmla="val 50000"/>
            </a:avLst>
          </a:prstGeom>
          <a:solidFill>
            <a:srgbClr val="2E9BD6"/>
          </a:solidFill>
          <a:ln w="12700">
            <a:solidFill>
              <a:srgbClr val="2E9BD6"/>
            </a:solidFill>
            <a:prstDash val="solid"/>
          </a:ln>
        </p:spPr>
      </p:sp>
      <p:sp>
        <p:nvSpPr>
          <p:cNvPr id="14" name="Text 12"/>
          <p:cNvSpPr txBox="1"/>
          <p:nvPr/>
        </p:nvSpPr>
        <p:spPr>
          <a:xfrm>
            <a:off x="4553712" y="278892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4965192" y="2788920"/>
            <a:ext cx="2788920" cy="310896"/>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Confidence does the weighting</a:t>
            </a:r>
            <a:endParaRPr lang="en-US" sz="1350" dirty="0"/>
          </a:p>
        </p:txBody>
      </p:sp>
      <p:sp>
        <p:nvSpPr>
          <p:cNvPr id="16" name="Text 14"/>
          <p:cNvSpPr txBox="1"/>
          <p:nvPr/>
        </p:nvSpPr>
        <p:spPr>
          <a:xfrm>
            <a:off x="4553712" y="3200400"/>
            <a:ext cx="3108960" cy="1508760"/>
          </a:xfrm>
          <a:prstGeom prst="rect">
            <a:avLst/>
          </a:prstGeom>
          <a:noFill/>
          <a:ln/>
        </p:spPr>
        <p:txBody>
          <a:bodyPr wrap="square" lIns="0" tIns="0" rIns="0" bIns="0" rtlCol="0" anchor="t"/>
          <a:lstStyle/>
          <a:p>
            <a:pPr indent="0" marL="0">
              <a:lnSpc>
                <a:spcPct val="110000"/>
              </a:lnSpc>
              <a:buNone/>
            </a:pPr>
            <a:r>
              <a:rPr lang="en-US" sz="1100" dirty="0">
                <a:solidFill>
                  <a:srgbClr val="16202E"/>
                </a:solidFill>
                <a:latin typeface="Calibri" pitchFamily="34" charset="0"/>
                <a:ea typeface="Calibri" pitchFamily="34" charset="-122"/>
                <a:cs typeface="Calibri" pitchFamily="34" charset="-120"/>
              </a:rPr>
              <a:t>In log-odds space, a modality near p ≈ 0.5 has a logit near 0 and moves the result very little. A confident modality moves the pooled result strongly. The rank comes from the evidence, and not from a fixed constant.</a:t>
            </a:r>
            <a:endParaRPr lang="en-US" sz="1100" dirty="0"/>
          </a:p>
        </p:txBody>
      </p:sp>
      <p:sp>
        <p:nvSpPr>
          <p:cNvPr id="17" name="Shape 15"/>
          <p:cNvSpPr/>
          <p:nvPr/>
        </p:nvSpPr>
        <p:spPr>
          <a:xfrm>
            <a:off x="8101584" y="2651760"/>
            <a:ext cx="3547872" cy="2148840"/>
          </a:xfrm>
          <a:prstGeom prst="roundRect">
            <a:avLst>
              <a:gd name="adj" fmla="val 3404"/>
            </a:avLst>
          </a:prstGeom>
          <a:solidFill>
            <a:srgbClr val="F2F5FA"/>
          </a:solidFill>
          <a:ln w="12700">
            <a:solidFill>
              <a:srgbClr val="F2F5FA"/>
            </a:solidFill>
            <a:prstDash val="solid"/>
          </a:ln>
        </p:spPr>
      </p:sp>
      <p:sp>
        <p:nvSpPr>
          <p:cNvPr id="18" name="Shape 16"/>
          <p:cNvSpPr/>
          <p:nvPr/>
        </p:nvSpPr>
        <p:spPr>
          <a:xfrm>
            <a:off x="8330184" y="2788920"/>
            <a:ext cx="310896" cy="310896"/>
          </a:xfrm>
          <a:prstGeom prst="roundRect">
            <a:avLst>
              <a:gd name="adj" fmla="val 50000"/>
            </a:avLst>
          </a:prstGeom>
          <a:solidFill>
            <a:srgbClr val="F2952B"/>
          </a:solidFill>
          <a:ln w="12700">
            <a:solidFill>
              <a:srgbClr val="F2952B"/>
            </a:solidFill>
            <a:prstDash val="solid"/>
          </a:ln>
        </p:spPr>
      </p:sp>
      <p:sp>
        <p:nvSpPr>
          <p:cNvPr id="19" name="Text 17"/>
          <p:cNvSpPr txBox="1"/>
          <p:nvPr/>
        </p:nvSpPr>
        <p:spPr>
          <a:xfrm>
            <a:off x="8330184" y="278892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8741664" y="2788920"/>
            <a:ext cx="2788920" cy="310896"/>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One calibration parameter</a:t>
            </a:r>
            <a:endParaRPr lang="en-US" sz="1350" dirty="0"/>
          </a:p>
        </p:txBody>
      </p:sp>
      <p:sp>
        <p:nvSpPr>
          <p:cNvPr id="21" name="Text 19"/>
          <p:cNvSpPr txBox="1"/>
          <p:nvPr/>
        </p:nvSpPr>
        <p:spPr>
          <a:xfrm>
            <a:off x="8330184" y="3200400"/>
            <a:ext cx="3108960" cy="1508760"/>
          </a:xfrm>
          <a:prstGeom prst="rect">
            <a:avLst/>
          </a:prstGeom>
          <a:noFill/>
          <a:ln/>
        </p:spPr>
        <p:txBody>
          <a:bodyPr wrap="square" lIns="0" tIns="0" rIns="0" bIns="0" rtlCol="0" anchor="t"/>
          <a:lstStyle/>
          <a:p>
            <a:pPr indent="0" marL="0">
              <a:lnSpc>
                <a:spcPct val="110000"/>
              </a:lnSpc>
              <a:buNone/>
            </a:pPr>
            <a:r>
              <a:rPr lang="en-US" sz="1100" dirty="0">
                <a:solidFill>
                  <a:srgbClr val="16202E"/>
                </a:solidFill>
                <a:latin typeface="Calibri" pitchFamily="34" charset="0"/>
                <a:ea typeface="Calibri" pitchFamily="34" charset="-122"/>
                <a:cs typeface="Calibri" pitchFamily="34" charset="-120"/>
              </a:rPr>
              <a:t>The reliability weights rᵢ are 1.0 for every modality. We do not tune them, because no paired multimodal validation set exists. An increase to one weight is an assumption, and not a result.</a:t>
            </a:r>
            <a:endParaRPr lang="en-US" sz="1100" dirty="0"/>
          </a:p>
        </p:txBody>
      </p:sp>
      <p:sp>
        <p:nvSpPr>
          <p:cNvPr id="22" name="Shape 20"/>
          <p:cNvSpPr/>
          <p:nvPr/>
        </p:nvSpPr>
        <p:spPr>
          <a:xfrm>
            <a:off x="548640" y="4983480"/>
            <a:ext cx="7223760" cy="914400"/>
          </a:xfrm>
          <a:prstGeom prst="roundRect">
            <a:avLst>
              <a:gd name="adj" fmla="val 8000"/>
            </a:avLst>
          </a:prstGeom>
          <a:solidFill>
            <a:srgbClr val="E7EEF7"/>
          </a:solidFill>
          <a:ln w="12700">
            <a:solidFill>
              <a:srgbClr val="E7EEF7"/>
            </a:solidFill>
            <a:prstDash val="solid"/>
          </a:ln>
        </p:spPr>
      </p:sp>
      <p:sp>
        <p:nvSpPr>
          <p:cNvPr id="23" name="Text 21"/>
          <p:cNvSpPr txBox="1"/>
          <p:nvPr/>
        </p:nvSpPr>
        <p:spPr>
          <a:xfrm>
            <a:off x="777240" y="5084064"/>
            <a:ext cx="2743200" cy="256032"/>
          </a:xfrm>
          <a:prstGeom prst="rect">
            <a:avLst/>
          </a:prstGeom>
          <a:noFill/>
          <a:ln/>
        </p:spPr>
        <p:txBody>
          <a:bodyPr wrap="square" lIns="0" tIns="0" rIns="0" bIns="0" rtlCol="0" anchor="ctr"/>
          <a:lstStyle/>
          <a:p>
            <a:pPr indent="0" marL="0">
              <a:buNone/>
            </a:pPr>
            <a:r>
              <a:rPr lang="en-US" sz="1200" b="1" dirty="0">
                <a:solidFill>
                  <a:srgbClr val="1B5FA8"/>
                </a:solidFill>
                <a:latin typeface="Calibri" pitchFamily="34" charset="0"/>
                <a:ea typeface="Calibri" pitchFamily="34" charset="-122"/>
                <a:cs typeface="Calibri" pitchFamily="34" charset="-120"/>
              </a:rPr>
              <a:t>One modality only</a:t>
            </a:r>
            <a:endParaRPr lang="en-US" sz="1200" dirty="0"/>
          </a:p>
        </p:txBody>
      </p:sp>
      <p:sp>
        <p:nvSpPr>
          <p:cNvPr id="24" name="Text 22"/>
          <p:cNvSpPr txBox="1"/>
          <p:nvPr/>
        </p:nvSpPr>
        <p:spPr>
          <a:xfrm>
            <a:off x="777240" y="5349240"/>
            <a:ext cx="6766560" cy="457200"/>
          </a:xfrm>
          <a:prstGeom prst="rect">
            <a:avLst/>
          </a:prstGeom>
          <a:noFill/>
          <a:ln/>
        </p:spPr>
        <p:txBody>
          <a:bodyPr wrap="square" lIns="0" tIns="0" rIns="0" bIns="0" rtlCol="0" anchor="ctr"/>
          <a:lstStyle/>
          <a:p>
            <a:pPr indent="0" marL="0">
              <a:buNone/>
            </a:pPr>
            <a:r>
              <a:rPr lang="en-US" sz="1100" dirty="0">
                <a:solidFill>
                  <a:srgbClr val="16202E"/>
                </a:solidFill>
                <a:latin typeface="Calibri" pitchFamily="34" charset="0"/>
                <a:ea typeface="Calibri" pitchFamily="34" charset="-122"/>
                <a:cs typeface="Calibri" pitchFamily="34" charset="-120"/>
              </a:rPr>
              <a:t>With one modality present, P_fused is equal to the probability of that modality. This is by design, so the Overview tile still has a meaning after one assessment.</a:t>
            </a:r>
            <a:endParaRPr lang="en-US" sz="1100" dirty="0"/>
          </a:p>
        </p:txBody>
      </p:sp>
      <p:sp>
        <p:nvSpPr>
          <p:cNvPr id="25" name="Shape 23"/>
          <p:cNvSpPr/>
          <p:nvPr/>
        </p:nvSpPr>
        <p:spPr>
          <a:xfrm>
            <a:off x="8092440" y="4983480"/>
            <a:ext cx="3566160" cy="914400"/>
          </a:xfrm>
          <a:prstGeom prst="roundRect">
            <a:avLst>
              <a:gd name="adj" fmla="val 8000"/>
            </a:avLst>
          </a:prstGeom>
          <a:solidFill>
            <a:srgbClr val="E7EEF7"/>
          </a:solidFill>
          <a:ln w="12700">
            <a:solidFill>
              <a:srgbClr val="E7EEF7"/>
            </a:solidFill>
            <a:prstDash val="solid"/>
          </a:ln>
        </p:spPr>
      </p:sp>
      <p:sp>
        <p:nvSpPr>
          <p:cNvPr id="26" name="Text 24"/>
          <p:cNvSpPr txBox="1"/>
          <p:nvPr/>
        </p:nvSpPr>
        <p:spPr>
          <a:xfrm>
            <a:off x="8321040" y="5084064"/>
            <a:ext cx="3108960" cy="256032"/>
          </a:xfrm>
          <a:prstGeom prst="rect">
            <a:avLst/>
          </a:prstGeom>
          <a:noFill/>
          <a:ln/>
        </p:spPr>
        <p:txBody>
          <a:bodyPr wrap="square" lIns="0" tIns="0" rIns="0" bIns="0" rtlCol="0" anchor="ctr"/>
          <a:lstStyle/>
          <a:p>
            <a:pPr indent="0" marL="0">
              <a:buNone/>
            </a:pPr>
            <a:r>
              <a:rPr lang="en-US" sz="1200" b="1" dirty="0">
                <a:solidFill>
                  <a:srgbClr val="1B5FA8"/>
                </a:solidFill>
                <a:latin typeface="Calibri" pitchFamily="34" charset="0"/>
                <a:ea typeface="Calibri" pitchFamily="34" charset="-122"/>
                <a:cs typeface="Calibri" pitchFamily="34" charset="-120"/>
              </a:rPr>
              <a:t>Standard, citable method</a:t>
            </a:r>
            <a:endParaRPr lang="en-US" sz="1200" dirty="0"/>
          </a:p>
        </p:txBody>
      </p:sp>
      <p:sp>
        <p:nvSpPr>
          <p:cNvPr id="27" name="Text 25"/>
          <p:cNvSpPr txBox="1"/>
          <p:nvPr/>
        </p:nvSpPr>
        <p:spPr>
          <a:xfrm>
            <a:off x="8321040" y="5349240"/>
            <a:ext cx="3108960" cy="457200"/>
          </a:xfrm>
          <a:prstGeom prst="rect">
            <a:avLst/>
          </a:prstGeom>
          <a:noFill/>
          <a:ln/>
        </p:spPr>
        <p:txBody>
          <a:bodyPr wrap="square" lIns="0" tIns="0" rIns="0" bIns="0" rtlCol="0" anchor="ctr"/>
          <a:lstStyle/>
          <a:p>
            <a:pPr indent="0" marL="0">
              <a:buNone/>
            </a:pPr>
            <a:r>
              <a:rPr lang="en-US" sz="1050" dirty="0">
                <a:solidFill>
                  <a:srgbClr val="5C6B7F"/>
                </a:solidFill>
                <a:latin typeface="Calibri" pitchFamily="34" charset="0"/>
                <a:ea typeface="Calibri" pitchFamily="34" charset="-122"/>
                <a:cs typeface="Calibri" pitchFamily="34" charset="-120"/>
              </a:rPr>
              <a:t>Genest &amp; Zidek, Statistical Science (1986)</a:t>
            </a:r>
            <a:endParaRPr lang="en-US" sz="1050" dirty="0"/>
          </a:p>
          <a:p>
            <a:pPr indent="0" marL="0">
              <a:buNone/>
            </a:pPr>
            <a:r>
              <a:rPr lang="en-US" sz="1050" dirty="0">
                <a:solidFill>
                  <a:srgbClr val="5C6B7F"/>
                </a:solidFill>
                <a:latin typeface="Calibri" pitchFamily="34" charset="0"/>
                <a:ea typeface="Calibri" pitchFamily="34" charset="-122"/>
                <a:cs typeface="Calibri" pitchFamily="34" charset="-120"/>
              </a:rPr>
              <a:t>Kittler et al., IEEE TPAMI (1998)</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01752"/>
            <a:ext cx="8229600" cy="237744"/>
          </a:xfrm>
          <a:prstGeom prst="rect">
            <a:avLst/>
          </a:prstGeom>
          <a:noFill/>
          <a:ln/>
        </p:spPr>
        <p:txBody>
          <a:bodyPr wrap="square" lIns="0" tIns="0" rIns="0" bIns="0" rtlCol="0" anchor="ctr"/>
          <a:lstStyle/>
          <a:p>
            <a:pPr indent="0" marL="0">
              <a:buNone/>
            </a:pPr>
            <a:r>
              <a:rPr lang="en-US" sz="1100" b="1" spc="200" kern="0" dirty="0">
                <a:solidFill>
                  <a:srgbClr val="2E9BD6"/>
                </a:solidFill>
                <a:latin typeface="Calibri" pitchFamily="34" charset="0"/>
                <a:ea typeface="Calibri" pitchFamily="34" charset="-122"/>
                <a:cs typeface="Calibri" pitchFamily="34" charset="-120"/>
              </a:rPr>
              <a:t>EXPLAINABILITY ON TOP</a:t>
            </a:r>
            <a:endParaRPr lang="en-US" sz="1100" dirty="0"/>
          </a:p>
        </p:txBody>
      </p:sp>
      <p:sp>
        <p:nvSpPr>
          <p:cNvPr id="3" name="Text 1"/>
          <p:cNvSpPr txBox="1"/>
          <p:nvPr/>
        </p:nvSpPr>
        <p:spPr>
          <a:xfrm>
            <a:off x="548640" y="548640"/>
            <a:ext cx="10241280" cy="685800"/>
          </a:xfrm>
          <a:prstGeom prst="rect">
            <a:avLst/>
          </a:prstGeom>
          <a:noFill/>
          <a:ln/>
        </p:spPr>
        <p:txBody>
          <a:bodyPr wrap="square" lIns="0" tIns="0" rIns="0" bIns="0" rtlCol="0" anchor="t"/>
          <a:lstStyle/>
          <a:p>
            <a:pPr indent="0" marL="0">
              <a:buNone/>
            </a:pPr>
            <a:r>
              <a:rPr lang="en-US" sz="3000" b="1" dirty="0">
                <a:solidFill>
                  <a:srgbClr val="16202E"/>
                </a:solidFill>
                <a:latin typeface="Calibri" pitchFamily="34" charset="0"/>
                <a:ea typeface="Calibri" pitchFamily="34" charset="-122"/>
                <a:cs typeface="Calibri" pitchFamily="34" charset="-120"/>
              </a:rPr>
              <a:t>The narrative layer — it drafts, it does not decide</a:t>
            </a:r>
            <a:endParaRPr lang="en-US" sz="3000" dirty="0"/>
          </a:p>
        </p:txBody>
      </p:sp>
      <p:sp>
        <p:nvSpPr>
          <p:cNvPr id="4" name="Shape 2"/>
          <p:cNvSpPr/>
          <p:nvPr/>
        </p:nvSpPr>
        <p:spPr>
          <a:xfrm>
            <a:off x="548640" y="1463040"/>
            <a:ext cx="5394960" cy="1051560"/>
          </a:xfrm>
          <a:prstGeom prst="roundRect">
            <a:avLst>
              <a:gd name="adj" fmla="val 6957"/>
            </a:avLst>
          </a:prstGeom>
          <a:solidFill>
            <a:srgbClr val="F2F5FA"/>
          </a:solidFill>
          <a:ln w="12700">
            <a:solidFill>
              <a:srgbClr val="F2F5FA"/>
            </a:solidFill>
            <a:prstDash val="solid"/>
          </a:ln>
        </p:spPr>
      </p:sp>
      <p:sp>
        <p:nvSpPr>
          <p:cNvPr id="5" name="Shape 3"/>
          <p:cNvSpPr/>
          <p:nvPr/>
        </p:nvSpPr>
        <p:spPr>
          <a:xfrm>
            <a:off x="749808" y="1609344"/>
            <a:ext cx="310896" cy="310896"/>
          </a:xfrm>
          <a:prstGeom prst="roundRect">
            <a:avLst>
              <a:gd name="adj" fmla="val 50000"/>
            </a:avLst>
          </a:prstGeom>
          <a:solidFill>
            <a:srgbClr val="1B5FA8"/>
          </a:solidFill>
          <a:ln w="12700">
            <a:solidFill>
              <a:srgbClr val="1B5FA8"/>
            </a:solidFill>
            <a:prstDash val="solid"/>
          </a:ln>
        </p:spPr>
      </p:sp>
      <p:sp>
        <p:nvSpPr>
          <p:cNvPr id="6" name="Text 4"/>
          <p:cNvSpPr txBox="1"/>
          <p:nvPr/>
        </p:nvSpPr>
        <p:spPr>
          <a:xfrm>
            <a:off x="749808" y="160934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70432" y="1581912"/>
            <a:ext cx="4572000" cy="274320"/>
          </a:xfrm>
          <a:prstGeom prst="rect">
            <a:avLst/>
          </a:prstGeom>
          <a:noFill/>
          <a:ln/>
        </p:spPr>
        <p:txBody>
          <a:bodyPr wrap="square" lIns="0" tIns="0" rIns="0" bIns="0" rtlCol="0" anchor="ctr"/>
          <a:lstStyle/>
          <a:p>
            <a:pPr indent="0" marL="0">
              <a:buNone/>
            </a:pPr>
            <a:r>
              <a:rPr lang="en-US" sz="1300" b="1" dirty="0">
                <a:solidFill>
                  <a:srgbClr val="16202E"/>
                </a:solidFill>
                <a:latin typeface="Calibri" pitchFamily="34" charset="0"/>
                <a:ea typeface="Calibri" pitchFamily="34" charset="-122"/>
                <a:cs typeface="Calibri" pitchFamily="34" charset="-120"/>
              </a:rPr>
              <a:t>Radiology-style report</a:t>
            </a:r>
            <a:endParaRPr lang="en-US" sz="1300" dirty="0"/>
          </a:p>
        </p:txBody>
      </p:sp>
      <p:sp>
        <p:nvSpPr>
          <p:cNvPr id="8" name="Text 6"/>
          <p:cNvSpPr txBox="1"/>
          <p:nvPr/>
        </p:nvSpPr>
        <p:spPr>
          <a:xfrm>
            <a:off x="1170432" y="1865376"/>
            <a:ext cx="4572000" cy="548640"/>
          </a:xfrm>
          <a:prstGeom prst="rect">
            <a:avLst/>
          </a:prstGeom>
          <a:noFill/>
          <a:ln/>
        </p:spPr>
        <p:txBody>
          <a:bodyPr wrap="square" lIns="0" tIns="0" rIns="0" bIns="0" rtlCol="0" anchor="t"/>
          <a:lstStyle/>
          <a:p>
            <a:pPr indent="0" marL="0">
              <a:lnSpc>
                <a:spcPct val="105000"/>
              </a:lnSpc>
              <a:buNone/>
            </a:pPr>
            <a:r>
              <a:rPr lang="en-US" sz="1100" dirty="0">
                <a:solidFill>
                  <a:srgbClr val="16202E"/>
                </a:solidFill>
                <a:latin typeface="Calibri" pitchFamily="34" charset="0"/>
                <a:ea typeface="Calibri" pitchFamily="34" charset="-122"/>
                <a:cs typeface="Calibri" pitchFamily="34" charset="-120"/>
              </a:rPr>
              <a:t>A vision LLM reads the slice. It writes structured IMPRESSION and FINDINGS text next to the Grad-CAM overlay.</a:t>
            </a:r>
            <a:endParaRPr lang="en-US" sz="1100" dirty="0"/>
          </a:p>
        </p:txBody>
      </p:sp>
      <p:sp>
        <p:nvSpPr>
          <p:cNvPr id="9" name="Shape 7"/>
          <p:cNvSpPr/>
          <p:nvPr/>
        </p:nvSpPr>
        <p:spPr>
          <a:xfrm>
            <a:off x="6263640" y="1463040"/>
            <a:ext cx="5394960" cy="1051560"/>
          </a:xfrm>
          <a:prstGeom prst="roundRect">
            <a:avLst>
              <a:gd name="adj" fmla="val 6957"/>
            </a:avLst>
          </a:prstGeom>
          <a:solidFill>
            <a:srgbClr val="F2F5FA"/>
          </a:solidFill>
          <a:ln w="12700">
            <a:solidFill>
              <a:srgbClr val="F2F5FA"/>
            </a:solidFill>
            <a:prstDash val="solid"/>
          </a:ln>
        </p:spPr>
      </p:sp>
      <p:sp>
        <p:nvSpPr>
          <p:cNvPr id="10" name="Shape 8"/>
          <p:cNvSpPr/>
          <p:nvPr/>
        </p:nvSpPr>
        <p:spPr>
          <a:xfrm>
            <a:off x="6464808" y="1609344"/>
            <a:ext cx="310896" cy="310896"/>
          </a:xfrm>
          <a:prstGeom prst="roundRect">
            <a:avLst>
              <a:gd name="adj" fmla="val 50000"/>
            </a:avLst>
          </a:prstGeom>
          <a:solidFill>
            <a:srgbClr val="2E9BD6"/>
          </a:solidFill>
          <a:ln w="12700">
            <a:solidFill>
              <a:srgbClr val="2E9BD6"/>
            </a:solidFill>
            <a:prstDash val="solid"/>
          </a:ln>
        </p:spPr>
      </p:sp>
      <p:sp>
        <p:nvSpPr>
          <p:cNvPr id="11" name="Text 9"/>
          <p:cNvSpPr txBox="1"/>
          <p:nvPr/>
        </p:nvSpPr>
        <p:spPr>
          <a:xfrm>
            <a:off x="6464808" y="160934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6885432" y="1581912"/>
            <a:ext cx="4572000" cy="274320"/>
          </a:xfrm>
          <a:prstGeom prst="rect">
            <a:avLst/>
          </a:prstGeom>
          <a:noFill/>
          <a:ln/>
        </p:spPr>
        <p:txBody>
          <a:bodyPr wrap="square" lIns="0" tIns="0" rIns="0" bIns="0" rtlCol="0" anchor="ctr"/>
          <a:lstStyle/>
          <a:p>
            <a:pPr indent="0" marL="0">
              <a:buNone/>
            </a:pPr>
            <a:r>
              <a:rPr lang="en-US" sz="1300" b="1" dirty="0">
                <a:solidFill>
                  <a:srgbClr val="16202E"/>
                </a:solidFill>
                <a:latin typeface="Calibri" pitchFamily="34" charset="0"/>
                <a:ea typeface="Calibri" pitchFamily="34" charset="-122"/>
                <a:cs typeface="Calibri" pitchFamily="34" charset="-120"/>
              </a:rPr>
              <a:t>Plain-language EEG readout</a:t>
            </a:r>
            <a:endParaRPr lang="en-US" sz="1300" dirty="0"/>
          </a:p>
        </p:txBody>
      </p:sp>
      <p:sp>
        <p:nvSpPr>
          <p:cNvPr id="13" name="Text 11"/>
          <p:cNvSpPr txBox="1"/>
          <p:nvPr/>
        </p:nvSpPr>
        <p:spPr>
          <a:xfrm>
            <a:off x="6885432" y="1865376"/>
            <a:ext cx="4572000" cy="548640"/>
          </a:xfrm>
          <a:prstGeom prst="rect">
            <a:avLst/>
          </a:prstGeom>
          <a:noFill/>
          <a:ln/>
        </p:spPr>
        <p:txBody>
          <a:bodyPr wrap="square" lIns="0" tIns="0" rIns="0" bIns="0" rtlCol="0" anchor="t"/>
          <a:lstStyle/>
          <a:p>
            <a:pPr indent="0" marL="0">
              <a:lnSpc>
                <a:spcPct val="105000"/>
              </a:lnSpc>
              <a:buNone/>
            </a:pPr>
            <a:r>
              <a:rPr lang="en-US" sz="1100" dirty="0">
                <a:solidFill>
                  <a:srgbClr val="16202E"/>
                </a:solidFill>
                <a:latin typeface="Calibri" pitchFamily="34" charset="0"/>
                <a:ea typeface="Calibri" pitchFamily="34" charset="-122"/>
                <a:cs typeface="Calibri" pitchFamily="34" charset="-120"/>
              </a:rPr>
              <a:t>The app translates the band-power result into the sentence that a neurologist writes. It shows no table of coefficients.</a:t>
            </a:r>
            <a:endParaRPr lang="en-US" sz="1100" dirty="0"/>
          </a:p>
        </p:txBody>
      </p:sp>
      <p:sp>
        <p:nvSpPr>
          <p:cNvPr id="14" name="Shape 12"/>
          <p:cNvSpPr/>
          <p:nvPr/>
        </p:nvSpPr>
        <p:spPr>
          <a:xfrm>
            <a:off x="548640" y="2670048"/>
            <a:ext cx="5394960" cy="1051560"/>
          </a:xfrm>
          <a:prstGeom prst="roundRect">
            <a:avLst>
              <a:gd name="adj" fmla="val 6957"/>
            </a:avLst>
          </a:prstGeom>
          <a:solidFill>
            <a:srgbClr val="F2F5FA"/>
          </a:solidFill>
          <a:ln w="12700">
            <a:solidFill>
              <a:srgbClr val="F2F5FA"/>
            </a:solidFill>
            <a:prstDash val="solid"/>
          </a:ln>
        </p:spPr>
      </p:sp>
      <p:sp>
        <p:nvSpPr>
          <p:cNvPr id="15" name="Shape 13"/>
          <p:cNvSpPr/>
          <p:nvPr/>
        </p:nvSpPr>
        <p:spPr>
          <a:xfrm>
            <a:off x="749808" y="2816352"/>
            <a:ext cx="310896" cy="310896"/>
          </a:xfrm>
          <a:prstGeom prst="roundRect">
            <a:avLst>
              <a:gd name="adj" fmla="val 50000"/>
            </a:avLst>
          </a:prstGeom>
          <a:solidFill>
            <a:srgbClr val="1B5FA8"/>
          </a:solidFill>
          <a:ln w="12700">
            <a:solidFill>
              <a:srgbClr val="1B5FA8"/>
            </a:solidFill>
            <a:prstDash val="solid"/>
          </a:ln>
        </p:spPr>
      </p:sp>
      <p:sp>
        <p:nvSpPr>
          <p:cNvPr id="16" name="Text 14"/>
          <p:cNvSpPr txBox="1"/>
          <p:nvPr/>
        </p:nvSpPr>
        <p:spPr>
          <a:xfrm>
            <a:off x="749808" y="2816352"/>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170432" y="2788920"/>
            <a:ext cx="4572000" cy="274320"/>
          </a:xfrm>
          <a:prstGeom prst="rect">
            <a:avLst/>
          </a:prstGeom>
          <a:noFill/>
          <a:ln/>
        </p:spPr>
        <p:txBody>
          <a:bodyPr wrap="square" lIns="0" tIns="0" rIns="0" bIns="0" rtlCol="0" anchor="ctr"/>
          <a:lstStyle/>
          <a:p>
            <a:pPr indent="0" marL="0">
              <a:buNone/>
            </a:pPr>
            <a:r>
              <a:rPr lang="en-US" sz="1300" b="1" dirty="0">
                <a:solidFill>
                  <a:srgbClr val="16202E"/>
                </a:solidFill>
                <a:latin typeface="Calibri" pitchFamily="34" charset="0"/>
                <a:ea typeface="Calibri" pitchFamily="34" charset="-122"/>
                <a:cs typeface="Calibri" pitchFamily="34" charset="-120"/>
              </a:rPr>
              <a:t>Cross-modality conclusions note</a:t>
            </a:r>
            <a:endParaRPr lang="en-US" sz="1300" dirty="0"/>
          </a:p>
        </p:txBody>
      </p:sp>
      <p:sp>
        <p:nvSpPr>
          <p:cNvPr id="18" name="Text 16"/>
          <p:cNvSpPr txBox="1"/>
          <p:nvPr/>
        </p:nvSpPr>
        <p:spPr>
          <a:xfrm>
            <a:off x="1170432" y="3072384"/>
            <a:ext cx="4572000" cy="548640"/>
          </a:xfrm>
          <a:prstGeom prst="rect">
            <a:avLst/>
          </a:prstGeom>
          <a:noFill/>
          <a:ln/>
        </p:spPr>
        <p:txBody>
          <a:bodyPr wrap="square" lIns="0" tIns="0" rIns="0" bIns="0" rtlCol="0" anchor="t"/>
          <a:lstStyle/>
          <a:p>
            <a:pPr indent="0" marL="0">
              <a:lnSpc>
                <a:spcPct val="105000"/>
              </a:lnSpc>
              <a:buNone/>
            </a:pPr>
            <a:r>
              <a:rPr lang="en-US" sz="1100" dirty="0">
                <a:solidFill>
                  <a:srgbClr val="16202E"/>
                </a:solidFill>
                <a:latin typeface="Calibri" pitchFamily="34" charset="0"/>
                <a:ea typeface="Calibri" pitchFamily="34" charset="-122"/>
                <a:cs typeface="Calibri" pitchFamily="34" charset="-120"/>
              </a:rPr>
              <a:t>One clinical note combines the clinical, MRI and EEG results into the case summary.</a:t>
            </a:r>
            <a:endParaRPr lang="en-US" sz="1100" dirty="0"/>
          </a:p>
        </p:txBody>
      </p:sp>
      <p:sp>
        <p:nvSpPr>
          <p:cNvPr id="19" name="Shape 17"/>
          <p:cNvSpPr/>
          <p:nvPr/>
        </p:nvSpPr>
        <p:spPr>
          <a:xfrm>
            <a:off x="6263640" y="2670048"/>
            <a:ext cx="5394960" cy="1051560"/>
          </a:xfrm>
          <a:prstGeom prst="roundRect">
            <a:avLst>
              <a:gd name="adj" fmla="val 6957"/>
            </a:avLst>
          </a:prstGeom>
          <a:solidFill>
            <a:srgbClr val="F2F5FA"/>
          </a:solidFill>
          <a:ln w="12700">
            <a:solidFill>
              <a:srgbClr val="F2F5FA"/>
            </a:solidFill>
            <a:prstDash val="solid"/>
          </a:ln>
        </p:spPr>
      </p:sp>
      <p:sp>
        <p:nvSpPr>
          <p:cNvPr id="20" name="Shape 18"/>
          <p:cNvSpPr/>
          <p:nvPr/>
        </p:nvSpPr>
        <p:spPr>
          <a:xfrm>
            <a:off x="6464808" y="2816352"/>
            <a:ext cx="310896" cy="310896"/>
          </a:xfrm>
          <a:prstGeom prst="roundRect">
            <a:avLst>
              <a:gd name="adj" fmla="val 50000"/>
            </a:avLst>
          </a:prstGeom>
          <a:solidFill>
            <a:srgbClr val="2E9BD6"/>
          </a:solidFill>
          <a:ln w="12700">
            <a:solidFill>
              <a:srgbClr val="2E9BD6"/>
            </a:solidFill>
            <a:prstDash val="solid"/>
          </a:ln>
        </p:spPr>
      </p:sp>
      <p:sp>
        <p:nvSpPr>
          <p:cNvPr id="21" name="Text 19"/>
          <p:cNvSpPr txBox="1"/>
          <p:nvPr/>
        </p:nvSpPr>
        <p:spPr>
          <a:xfrm>
            <a:off x="6464808" y="2816352"/>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6885432" y="2788920"/>
            <a:ext cx="4572000" cy="274320"/>
          </a:xfrm>
          <a:prstGeom prst="rect">
            <a:avLst/>
          </a:prstGeom>
          <a:noFill/>
          <a:ln/>
        </p:spPr>
        <p:txBody>
          <a:bodyPr wrap="square" lIns="0" tIns="0" rIns="0" bIns="0" rtlCol="0" anchor="ctr"/>
          <a:lstStyle/>
          <a:p>
            <a:pPr indent="0" marL="0">
              <a:buNone/>
            </a:pPr>
            <a:r>
              <a:rPr lang="en-US" sz="1300" b="1" dirty="0">
                <a:solidFill>
                  <a:srgbClr val="16202E"/>
                </a:solidFill>
                <a:latin typeface="Calibri" pitchFamily="34" charset="0"/>
                <a:ea typeface="Calibri" pitchFamily="34" charset="-122"/>
                <a:cs typeface="Calibri" pitchFamily="34" charset="-120"/>
              </a:rPr>
              <a:t>Live evidence retrieval</a:t>
            </a:r>
            <a:endParaRPr lang="en-US" sz="1300" dirty="0"/>
          </a:p>
        </p:txBody>
      </p:sp>
      <p:sp>
        <p:nvSpPr>
          <p:cNvPr id="23" name="Text 21"/>
          <p:cNvSpPr txBox="1"/>
          <p:nvPr/>
        </p:nvSpPr>
        <p:spPr>
          <a:xfrm>
            <a:off x="6885432" y="3072384"/>
            <a:ext cx="4572000" cy="548640"/>
          </a:xfrm>
          <a:prstGeom prst="rect">
            <a:avLst/>
          </a:prstGeom>
          <a:noFill/>
          <a:ln/>
        </p:spPr>
        <p:txBody>
          <a:bodyPr wrap="square" lIns="0" tIns="0" rIns="0" bIns="0" rtlCol="0" anchor="t"/>
          <a:lstStyle/>
          <a:p>
            <a:pPr indent="0" marL="0">
              <a:lnSpc>
                <a:spcPct val="105000"/>
              </a:lnSpc>
              <a:buNone/>
            </a:pPr>
            <a:r>
              <a:rPr lang="en-US" sz="1100" dirty="0">
                <a:solidFill>
                  <a:srgbClr val="16202E"/>
                </a:solidFill>
                <a:latin typeface="Calibri" pitchFamily="34" charset="0"/>
                <a:ea typeface="Calibri" pitchFamily="34" charset="-122"/>
                <a:cs typeface="Calibri" pitchFamily="34" charset="-120"/>
              </a:rPr>
              <a:t>The app pulls cited results from PubMed E-utilities and ClinicalTrials.gov v2 for this case.</a:t>
            </a:r>
            <a:endParaRPr lang="en-US" sz="1100" dirty="0"/>
          </a:p>
        </p:txBody>
      </p:sp>
      <p:sp>
        <p:nvSpPr>
          <p:cNvPr id="24" name="Shape 22"/>
          <p:cNvSpPr/>
          <p:nvPr/>
        </p:nvSpPr>
        <p:spPr>
          <a:xfrm>
            <a:off x="548640" y="3877056"/>
            <a:ext cx="5394960" cy="1051560"/>
          </a:xfrm>
          <a:prstGeom prst="roundRect">
            <a:avLst>
              <a:gd name="adj" fmla="val 6957"/>
            </a:avLst>
          </a:prstGeom>
          <a:solidFill>
            <a:srgbClr val="F2F5FA"/>
          </a:solidFill>
          <a:ln w="12700">
            <a:solidFill>
              <a:srgbClr val="F2F5FA"/>
            </a:solidFill>
            <a:prstDash val="solid"/>
          </a:ln>
        </p:spPr>
      </p:sp>
      <p:sp>
        <p:nvSpPr>
          <p:cNvPr id="25" name="Shape 23"/>
          <p:cNvSpPr/>
          <p:nvPr/>
        </p:nvSpPr>
        <p:spPr>
          <a:xfrm>
            <a:off x="749808" y="4023360"/>
            <a:ext cx="310896" cy="310896"/>
          </a:xfrm>
          <a:prstGeom prst="roundRect">
            <a:avLst>
              <a:gd name="adj" fmla="val 50000"/>
            </a:avLst>
          </a:prstGeom>
          <a:solidFill>
            <a:srgbClr val="1B5FA8"/>
          </a:solidFill>
          <a:ln w="12700">
            <a:solidFill>
              <a:srgbClr val="1B5FA8"/>
            </a:solidFill>
            <a:prstDash val="solid"/>
          </a:ln>
        </p:spPr>
      </p:sp>
      <p:sp>
        <p:nvSpPr>
          <p:cNvPr id="26" name="Text 24"/>
          <p:cNvSpPr txBox="1"/>
          <p:nvPr/>
        </p:nvSpPr>
        <p:spPr>
          <a:xfrm>
            <a:off x="749808" y="402336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170432" y="3995928"/>
            <a:ext cx="4572000" cy="274320"/>
          </a:xfrm>
          <a:prstGeom prst="rect">
            <a:avLst/>
          </a:prstGeom>
          <a:noFill/>
          <a:ln/>
        </p:spPr>
        <p:txBody>
          <a:bodyPr wrap="square" lIns="0" tIns="0" rIns="0" bIns="0" rtlCol="0" anchor="ctr"/>
          <a:lstStyle/>
          <a:p>
            <a:pPr indent="0" marL="0">
              <a:buNone/>
            </a:pPr>
            <a:r>
              <a:rPr lang="en-US" sz="1300" b="1" dirty="0">
                <a:solidFill>
                  <a:srgbClr val="16202E"/>
                </a:solidFill>
                <a:latin typeface="Calibri" pitchFamily="34" charset="0"/>
                <a:ea typeface="Calibri" pitchFamily="34" charset="-122"/>
                <a:cs typeface="Calibri" pitchFamily="34" charset="-120"/>
              </a:rPr>
              <a:t>Case-grounded Q&amp;A</a:t>
            </a:r>
            <a:endParaRPr lang="en-US" sz="1300" dirty="0"/>
          </a:p>
        </p:txBody>
      </p:sp>
      <p:sp>
        <p:nvSpPr>
          <p:cNvPr id="28" name="Text 26"/>
          <p:cNvSpPr txBox="1"/>
          <p:nvPr/>
        </p:nvSpPr>
        <p:spPr>
          <a:xfrm>
            <a:off x="1170432" y="4279392"/>
            <a:ext cx="4572000" cy="548640"/>
          </a:xfrm>
          <a:prstGeom prst="rect">
            <a:avLst/>
          </a:prstGeom>
          <a:noFill/>
          <a:ln/>
        </p:spPr>
        <p:txBody>
          <a:bodyPr wrap="square" lIns="0" tIns="0" rIns="0" bIns="0" rtlCol="0" anchor="t"/>
          <a:lstStyle/>
          <a:p>
            <a:pPr indent="0" marL="0">
              <a:lnSpc>
                <a:spcPct val="105000"/>
              </a:lnSpc>
              <a:buNone/>
            </a:pPr>
            <a:r>
              <a:rPr lang="en-US" sz="1100" dirty="0">
                <a:solidFill>
                  <a:srgbClr val="16202E"/>
                </a:solidFill>
                <a:latin typeface="Calibri" pitchFamily="34" charset="0"/>
                <a:ea typeface="Calibri" pitchFamily="34" charset="-122"/>
                <a:cs typeface="Calibri" pitchFamily="34" charset="-120"/>
              </a:rPr>
              <a:t>The clinician asks free-form questions. The app answers from the results of this patient only.</a:t>
            </a:r>
            <a:endParaRPr lang="en-US" sz="1100" dirty="0"/>
          </a:p>
        </p:txBody>
      </p:sp>
      <p:sp>
        <p:nvSpPr>
          <p:cNvPr id="29" name="Shape 27"/>
          <p:cNvSpPr/>
          <p:nvPr/>
        </p:nvSpPr>
        <p:spPr>
          <a:xfrm>
            <a:off x="548640" y="5074920"/>
            <a:ext cx="11109960" cy="822960"/>
          </a:xfrm>
          <a:prstGeom prst="roundRect">
            <a:avLst>
              <a:gd name="adj" fmla="val 6667"/>
            </a:avLst>
          </a:prstGeom>
          <a:solidFill>
            <a:srgbClr val="FFF6E9"/>
          </a:solidFill>
          <a:ln w="12700">
            <a:solidFill>
              <a:srgbClr val="F2952B"/>
            </a:solidFill>
            <a:prstDash val="solid"/>
          </a:ln>
        </p:spPr>
      </p:sp>
      <p:sp>
        <p:nvSpPr>
          <p:cNvPr id="30" name="Text 28"/>
          <p:cNvSpPr txBox="1"/>
          <p:nvPr/>
        </p:nvSpPr>
        <p:spPr>
          <a:xfrm>
            <a:off x="713232" y="5111496"/>
            <a:ext cx="10780776" cy="74980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Guardrail: the LLM layer removes the work around a decision, but it does not make the decision. Every generated panel is traceable to the model output that it describes. With no API key, the panels show an error and invent no content.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01752"/>
            <a:ext cx="8229600" cy="237744"/>
          </a:xfrm>
          <a:prstGeom prst="rect">
            <a:avLst/>
          </a:prstGeom>
          <a:noFill/>
          <a:ln/>
        </p:spPr>
        <p:txBody>
          <a:bodyPr wrap="square" lIns="0" tIns="0" rIns="0" bIns="0" rtlCol="0" anchor="ctr"/>
          <a:lstStyle/>
          <a:p>
            <a:pPr indent="0" marL="0">
              <a:buNone/>
            </a:pPr>
            <a:r>
              <a:rPr lang="en-US" sz="1100" b="1" spc="200" kern="0" dirty="0">
                <a:solidFill>
                  <a:srgbClr val="2E9BD6"/>
                </a:solidFill>
                <a:latin typeface="Calibri" pitchFamily="34" charset="0"/>
                <a:ea typeface="Calibri" pitchFamily="34" charset="-122"/>
                <a:cs typeface="Calibri" pitchFamily="34" charset="-120"/>
              </a:rPr>
              <a:t>CLINICAL FIT</a:t>
            </a:r>
            <a:endParaRPr lang="en-US" sz="1100" dirty="0"/>
          </a:p>
        </p:txBody>
      </p:sp>
      <p:sp>
        <p:nvSpPr>
          <p:cNvPr id="3" name="Text 1"/>
          <p:cNvSpPr txBox="1"/>
          <p:nvPr/>
        </p:nvSpPr>
        <p:spPr>
          <a:xfrm>
            <a:off x="548640" y="548640"/>
            <a:ext cx="10241280" cy="685800"/>
          </a:xfrm>
          <a:prstGeom prst="rect">
            <a:avLst/>
          </a:prstGeom>
          <a:noFill/>
          <a:ln/>
        </p:spPr>
        <p:txBody>
          <a:bodyPr wrap="square" lIns="0" tIns="0" rIns="0" bIns="0" rtlCol="0" anchor="t"/>
          <a:lstStyle/>
          <a:p>
            <a:pPr indent="0" marL="0">
              <a:buNone/>
            </a:pPr>
            <a:r>
              <a:rPr lang="en-US" sz="3000" b="1" dirty="0">
                <a:solidFill>
                  <a:srgbClr val="16202E"/>
                </a:solidFill>
                <a:latin typeface="Calibri" pitchFamily="34" charset="0"/>
                <a:ea typeface="Calibri" pitchFamily="34" charset="-122"/>
                <a:cs typeface="Calibri" pitchFamily="34" charset="-120"/>
              </a:rPr>
              <a:t>In the workflow — one patient visit, four screens</a:t>
            </a:r>
            <a:endParaRPr lang="en-US" sz="3000" dirty="0"/>
          </a:p>
        </p:txBody>
      </p:sp>
      <p:sp>
        <p:nvSpPr>
          <p:cNvPr id="4" name="Shape 2"/>
          <p:cNvSpPr/>
          <p:nvPr/>
        </p:nvSpPr>
        <p:spPr>
          <a:xfrm>
            <a:off x="548640" y="1371600"/>
            <a:ext cx="2624328" cy="1737360"/>
          </a:xfrm>
          <a:prstGeom prst="roundRect">
            <a:avLst>
              <a:gd name="adj" fmla="val 4211"/>
            </a:avLst>
          </a:prstGeom>
          <a:solidFill>
            <a:srgbClr val="F2F5FA"/>
          </a:solidFill>
          <a:ln w="12700">
            <a:solidFill>
              <a:srgbClr val="F2F5FA"/>
            </a:solidFill>
            <a:prstDash val="solid"/>
          </a:ln>
        </p:spPr>
      </p:sp>
      <p:sp>
        <p:nvSpPr>
          <p:cNvPr id="5" name="Text 3"/>
          <p:cNvSpPr txBox="1"/>
          <p:nvPr/>
        </p:nvSpPr>
        <p:spPr>
          <a:xfrm>
            <a:off x="731520" y="1481328"/>
            <a:ext cx="2286000" cy="274320"/>
          </a:xfrm>
          <a:prstGeom prst="rect">
            <a:avLst/>
          </a:prstGeom>
          <a:noFill/>
          <a:ln/>
        </p:spPr>
        <p:txBody>
          <a:bodyPr wrap="square" lIns="0" tIns="0" rIns="0" bIns="0" rtlCol="0" anchor="ctr"/>
          <a:lstStyle/>
          <a:p>
            <a:pPr indent="0" marL="0">
              <a:buNone/>
            </a:pPr>
            <a:r>
              <a:rPr lang="en-US" sz="1250" b="1" dirty="0">
                <a:solidFill>
                  <a:srgbClr val="1B5FA8"/>
                </a:solidFill>
                <a:latin typeface="Calibri" pitchFamily="34" charset="0"/>
                <a:ea typeface="Calibri" pitchFamily="34" charset="-122"/>
                <a:cs typeface="Calibri" pitchFamily="34" charset="-120"/>
              </a:rPr>
              <a:t>1 · Before the scan</a:t>
            </a:r>
            <a:endParaRPr lang="en-US" sz="1250" dirty="0"/>
          </a:p>
        </p:txBody>
      </p:sp>
      <p:sp>
        <p:nvSpPr>
          <p:cNvPr id="6" name="Text 4"/>
          <p:cNvSpPr txBox="1"/>
          <p:nvPr/>
        </p:nvSpPr>
        <p:spPr>
          <a:xfrm>
            <a:off x="731520" y="1783080"/>
            <a:ext cx="2286000" cy="1234440"/>
          </a:xfrm>
          <a:prstGeom prst="rect">
            <a:avLst/>
          </a:prstGeom>
          <a:noFill/>
          <a:ln/>
        </p:spPr>
        <p:txBody>
          <a:bodyPr wrap="square" lIns="0" tIns="0" rIns="0" bIns="0" rtlCol="0" anchor="t"/>
          <a:lstStyle/>
          <a:p>
            <a:pPr indent="0" marL="0">
              <a:lnSpc>
                <a:spcPct val="108000"/>
              </a:lnSpc>
              <a:buNone/>
            </a:pPr>
            <a:r>
              <a:rPr lang="en-US" sz="1050" dirty="0">
                <a:solidFill>
                  <a:srgbClr val="16202E"/>
                </a:solidFill>
                <a:latin typeface="Calibri" pitchFamily="34" charset="0"/>
                <a:ea typeface="Calibri" pitchFamily="34" charset="-122"/>
                <a:cs typeface="Calibri" pitchFamily="34" charset="-120"/>
              </a:rPr>
              <a:t>Chart data on file gives the score and the top contributing factors. The referral question has an answer before the clinic books imaging.</a:t>
            </a:r>
            <a:endParaRPr lang="en-US" sz="1050" dirty="0"/>
          </a:p>
        </p:txBody>
      </p:sp>
      <p:sp>
        <p:nvSpPr>
          <p:cNvPr id="7" name="Shape 5"/>
          <p:cNvSpPr/>
          <p:nvPr/>
        </p:nvSpPr>
        <p:spPr>
          <a:xfrm>
            <a:off x="3392424" y="1371600"/>
            <a:ext cx="2624328" cy="1737360"/>
          </a:xfrm>
          <a:prstGeom prst="roundRect">
            <a:avLst>
              <a:gd name="adj" fmla="val 4211"/>
            </a:avLst>
          </a:prstGeom>
          <a:solidFill>
            <a:srgbClr val="F2F5FA"/>
          </a:solidFill>
          <a:ln w="12700">
            <a:solidFill>
              <a:srgbClr val="F2F5FA"/>
            </a:solidFill>
            <a:prstDash val="solid"/>
          </a:ln>
        </p:spPr>
      </p:sp>
      <p:sp>
        <p:nvSpPr>
          <p:cNvPr id="8" name="Text 6"/>
          <p:cNvSpPr txBox="1"/>
          <p:nvPr/>
        </p:nvSpPr>
        <p:spPr>
          <a:xfrm>
            <a:off x="3575304" y="1481328"/>
            <a:ext cx="2286000" cy="274320"/>
          </a:xfrm>
          <a:prstGeom prst="rect">
            <a:avLst/>
          </a:prstGeom>
          <a:noFill/>
          <a:ln/>
        </p:spPr>
        <p:txBody>
          <a:bodyPr wrap="square" lIns="0" tIns="0" rIns="0" bIns="0" rtlCol="0" anchor="ctr"/>
          <a:lstStyle/>
          <a:p>
            <a:pPr indent="0" marL="0">
              <a:buNone/>
            </a:pPr>
            <a:r>
              <a:rPr lang="en-US" sz="1250" b="1" dirty="0">
                <a:solidFill>
                  <a:srgbClr val="1B5FA8"/>
                </a:solidFill>
                <a:latin typeface="Calibri" pitchFamily="34" charset="0"/>
                <a:ea typeface="Calibri" pitchFamily="34" charset="-122"/>
                <a:cs typeface="Calibri" pitchFamily="34" charset="-120"/>
              </a:rPr>
              <a:t>2 · When a scan arrives</a:t>
            </a:r>
            <a:endParaRPr lang="en-US" sz="1250" dirty="0"/>
          </a:p>
        </p:txBody>
      </p:sp>
      <p:sp>
        <p:nvSpPr>
          <p:cNvPr id="9" name="Text 7"/>
          <p:cNvSpPr txBox="1"/>
          <p:nvPr/>
        </p:nvSpPr>
        <p:spPr>
          <a:xfrm>
            <a:off x="3575304" y="1783080"/>
            <a:ext cx="2286000" cy="1234440"/>
          </a:xfrm>
          <a:prstGeom prst="rect">
            <a:avLst/>
          </a:prstGeom>
          <a:noFill/>
          <a:ln/>
        </p:spPr>
        <p:txBody>
          <a:bodyPr wrap="square" lIns="0" tIns="0" rIns="0" bIns="0" rtlCol="0" anchor="t"/>
          <a:lstStyle/>
          <a:p>
            <a:pPr indent="0" marL="0">
              <a:lnSpc>
                <a:spcPct val="108000"/>
              </a:lnSpc>
              <a:buNone/>
            </a:pPr>
            <a:r>
              <a:rPr lang="en-US" sz="1050" dirty="0">
                <a:solidFill>
                  <a:srgbClr val="16202E"/>
                </a:solidFill>
                <a:latin typeface="Calibri" pitchFamily="34" charset="0"/>
                <a:ea typeface="Calibri" pitchFamily="34" charset="-122"/>
                <a:cs typeface="Calibri" pitchFamily="34" charset="-120"/>
              </a:rPr>
              <a:t>The model classifies the MRI. The app puts the attention map next to the scan, so the clinician can examine the read.</a:t>
            </a:r>
            <a:endParaRPr lang="en-US" sz="1050" dirty="0"/>
          </a:p>
        </p:txBody>
      </p:sp>
      <p:sp>
        <p:nvSpPr>
          <p:cNvPr id="10" name="Shape 8"/>
          <p:cNvSpPr/>
          <p:nvPr/>
        </p:nvSpPr>
        <p:spPr>
          <a:xfrm>
            <a:off x="6236208" y="1371600"/>
            <a:ext cx="2624328" cy="1737360"/>
          </a:xfrm>
          <a:prstGeom prst="roundRect">
            <a:avLst>
              <a:gd name="adj" fmla="val 4211"/>
            </a:avLst>
          </a:prstGeom>
          <a:solidFill>
            <a:srgbClr val="F2F5FA"/>
          </a:solidFill>
          <a:ln w="12700">
            <a:solidFill>
              <a:srgbClr val="F2F5FA"/>
            </a:solidFill>
            <a:prstDash val="solid"/>
          </a:ln>
        </p:spPr>
      </p:sp>
      <p:sp>
        <p:nvSpPr>
          <p:cNvPr id="11" name="Text 9"/>
          <p:cNvSpPr txBox="1"/>
          <p:nvPr/>
        </p:nvSpPr>
        <p:spPr>
          <a:xfrm>
            <a:off x="6419088" y="1481328"/>
            <a:ext cx="2286000" cy="274320"/>
          </a:xfrm>
          <a:prstGeom prst="rect">
            <a:avLst/>
          </a:prstGeom>
          <a:noFill/>
          <a:ln/>
        </p:spPr>
        <p:txBody>
          <a:bodyPr wrap="square" lIns="0" tIns="0" rIns="0" bIns="0" rtlCol="0" anchor="ctr"/>
          <a:lstStyle/>
          <a:p>
            <a:pPr indent="0" marL="0">
              <a:buNone/>
            </a:pPr>
            <a:r>
              <a:rPr lang="en-US" sz="1250" b="1" dirty="0">
                <a:solidFill>
                  <a:srgbClr val="1B5FA8"/>
                </a:solidFill>
                <a:latin typeface="Calibri" pitchFamily="34" charset="0"/>
                <a:ea typeface="Calibri" pitchFamily="34" charset="-122"/>
                <a:cs typeface="Calibri" pitchFamily="34" charset="-120"/>
              </a:rPr>
              <a:t>3 · When EEG arrives</a:t>
            </a:r>
            <a:endParaRPr lang="en-US" sz="1250" dirty="0"/>
          </a:p>
        </p:txBody>
      </p:sp>
      <p:sp>
        <p:nvSpPr>
          <p:cNvPr id="12" name="Text 10"/>
          <p:cNvSpPr txBox="1"/>
          <p:nvPr/>
        </p:nvSpPr>
        <p:spPr>
          <a:xfrm>
            <a:off x="6419088" y="1783080"/>
            <a:ext cx="2286000" cy="1234440"/>
          </a:xfrm>
          <a:prstGeom prst="rect">
            <a:avLst/>
          </a:prstGeom>
          <a:noFill/>
          <a:ln/>
        </p:spPr>
        <p:txBody>
          <a:bodyPr wrap="square" lIns="0" tIns="0" rIns="0" bIns="0" rtlCol="0" anchor="t"/>
          <a:lstStyle/>
          <a:p>
            <a:pPr indent="0" marL="0">
              <a:lnSpc>
                <a:spcPct val="108000"/>
              </a:lnSpc>
              <a:buNone/>
            </a:pPr>
            <a:r>
              <a:rPr lang="en-US" sz="1050" dirty="0">
                <a:solidFill>
                  <a:srgbClr val="16202E"/>
                </a:solidFill>
                <a:latin typeface="Calibri" pitchFamily="34" charset="0"/>
                <a:ea typeface="Calibri" pitchFamily="34" charset="-122"/>
                <a:cs typeface="Calibri" pitchFamily="34" charset="-120"/>
              </a:rPr>
              <a:t>An independent signal agrees or disagrees with the first two. The app shows a disagreement and does not average it away.</a:t>
            </a:r>
            <a:endParaRPr lang="en-US" sz="1050" dirty="0"/>
          </a:p>
        </p:txBody>
      </p:sp>
      <p:sp>
        <p:nvSpPr>
          <p:cNvPr id="13" name="Shape 11"/>
          <p:cNvSpPr/>
          <p:nvPr/>
        </p:nvSpPr>
        <p:spPr>
          <a:xfrm>
            <a:off x="9079992" y="1371600"/>
            <a:ext cx="2624328" cy="1737360"/>
          </a:xfrm>
          <a:prstGeom prst="roundRect">
            <a:avLst>
              <a:gd name="adj" fmla="val 4211"/>
            </a:avLst>
          </a:prstGeom>
          <a:solidFill>
            <a:srgbClr val="F2F5FA"/>
          </a:solidFill>
          <a:ln w="12700">
            <a:solidFill>
              <a:srgbClr val="F2F5FA"/>
            </a:solidFill>
            <a:prstDash val="solid"/>
          </a:ln>
        </p:spPr>
      </p:sp>
      <p:sp>
        <p:nvSpPr>
          <p:cNvPr id="14" name="Text 12"/>
          <p:cNvSpPr txBox="1"/>
          <p:nvPr/>
        </p:nvSpPr>
        <p:spPr>
          <a:xfrm>
            <a:off x="9262872" y="1481328"/>
            <a:ext cx="2286000" cy="274320"/>
          </a:xfrm>
          <a:prstGeom prst="rect">
            <a:avLst/>
          </a:prstGeom>
          <a:noFill/>
          <a:ln/>
        </p:spPr>
        <p:txBody>
          <a:bodyPr wrap="square" lIns="0" tIns="0" rIns="0" bIns="0" rtlCol="0" anchor="ctr"/>
          <a:lstStyle/>
          <a:p>
            <a:pPr indent="0" marL="0">
              <a:buNone/>
            </a:pPr>
            <a:r>
              <a:rPr lang="en-US" sz="1250" b="1" dirty="0">
                <a:solidFill>
                  <a:srgbClr val="1B5FA8"/>
                </a:solidFill>
                <a:latin typeface="Calibri" pitchFamily="34" charset="0"/>
                <a:ea typeface="Calibri" pitchFamily="34" charset="-122"/>
                <a:cs typeface="Calibri" pitchFamily="34" charset="-120"/>
              </a:rPr>
              <a:t>4 · At the decision</a:t>
            </a:r>
            <a:endParaRPr lang="en-US" sz="1250" dirty="0"/>
          </a:p>
        </p:txBody>
      </p:sp>
      <p:sp>
        <p:nvSpPr>
          <p:cNvPr id="15" name="Text 13"/>
          <p:cNvSpPr txBox="1"/>
          <p:nvPr/>
        </p:nvSpPr>
        <p:spPr>
          <a:xfrm>
            <a:off x="9262872" y="1783080"/>
            <a:ext cx="2286000" cy="1234440"/>
          </a:xfrm>
          <a:prstGeom prst="rect">
            <a:avLst/>
          </a:prstGeom>
          <a:noFill/>
          <a:ln/>
        </p:spPr>
        <p:txBody>
          <a:bodyPr wrap="square" lIns="0" tIns="0" rIns="0" bIns="0" rtlCol="0" anchor="t"/>
          <a:lstStyle/>
          <a:p>
            <a:pPr indent="0" marL="0">
              <a:lnSpc>
                <a:spcPct val="108000"/>
              </a:lnSpc>
              <a:buNone/>
            </a:pPr>
            <a:r>
              <a:rPr lang="en-US" sz="1050" dirty="0">
                <a:solidFill>
                  <a:srgbClr val="16202E"/>
                </a:solidFill>
                <a:latin typeface="Calibri" pitchFamily="34" charset="0"/>
                <a:ea typeface="Calibri" pitchFamily="34" charset="-122"/>
                <a:cs typeface="Calibri" pitchFamily="34" charset="-120"/>
              </a:rPr>
              <a:t>The clinician gets one fused prognosis, a drafted note, and cited guidelines and open trials.</a:t>
            </a:r>
            <a:endParaRPr lang="en-US" sz="1050" dirty="0"/>
          </a:p>
        </p:txBody>
      </p:sp>
      <p:sp>
        <p:nvSpPr>
          <p:cNvPr id="16" name="Shape 14"/>
          <p:cNvSpPr/>
          <p:nvPr/>
        </p:nvSpPr>
        <p:spPr>
          <a:xfrm>
            <a:off x="548640" y="3291840"/>
            <a:ext cx="3566160" cy="2331720"/>
          </a:xfrm>
          <a:prstGeom prst="roundRect">
            <a:avLst>
              <a:gd name="adj" fmla="val 2353"/>
            </a:avLst>
          </a:prstGeom>
          <a:solidFill>
            <a:srgbClr val="FAFCFF"/>
          </a:solidFill>
          <a:ln w="15875">
            <a:solidFill>
              <a:srgbClr val="2E9BD6"/>
            </a:solidFill>
            <a:prstDash val="dash"/>
          </a:ln>
        </p:spPr>
      </p:sp>
      <p:sp>
        <p:nvSpPr>
          <p:cNvPr id="17" name="Text 15"/>
          <p:cNvSpPr txBox="1"/>
          <p:nvPr/>
        </p:nvSpPr>
        <p:spPr>
          <a:xfrm>
            <a:off x="676656" y="3291840"/>
            <a:ext cx="3310128" cy="2331720"/>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2E9BD6"/>
                </a:solidFill>
                <a:latin typeface="Calibri" pitchFamily="34" charset="0"/>
                <a:ea typeface="Calibri" pitchFamily="34" charset="-122"/>
                <a:cs typeface="Calibri" pitchFamily="34" charset="-120"/>
              </a:rPr>
              <a:t>SCREEN CAPTURE</a:t>
            </a:r>
            <a:endParaRPr lang="en-US" sz="900" dirty="0"/>
          </a:p>
          <a:p>
            <a:pPr algn="ctr" indent="0" marL="0">
              <a:lnSpc>
                <a:spcPct val="115000"/>
              </a:lnSpc>
              <a:buNone/>
            </a:pPr>
            <a:r>
              <a:rPr lang="en-US" sz="1150" b="1" dirty="0">
                <a:solidFill>
                  <a:srgbClr val="16202E"/>
                </a:solidFill>
                <a:latin typeface="Calibri" pitchFamily="34" charset="0"/>
                <a:ea typeface="Calibri" pitchFamily="34" charset="-122"/>
                <a:cs typeface="Calibri" pitchFamily="34" charset="-120"/>
              </a:rPr>
              <a:t>Clinical risk page</a:t>
            </a:r>
            <a:endParaRPr lang="en-US" sz="900" dirty="0"/>
          </a:p>
          <a:p>
            <a:pPr algn="ctr" indent="0" marL="0">
              <a:lnSpc>
                <a:spcPct val="115000"/>
              </a:lnSpc>
              <a:buNone/>
            </a:pPr>
            <a:r>
              <a:rPr lang="en-US" sz="950" dirty="0">
                <a:solidFill>
                  <a:srgbClr val="5C6B7F"/>
                </a:solidFill>
                <a:latin typeface="Calibri" pitchFamily="34" charset="0"/>
                <a:ea typeface="Calibri" pitchFamily="34" charset="-122"/>
                <a:cs typeface="Calibri" pitchFamily="34" charset="-120"/>
              </a:rPr>
              <a:t>Risk score and severity chip, MMSE against last visit, Top contributing factors</a:t>
            </a:r>
            <a:endParaRPr lang="en-US" sz="900" dirty="0"/>
          </a:p>
        </p:txBody>
      </p:sp>
      <p:sp>
        <p:nvSpPr>
          <p:cNvPr id="18" name="Shape 16"/>
          <p:cNvSpPr/>
          <p:nvPr/>
        </p:nvSpPr>
        <p:spPr>
          <a:xfrm>
            <a:off x="4315968" y="3291840"/>
            <a:ext cx="3566160" cy="2331720"/>
          </a:xfrm>
          <a:prstGeom prst="roundRect">
            <a:avLst>
              <a:gd name="adj" fmla="val 2353"/>
            </a:avLst>
          </a:prstGeom>
          <a:solidFill>
            <a:srgbClr val="FAFCFF"/>
          </a:solidFill>
          <a:ln w="15875">
            <a:solidFill>
              <a:srgbClr val="2E9BD6"/>
            </a:solidFill>
            <a:prstDash val="dash"/>
          </a:ln>
        </p:spPr>
      </p:sp>
      <p:sp>
        <p:nvSpPr>
          <p:cNvPr id="19" name="Text 17"/>
          <p:cNvSpPr txBox="1"/>
          <p:nvPr/>
        </p:nvSpPr>
        <p:spPr>
          <a:xfrm>
            <a:off x="4443984" y="3291840"/>
            <a:ext cx="3310128" cy="2331720"/>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2E9BD6"/>
                </a:solidFill>
                <a:latin typeface="Calibri" pitchFamily="34" charset="0"/>
                <a:ea typeface="Calibri" pitchFamily="34" charset="-122"/>
                <a:cs typeface="Calibri" pitchFamily="34" charset="-120"/>
              </a:rPr>
              <a:t>SCREEN CAPTURE</a:t>
            </a:r>
            <a:endParaRPr lang="en-US" sz="900" dirty="0"/>
          </a:p>
          <a:p>
            <a:pPr algn="ctr" indent="0" marL="0">
              <a:lnSpc>
                <a:spcPct val="115000"/>
              </a:lnSpc>
              <a:buNone/>
            </a:pPr>
            <a:r>
              <a:rPr lang="en-US" sz="1150" b="1" dirty="0">
                <a:solidFill>
                  <a:srgbClr val="16202E"/>
                </a:solidFill>
                <a:latin typeface="Calibri" pitchFamily="34" charset="0"/>
                <a:ea typeface="Calibri" pitchFamily="34" charset="-122"/>
                <a:cs typeface="Calibri" pitchFamily="34" charset="-120"/>
              </a:rPr>
              <a:t>MRI records — 2D slice</a:t>
            </a:r>
            <a:endParaRPr lang="en-US" sz="900" dirty="0"/>
          </a:p>
          <a:p>
            <a:pPr algn="ctr" indent="0" marL="0">
              <a:lnSpc>
                <a:spcPct val="115000"/>
              </a:lnSpc>
              <a:buNone/>
            </a:pPr>
            <a:r>
              <a:rPr lang="en-US" sz="950" dirty="0">
                <a:solidFill>
                  <a:srgbClr val="5C6B7F"/>
                </a:solidFill>
                <a:latin typeface="Calibri" pitchFamily="34" charset="0"/>
                <a:ea typeface="Calibri" pitchFamily="34" charset="-122"/>
                <a:cs typeface="Calibri" pitchFamily="34" charset="-120"/>
              </a:rPr>
              <a:t>Dementia confirmation metric, selected slice next to Grad-CAM, radiology report summary</a:t>
            </a:r>
            <a:endParaRPr lang="en-US" sz="900" dirty="0"/>
          </a:p>
        </p:txBody>
      </p:sp>
      <p:sp>
        <p:nvSpPr>
          <p:cNvPr id="20" name="Shape 18"/>
          <p:cNvSpPr/>
          <p:nvPr/>
        </p:nvSpPr>
        <p:spPr>
          <a:xfrm>
            <a:off x="8092440" y="3291840"/>
            <a:ext cx="3566160" cy="2331720"/>
          </a:xfrm>
          <a:prstGeom prst="roundRect">
            <a:avLst>
              <a:gd name="adj" fmla="val 2353"/>
            </a:avLst>
          </a:prstGeom>
          <a:solidFill>
            <a:srgbClr val="FAFCFF"/>
          </a:solidFill>
          <a:ln w="15875">
            <a:solidFill>
              <a:srgbClr val="2E9BD6"/>
            </a:solidFill>
            <a:prstDash val="dash"/>
          </a:ln>
        </p:spPr>
      </p:sp>
      <p:sp>
        <p:nvSpPr>
          <p:cNvPr id="21" name="Text 19"/>
          <p:cNvSpPr txBox="1"/>
          <p:nvPr/>
        </p:nvSpPr>
        <p:spPr>
          <a:xfrm>
            <a:off x="8220456" y="3291840"/>
            <a:ext cx="3310128" cy="2331720"/>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2E9BD6"/>
                </a:solidFill>
                <a:latin typeface="Calibri" pitchFamily="34" charset="0"/>
                <a:ea typeface="Calibri" pitchFamily="34" charset="-122"/>
                <a:cs typeface="Calibri" pitchFamily="34" charset="-120"/>
              </a:rPr>
              <a:t>SCREEN CAPTURE</a:t>
            </a:r>
            <a:endParaRPr lang="en-US" sz="900" dirty="0"/>
          </a:p>
          <a:p>
            <a:pPr algn="ctr" indent="0" marL="0">
              <a:lnSpc>
                <a:spcPct val="115000"/>
              </a:lnSpc>
              <a:buNone/>
            </a:pPr>
            <a:r>
              <a:rPr lang="en-US" sz="1150" b="1" dirty="0">
                <a:solidFill>
                  <a:srgbClr val="16202E"/>
                </a:solidFill>
                <a:latin typeface="Calibri" pitchFamily="34" charset="0"/>
                <a:ea typeface="Calibri" pitchFamily="34" charset="-122"/>
                <a:cs typeface="Calibri" pitchFamily="34" charset="-120"/>
              </a:rPr>
              <a:t>Overview — integrated prognosis</a:t>
            </a:r>
            <a:endParaRPr lang="en-US" sz="900" dirty="0"/>
          </a:p>
          <a:p>
            <a:pPr algn="ctr" indent="0" marL="0">
              <a:lnSpc>
                <a:spcPct val="115000"/>
              </a:lnSpc>
              <a:buNone/>
            </a:pPr>
            <a:r>
              <a:rPr lang="en-US" sz="950" dirty="0">
                <a:solidFill>
                  <a:srgbClr val="5C6B7F"/>
                </a:solidFill>
                <a:latin typeface="Calibri" pitchFamily="34" charset="0"/>
                <a:ea typeface="Calibri" pitchFamily="34" charset="-122"/>
                <a:cs typeface="Calibri" pitchFamily="34" charset="-120"/>
              </a:rPr>
              <a:t>Fused score card, “How this was combined” expander, clinical conclusions note, cited evidence</a:t>
            </a:r>
            <a:endParaRPr lang="en-US" sz="900" dirty="0"/>
          </a:p>
        </p:txBody>
      </p:sp>
      <p:sp>
        <p:nvSpPr>
          <p:cNvPr id="22" name="Text 20"/>
          <p:cNvSpPr txBox="1"/>
          <p:nvPr/>
        </p:nvSpPr>
        <p:spPr>
          <a:xfrm>
            <a:off x="548640" y="5760720"/>
            <a:ext cx="11109960" cy="274320"/>
          </a:xfrm>
          <a:prstGeom prst="rect">
            <a:avLst/>
          </a:prstGeom>
          <a:noFill/>
          <a:ln/>
        </p:spPr>
        <p:txBody>
          <a:bodyPr wrap="square" lIns="0" tIns="0" rIns="0" bIns="0" rtlCol="0" anchor="ctr"/>
          <a:lstStyle/>
          <a:p>
            <a:pPr indent="0" marL="0">
              <a:buNone/>
            </a:pPr>
            <a:r>
              <a:rPr lang="en-US" sz="1150" i="1" dirty="0">
                <a:solidFill>
                  <a:srgbClr val="5C6B7F"/>
                </a:solidFill>
                <a:latin typeface="Calibri" pitchFamily="34" charset="0"/>
                <a:ea typeface="Calibri" pitchFamily="34" charset="-122"/>
                <a:cs typeface="Calibri" pitchFamily="34" charset="-120"/>
              </a:rPr>
              <a:t>Four tabs around one patient context: Clinical risk · MRI records · EEG records · Overview.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01752"/>
            <a:ext cx="8229600" cy="237744"/>
          </a:xfrm>
          <a:prstGeom prst="rect">
            <a:avLst/>
          </a:prstGeom>
          <a:noFill/>
          <a:ln/>
        </p:spPr>
        <p:txBody>
          <a:bodyPr wrap="square" lIns="0" tIns="0" rIns="0" bIns="0" rtlCol="0" anchor="ctr"/>
          <a:lstStyle/>
          <a:p>
            <a:pPr indent="0" marL="0">
              <a:buNone/>
            </a:pPr>
            <a:r>
              <a:rPr lang="en-US" sz="1100" b="1" spc="200" kern="0" dirty="0">
                <a:solidFill>
                  <a:srgbClr val="2E9BD6"/>
                </a:solidFill>
                <a:latin typeface="Calibri" pitchFamily="34" charset="0"/>
                <a:ea typeface="Calibri" pitchFamily="34" charset="-122"/>
                <a:cs typeface="Calibri" pitchFamily="34" charset="-120"/>
              </a:rPr>
              <a:t>CLINICAL FIT, CONTINUED</a:t>
            </a:r>
            <a:endParaRPr lang="en-US" sz="1100" dirty="0"/>
          </a:p>
        </p:txBody>
      </p:sp>
      <p:sp>
        <p:nvSpPr>
          <p:cNvPr id="3" name="Text 1"/>
          <p:cNvSpPr txBox="1"/>
          <p:nvPr/>
        </p:nvSpPr>
        <p:spPr>
          <a:xfrm>
            <a:off x="548640" y="548640"/>
            <a:ext cx="10241280" cy="685800"/>
          </a:xfrm>
          <a:prstGeom prst="rect">
            <a:avLst/>
          </a:prstGeom>
          <a:noFill/>
          <a:ln/>
        </p:spPr>
        <p:txBody>
          <a:bodyPr wrap="square" lIns="0" tIns="0" rIns="0" bIns="0" rtlCol="0" anchor="t"/>
          <a:lstStyle/>
          <a:p>
            <a:pPr indent="0" marL="0">
              <a:buNone/>
            </a:pPr>
            <a:r>
              <a:rPr lang="en-US" sz="3000" b="1" dirty="0">
                <a:solidFill>
                  <a:srgbClr val="16202E"/>
                </a:solidFill>
                <a:latin typeface="Calibri" pitchFamily="34" charset="0"/>
                <a:ea typeface="Calibri" pitchFamily="34" charset="-122"/>
                <a:cs typeface="Calibri" pitchFamily="34" charset="-120"/>
              </a:rPr>
              <a:t>Same pipeline, panel scale</a:t>
            </a:r>
            <a:endParaRPr lang="en-US" sz="3000" dirty="0"/>
          </a:p>
        </p:txBody>
      </p:sp>
      <p:sp>
        <p:nvSpPr>
          <p:cNvPr id="4" name="Shape 2"/>
          <p:cNvSpPr/>
          <p:nvPr/>
        </p:nvSpPr>
        <p:spPr>
          <a:xfrm>
            <a:off x="548640" y="1417320"/>
            <a:ext cx="6035040" cy="3794760"/>
          </a:xfrm>
          <a:prstGeom prst="roundRect">
            <a:avLst>
              <a:gd name="adj" fmla="val 1446"/>
            </a:avLst>
          </a:prstGeom>
          <a:solidFill>
            <a:srgbClr val="FAFCFF"/>
          </a:solidFill>
          <a:ln w="15875">
            <a:solidFill>
              <a:srgbClr val="2E9BD6"/>
            </a:solidFill>
            <a:prstDash val="dash"/>
          </a:ln>
        </p:spPr>
      </p:sp>
      <p:sp>
        <p:nvSpPr>
          <p:cNvPr id="5" name="Text 3"/>
          <p:cNvSpPr txBox="1"/>
          <p:nvPr/>
        </p:nvSpPr>
        <p:spPr>
          <a:xfrm>
            <a:off x="676656" y="1417320"/>
            <a:ext cx="5779008" cy="3794760"/>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2E9BD6"/>
                </a:solidFill>
                <a:latin typeface="Calibri" pitchFamily="34" charset="0"/>
                <a:ea typeface="Calibri" pitchFamily="34" charset="-122"/>
                <a:cs typeface="Calibri" pitchFamily="34" charset="-120"/>
              </a:rPr>
              <a:t>SCREEN CAPTURE</a:t>
            </a:r>
            <a:endParaRPr lang="en-US" sz="900" dirty="0"/>
          </a:p>
          <a:p>
            <a:pPr algn="ctr" indent="0" marL="0">
              <a:lnSpc>
                <a:spcPct val="115000"/>
              </a:lnSpc>
              <a:buNone/>
            </a:pPr>
            <a:r>
              <a:rPr lang="en-US" sz="1150" b="1" dirty="0">
                <a:solidFill>
                  <a:srgbClr val="16202E"/>
                </a:solidFill>
                <a:latin typeface="Calibri" pitchFamily="34" charset="0"/>
                <a:ea typeface="Calibri" pitchFamily="34" charset="-122"/>
                <a:cs typeface="Calibri" pitchFamily="34" charset="-120"/>
              </a:rPr>
              <a:t>Cohort page</a:t>
            </a:r>
            <a:endParaRPr lang="en-US" sz="900" dirty="0"/>
          </a:p>
          <a:p>
            <a:pPr algn="ctr" indent="0" marL="0">
              <a:lnSpc>
                <a:spcPct val="115000"/>
              </a:lnSpc>
              <a:buNone/>
            </a:pPr>
            <a:r>
              <a:rPr lang="en-US" sz="950" dirty="0">
                <a:solidFill>
                  <a:srgbClr val="5C6B7F"/>
                </a:solidFill>
                <a:latin typeface="Calibri" pitchFamily="34" charset="0"/>
                <a:ea typeface="Calibri" pitchFamily="34" charset="-122"/>
                <a:cs typeface="Calibri" pitchFamily="34" charset="-120"/>
              </a:rPr>
              <a:t>Batch results table, fusion score distribution by ground-truth group, prediction against ground truth, and the clinical-against-fused disagreement view</a:t>
            </a:r>
            <a:endParaRPr lang="en-US" sz="900" dirty="0"/>
          </a:p>
        </p:txBody>
      </p:sp>
      <p:sp>
        <p:nvSpPr>
          <p:cNvPr id="6" name="Text 4"/>
          <p:cNvSpPr txBox="1"/>
          <p:nvPr/>
        </p:nvSpPr>
        <p:spPr>
          <a:xfrm>
            <a:off x="6858000" y="1554480"/>
            <a:ext cx="4800600" cy="3749040"/>
          </a:xfrm>
          <a:prstGeom prst="rect">
            <a:avLst/>
          </a:prstGeom>
          <a:noFill/>
          <a:ln/>
        </p:spPr>
        <p:txBody>
          <a:bodyPr wrap="square" lIns="0" tIns="0" rIns="0" bIns="0" rtlCol="0" anchor="t"/>
          <a:lstStyle/>
          <a:p>
            <a:pPr marL="342900" indent="-342900">
              <a:spcAft>
                <a:spcPts val="1100"/>
              </a:spcAft>
              <a:buSzPct val="100000"/>
              <a:buChar char="•"/>
            </a:pPr>
            <a:r>
              <a:rPr lang="en-US" sz="1200" dirty="0">
                <a:solidFill>
                  <a:srgbClr val="16202E"/>
                </a:solidFill>
                <a:latin typeface="Calibri" pitchFamily="34" charset="0"/>
                <a:ea typeface="Calibri" pitchFamily="34" charset="-122"/>
                <a:cs typeface="Calibri" pitchFamily="34" charset="-120"/>
              </a:rPr>
              <a:t>One batch run scores a complete panel. The clinical, MRI and EEG results of every patient go into one sortable table.</a:t>
            </a:r>
            <a:endParaRPr lang="en-US" sz="1200" dirty="0"/>
          </a:p>
          <a:p>
            <a:pPr marL="342900" indent="-342900">
              <a:spcAft>
                <a:spcPts val="1100"/>
              </a:spcAft>
              <a:buSzPct val="100000"/>
              <a:buChar char="•"/>
            </a:pPr>
            <a:r>
              <a:rPr lang="en-US" sz="1200" dirty="0">
                <a:solidFill>
                  <a:srgbClr val="16202E"/>
                </a:solidFill>
                <a:latin typeface="Calibri" pitchFamily="34" charset="0"/>
                <a:ea typeface="Calibri" pitchFamily="34" charset="-122"/>
                <a:cs typeface="Calibri" pitchFamily="34" charset="-120"/>
              </a:rPr>
              <a:t>The app groups patients into phenotype clusters from the clinical profile. A practice sees the complete caseload, and not only the visit of today.</a:t>
            </a:r>
            <a:endParaRPr lang="en-US" sz="1200" dirty="0"/>
          </a:p>
          <a:p>
            <a:pPr marL="342900" indent="-342900">
              <a:spcAft>
                <a:spcPts val="1100"/>
              </a:spcAft>
              <a:buSzPct val="100000"/>
              <a:buChar char="•"/>
            </a:pPr>
            <a:r>
              <a:rPr lang="en-US" sz="1200" dirty="0">
                <a:solidFill>
                  <a:srgbClr val="16202E"/>
                </a:solidFill>
                <a:latin typeface="Calibri" pitchFamily="34" charset="0"/>
                <a:ea typeface="Calibri" pitchFamily="34" charset="-122"/>
                <a:cs typeface="Calibri" pitchFamily="34" charset="-120"/>
              </a:rPr>
              <a:t>The app plots the fused score against the known outcome of each patient. This is the nearest validation view that a clinic can run on its own data.</a:t>
            </a:r>
            <a:endParaRPr lang="en-US" sz="1200" dirty="0"/>
          </a:p>
          <a:p>
            <a:pPr marL="342900" indent="-342900">
              <a:spcAft>
                <a:spcPts val="1100"/>
              </a:spcAft>
              <a:buSzPct val="100000"/>
              <a:buChar char="•"/>
            </a:pPr>
            <a:r>
              <a:rPr lang="en-US" sz="1200" dirty="0">
                <a:solidFill>
                  <a:srgbClr val="16202E"/>
                </a:solidFill>
                <a:latin typeface="Calibri" pitchFamily="34" charset="0"/>
                <a:ea typeface="Calibri" pitchFamily="34" charset="-122"/>
                <a:cs typeface="Calibri" pitchFamily="34" charset="-120"/>
              </a:rPr>
              <a:t>The app marks the cases where the clinical impression and the fused score disagree. These patients need a second review.</a:t>
            </a:r>
            <a:endParaRPr lang="en-US" sz="1200" dirty="0"/>
          </a:p>
          <a:p>
            <a:pPr marL="342900" indent="-342900">
              <a:spcAft>
                <a:spcPts val="1100"/>
              </a:spcAft>
              <a:buSzPct val="100000"/>
              <a:buChar char="•"/>
            </a:pPr>
            <a:r>
              <a:rPr lang="en-US" sz="1200" dirty="0">
                <a:solidFill>
                  <a:srgbClr val="16202E"/>
                </a:solidFill>
                <a:latin typeface="Calibri" pitchFamily="34" charset="0"/>
                <a:ea typeface="Calibri" pitchFamily="34" charset="-122"/>
                <a:cs typeface="Calibri" pitchFamily="34" charset="-120"/>
              </a:rPr>
              <a:t>The app can highlight one patient against the cluster and against the wider population.</a:t>
            </a:r>
            <a:endParaRPr lang="en-US" sz="1200" dirty="0"/>
          </a:p>
        </p:txBody>
      </p:sp>
      <p:sp>
        <p:nvSpPr>
          <p:cNvPr id="7" name="Shape 5"/>
          <p:cNvSpPr/>
          <p:nvPr/>
        </p:nvSpPr>
        <p:spPr>
          <a:xfrm>
            <a:off x="548640" y="5486400"/>
            <a:ext cx="11109960" cy="640080"/>
          </a:xfrm>
          <a:prstGeom prst="roundRect">
            <a:avLst>
              <a:gd name="adj" fmla="val 8571"/>
            </a:avLst>
          </a:prstGeom>
          <a:solidFill>
            <a:srgbClr val="FFF6E9"/>
          </a:solidFill>
          <a:ln w="12700">
            <a:solidFill>
              <a:srgbClr val="F2952B"/>
            </a:solidFill>
            <a:prstDash val="solid"/>
          </a:ln>
        </p:spPr>
      </p:sp>
      <p:sp>
        <p:nvSpPr>
          <p:cNvPr id="8" name="Text 6"/>
          <p:cNvSpPr txBox="1"/>
          <p:nvPr/>
        </p:nvSpPr>
        <p:spPr>
          <a:xfrm>
            <a:off x="713232" y="5522976"/>
            <a:ext cx="10780776" cy="566928"/>
          </a:xfrm>
          <a:prstGeom prst="rect">
            <a:avLst/>
          </a:prstGeom>
          <a:noFill/>
          <a:ln/>
        </p:spPr>
        <p:txBody>
          <a:bodyPr wrap="square" lIns="0" tIns="0" rIns="0" bIns="0" rtlCol="0" anchor="ctr"/>
          <a:lstStyle/>
          <a:p>
            <a:pPr indent="0" marL="0">
              <a:buNone/>
            </a:pPr>
            <a:r>
              <a:rPr lang="en-US" sz="1150" dirty="0">
                <a:solidFill>
                  <a:srgbClr val="16202E"/>
                </a:solidFill>
                <a:latin typeface="Calibri" pitchFamily="34" charset="0"/>
                <a:ea typeface="Calibri" pitchFamily="34" charset="-122"/>
                <a:cs typeface="Calibri" pitchFamily="34" charset="-120"/>
              </a:rPr>
              <a:t>This page makes the tool a population-health tool, and not only a per-visit tool. It is the only page with no live LLM call, so it runs immediately after a batch is in the cache.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01752"/>
            <a:ext cx="8229600" cy="237744"/>
          </a:xfrm>
          <a:prstGeom prst="rect">
            <a:avLst/>
          </a:prstGeom>
          <a:noFill/>
          <a:ln/>
        </p:spPr>
        <p:txBody>
          <a:bodyPr wrap="square" lIns="0" tIns="0" rIns="0" bIns="0" rtlCol="0" anchor="ctr"/>
          <a:lstStyle/>
          <a:p>
            <a:pPr indent="0" marL="0">
              <a:buNone/>
            </a:pPr>
            <a:r>
              <a:rPr lang="en-US" sz="1100" b="1" spc="200" kern="0" dirty="0">
                <a:solidFill>
                  <a:srgbClr val="2E9BD6"/>
                </a:solidFill>
                <a:latin typeface="Calibri" pitchFamily="34" charset="0"/>
                <a:ea typeface="Calibri" pitchFamily="34" charset="-122"/>
                <a:cs typeface="Calibri" pitchFamily="34" charset="-120"/>
              </a:rPr>
              <a:t>VALIDATION</a:t>
            </a:r>
            <a:endParaRPr lang="en-US" sz="1100" dirty="0"/>
          </a:p>
        </p:txBody>
      </p:sp>
      <p:sp>
        <p:nvSpPr>
          <p:cNvPr id="3" name="Text 1"/>
          <p:cNvSpPr txBox="1"/>
          <p:nvPr/>
        </p:nvSpPr>
        <p:spPr>
          <a:xfrm>
            <a:off x="548640" y="548640"/>
            <a:ext cx="10241280" cy="685800"/>
          </a:xfrm>
          <a:prstGeom prst="rect">
            <a:avLst/>
          </a:prstGeom>
          <a:noFill/>
          <a:ln/>
        </p:spPr>
        <p:txBody>
          <a:bodyPr wrap="square" lIns="0" tIns="0" rIns="0" bIns="0" rtlCol="0" anchor="t"/>
          <a:lstStyle/>
          <a:p>
            <a:pPr indent="0" marL="0">
              <a:buNone/>
            </a:pPr>
            <a:r>
              <a:rPr lang="en-US" sz="3000" b="1" dirty="0">
                <a:solidFill>
                  <a:srgbClr val="16202E"/>
                </a:solidFill>
                <a:latin typeface="Calibri" pitchFamily="34" charset="0"/>
                <a:ea typeface="Calibri" pitchFamily="34" charset="-122"/>
                <a:cs typeface="Calibri" pitchFamily="34" charset="-120"/>
              </a:rPr>
              <a:t>Where the models stand</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109960" cy="914400"/>
        </p:xfrm>
        <a:graphic>
          <a:graphicData uri="http://schemas.openxmlformats.org/drawingml/2006/table">
            <a:tbl>
              <a:tblPr/>
              <a:tblGrid>
                <a:gridCol w="1691640"/>
                <a:gridCol w="3200400"/>
                <a:gridCol w="777240"/>
                <a:gridCol w="777240"/>
                <a:gridCol w="731520"/>
                <a:gridCol w="731520"/>
                <a:gridCol w="320040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0E1B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Algorithm</a:t>
                      </a:r>
                      <a:endParaRPr lang="en-US" sz="115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0E1B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AUROC</a:t>
                      </a:r>
                      <a:endParaRPr lang="en-US" sz="115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0E1B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AUPRC</a:t>
                      </a:r>
                      <a:endParaRPr lang="en-US" sz="115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0E1B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Sens.</a:t>
                      </a:r>
                      <a:endParaRPr lang="en-US" sz="115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0E1B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Spec.</a:t>
                      </a:r>
                      <a:endParaRPr lang="en-US" sz="115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0E1B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Evaluation</a:t>
                      </a:r>
                      <a:endParaRPr lang="en-US" sz="115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0E1B2E"/>
                    </a:solidFill>
                  </a:tcPr>
                </a:tc>
              </a:tr>
              <a:tr h="384048">
                <a:tc>
                  <a:txBody>
                    <a:bodyPr/>
                    <a:lstStyle/>
                    <a:p>
                      <a:pPr indent="0" marL="0">
                        <a:buNone/>
                      </a:pPr>
                      <a:r>
                        <a:rPr lang="en-US" sz="1100" b="1" dirty="0">
                          <a:solidFill>
                            <a:srgbClr val="16202E"/>
                          </a:solidFill>
                          <a:latin typeface="Calibri" pitchFamily="34" charset="0"/>
                          <a:ea typeface="Calibri" pitchFamily="34" charset="-122"/>
                          <a:cs typeface="Calibri" pitchFamily="34" charset="-120"/>
                        </a:rPr>
                        <a:t>Clinical</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Logistic regression (9 features)</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0.73</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0.64</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0.47</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0.84</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5-fold CV, out-of-fold</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r>
              <a:tr h="384048">
                <a:tc>
                  <a:txBody>
                    <a:bodyPr/>
                    <a:lstStyle/>
                    <a:p>
                      <a:pPr indent="0" marL="0">
                        <a:buNone/>
                      </a:pPr>
                      <a:r>
                        <a:rPr lang="en-US" sz="1100" b="1" dirty="0">
                          <a:solidFill>
                            <a:srgbClr val="16202E"/>
                          </a:solidFill>
                          <a:latin typeface="Calibri" pitchFamily="34" charset="0"/>
                          <a:ea typeface="Calibri" pitchFamily="34" charset="-122"/>
                          <a:cs typeface="Calibri" pitchFamily="34" charset="-120"/>
                        </a:rPr>
                        <a:t>MRI — 2D slice, preliminary</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ResNet18, frozen backbone + retrained head</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0.91</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0.89</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0.70</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0.91</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Held-out patients, 70/15/15</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6202E"/>
                          </a:solidFill>
                          <a:latin typeface="Calibri" pitchFamily="34" charset="0"/>
                          <a:ea typeface="Calibri" pitchFamily="34" charset="-122"/>
                          <a:cs typeface="Calibri" pitchFamily="34" charset="-120"/>
                        </a:rPr>
                        <a:t>EEG</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Logistic regression on band-power features</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0.82</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0.83</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0.75</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0.76</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5-fold CV, out-of-fold</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2F5FA"/>
                    </a:solidFill>
                  </a:tcPr>
                </a:tc>
              </a:tr>
              <a:tr h="384048">
                <a:tc>
                  <a:txBody>
                    <a:bodyPr/>
                    <a:lstStyle/>
                    <a:p>
                      <a:pPr indent="0" marL="0">
                        <a:buNone/>
                      </a:pPr>
                      <a:r>
                        <a:rPr lang="en-US" sz="1100" b="1" dirty="0">
                          <a:solidFill>
                            <a:srgbClr val="16202E"/>
                          </a:solidFill>
                          <a:latin typeface="Calibri" pitchFamily="34" charset="0"/>
                          <a:ea typeface="Calibri" pitchFamily="34" charset="-122"/>
                          <a:cs typeface="Calibri" pitchFamily="34" charset="-120"/>
                        </a:rPr>
                        <a:t>Integrated prognosis</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Log-odds opinion pool (no trained parameters)</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00" dirty="0">
                          <a:solidFill>
                            <a:srgbClr val="16202E"/>
                          </a:solidFill>
                          <a:latin typeface="Calibri" pitchFamily="34" charset="0"/>
                          <a:ea typeface="Calibri" pitchFamily="34" charset="-122"/>
                          <a:cs typeface="Calibri" pitchFamily="34" charset="-120"/>
                        </a:rPr>
                        <a:t>Not separately benchmarked</a:t>
                      </a:r>
                      <a:endParaRPr lang="en-US" sz="1100" dirty="0">
                        <a:latin typeface="Calibri" charset="0"/>
                        <a:ea typeface="Calibri" charset="0"/>
                        <a:cs typeface="Calibri" charset="0"/>
                      </a:endParaRPr>
                    </a:p>
                  </a:txBody>
                  <a:tcPr marL="54864" marR="54864" marT="54864" marB="54864" anchor="ctr">
                    <a:lnL w="12700" cap="flat" cmpd="sng" algn="ctr">
                      <a:solidFill>
                        <a:srgbClr val="D8E1EC"/>
                      </a:solidFill>
                      <a:prstDash val="solid"/>
                      <a:round/>
                      <a:headEnd type="none" w="med" len="med"/>
                      <a:tailEnd type="none" w="med" len="med"/>
                    </a:lnL>
                    <a:lnR w="12700" cap="flat" cmpd="sng" algn="ctr">
                      <a:solidFill>
                        <a:srgbClr val="D8E1EC"/>
                      </a:solidFill>
                      <a:prstDash val="solid"/>
                      <a:round/>
                      <a:headEnd type="none" w="med" len="med"/>
                      <a:tailEnd type="none" w="med" len="med"/>
                    </a:lnR>
                    <a:lnT w="12700" cap="flat" cmpd="sng" algn="ctr">
                      <a:solidFill>
                        <a:srgbClr val="D8E1EC"/>
                      </a:solidFill>
                      <a:prstDash val="solid"/>
                      <a:round/>
                      <a:headEnd type="none" w="med" len="med"/>
                      <a:tailEnd type="none" w="med" len="med"/>
                    </a:lnT>
                    <a:lnB w="12700" cap="flat" cmpd="sng" algn="ctr">
                      <a:solidFill>
                        <a:srgbClr val="D8E1EC"/>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749040"/>
            <a:ext cx="5394960" cy="1645920"/>
          </a:xfrm>
          <a:prstGeom prst="roundRect">
            <a:avLst>
              <a:gd name="adj" fmla="val 4444"/>
            </a:avLst>
          </a:prstGeom>
          <a:solidFill>
            <a:srgbClr val="F2F5FA"/>
          </a:solidFill>
          <a:ln w="12700">
            <a:solidFill>
              <a:srgbClr val="F2F5FA"/>
            </a:solidFill>
            <a:prstDash val="solid"/>
          </a:ln>
        </p:spPr>
      </p:sp>
      <p:sp>
        <p:nvSpPr>
          <p:cNvPr id="6" name="Text 3"/>
          <p:cNvSpPr txBox="1"/>
          <p:nvPr/>
        </p:nvSpPr>
        <p:spPr>
          <a:xfrm>
            <a:off x="777240" y="3886200"/>
            <a:ext cx="4937760" cy="274320"/>
          </a:xfrm>
          <a:prstGeom prst="rect">
            <a:avLst/>
          </a:prstGeom>
          <a:noFill/>
          <a:ln/>
        </p:spPr>
        <p:txBody>
          <a:bodyPr wrap="square" lIns="0" tIns="0" rIns="0" bIns="0" rtlCol="0" anchor="ctr"/>
          <a:lstStyle/>
          <a:p>
            <a:pPr indent="0" marL="0">
              <a:buNone/>
            </a:pPr>
            <a:r>
              <a:rPr lang="en-US" sz="1350" b="1" dirty="0">
                <a:solidFill>
                  <a:srgbClr val="1B5FA8"/>
                </a:solidFill>
                <a:latin typeface="Calibri" pitchFamily="34" charset="0"/>
                <a:ea typeface="Calibri" pitchFamily="34" charset="-122"/>
                <a:cs typeface="Calibri" pitchFamily="34" charset="-120"/>
              </a:rPr>
              <a:t>Limits of these numbers</a:t>
            </a:r>
            <a:endParaRPr lang="en-US" sz="1350" dirty="0"/>
          </a:p>
        </p:txBody>
      </p:sp>
      <p:sp>
        <p:nvSpPr>
          <p:cNvPr id="7" name="Text 4"/>
          <p:cNvSpPr txBox="1"/>
          <p:nvPr/>
        </p:nvSpPr>
        <p:spPr>
          <a:xfrm>
            <a:off x="777240" y="4224528"/>
            <a:ext cx="4937760" cy="1051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02E"/>
                </a:solidFill>
                <a:latin typeface="Calibri" pitchFamily="34" charset="0"/>
                <a:ea typeface="Calibri" pitchFamily="34" charset="-122"/>
                <a:cs typeface="Calibri" pitchFamily="34" charset="-120"/>
              </a:rPr>
              <a:t>The clinical model uses a synthetic OASIS-shaped sample of 82 rows. The numbers show that the pipeline works, and are not a real-world benchmark.</a:t>
            </a:r>
            <a:endParaRPr lang="en-US" sz="1150" dirty="0"/>
          </a:p>
          <a:p>
            <a:pPr marL="342900" indent="-342900">
              <a:spcAft>
                <a:spcPts val="600"/>
              </a:spcAft>
              <a:buSzPct val="100000"/>
              <a:buChar char="•"/>
            </a:pPr>
            <a:r>
              <a:rPr lang="en-US" sz="1150" dirty="0">
                <a:solidFill>
                  <a:srgbClr val="16202E"/>
                </a:solidFill>
                <a:latin typeface="Calibri" pitchFamily="34" charset="0"/>
                <a:ea typeface="Calibri" pitchFamily="34" charset="-122"/>
                <a:cs typeface="Calibri" pitchFamily="34" charset="-120"/>
              </a:rPr>
              <a:t>The MRI and EEG numbers come from real data (about 23,000 slices, and n = 65 recordings). The MRI row is the 2D slice pathway only.</a:t>
            </a:r>
            <a:endParaRPr lang="en-US" sz="1150" dirty="0"/>
          </a:p>
        </p:txBody>
      </p:sp>
      <p:sp>
        <p:nvSpPr>
          <p:cNvPr id="8" name="Shape 5"/>
          <p:cNvSpPr/>
          <p:nvPr/>
        </p:nvSpPr>
        <p:spPr>
          <a:xfrm>
            <a:off x="6263640" y="3749040"/>
            <a:ext cx="5394960" cy="1645920"/>
          </a:xfrm>
          <a:prstGeom prst="roundRect">
            <a:avLst>
              <a:gd name="adj" fmla="val 4444"/>
            </a:avLst>
          </a:prstGeom>
          <a:solidFill>
            <a:srgbClr val="F2F5FA"/>
          </a:solidFill>
          <a:ln w="12700">
            <a:solidFill>
              <a:srgbClr val="F2F5FA"/>
            </a:solidFill>
            <a:prstDash val="solid"/>
          </a:ln>
        </p:spPr>
      </p:sp>
      <p:sp>
        <p:nvSpPr>
          <p:cNvPr id="9" name="Text 6"/>
          <p:cNvSpPr txBox="1"/>
          <p:nvPr/>
        </p:nvSpPr>
        <p:spPr>
          <a:xfrm>
            <a:off x="6492240" y="3886200"/>
            <a:ext cx="4937760" cy="274320"/>
          </a:xfrm>
          <a:prstGeom prst="rect">
            <a:avLst/>
          </a:prstGeom>
          <a:noFill/>
          <a:ln/>
        </p:spPr>
        <p:txBody>
          <a:bodyPr wrap="square" lIns="0" tIns="0" rIns="0" bIns="0" rtlCol="0" anchor="ctr"/>
          <a:lstStyle/>
          <a:p>
            <a:pPr indent="0" marL="0">
              <a:buNone/>
            </a:pPr>
            <a:r>
              <a:rPr lang="en-US" sz="1350" b="1" dirty="0">
                <a:solidFill>
                  <a:srgbClr val="1B5FA8"/>
                </a:solidFill>
                <a:latin typeface="Calibri" pitchFamily="34" charset="0"/>
                <a:ea typeface="Calibri" pitchFamily="34" charset="-122"/>
                <a:cs typeface="Calibri" pitchFamily="34" charset="-120"/>
              </a:rPr>
              <a:t>Why fusion has no row</a:t>
            </a:r>
            <a:endParaRPr lang="en-US" sz="1350" dirty="0"/>
          </a:p>
        </p:txBody>
      </p:sp>
      <p:sp>
        <p:nvSpPr>
          <p:cNvPr id="10" name="Text 7"/>
          <p:cNvSpPr txBox="1"/>
          <p:nvPr/>
        </p:nvSpPr>
        <p:spPr>
          <a:xfrm>
            <a:off x="6492240" y="4224528"/>
            <a:ext cx="4937760" cy="1051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02E"/>
                </a:solidFill>
                <a:latin typeface="Calibri" pitchFamily="34" charset="0"/>
                <a:ea typeface="Calibri" pitchFamily="34" charset="-122"/>
                <a:cs typeface="Calibri" pitchFamily="34" charset="-120"/>
              </a:rPr>
              <a:t>No paired multimodal ground truth exists, so validation of a fused score is not possible.</a:t>
            </a:r>
            <a:endParaRPr lang="en-US" sz="1150" dirty="0"/>
          </a:p>
          <a:p>
            <a:pPr marL="342900" indent="-342900">
              <a:spcAft>
                <a:spcPts val="600"/>
              </a:spcAft>
              <a:buSzPct val="100000"/>
              <a:buChar char="•"/>
            </a:pPr>
            <a:r>
              <a:rPr lang="en-US" sz="1150" dirty="0">
                <a:solidFill>
                  <a:srgbClr val="16202E"/>
                </a:solidFill>
                <a:latin typeface="Calibri" pitchFamily="34" charset="0"/>
                <a:ea typeface="Calibri" pitchFamily="34" charset="-122"/>
                <a:cs typeface="Calibri" pitchFamily="34" charset="-120"/>
              </a:rPr>
              <a:t>An accuracy figure for the fused score is not available. The row stays empty until the data exists.</a:t>
            </a:r>
            <a:endParaRPr lang="en-US" sz="1150" dirty="0"/>
          </a:p>
          <a:p>
            <a:pPr marL="342900" indent="-342900">
              <a:spcAft>
                <a:spcPts val="600"/>
              </a:spcAft>
              <a:buSzPct val="100000"/>
              <a:buChar char="•"/>
            </a:pPr>
            <a:r>
              <a:rPr lang="en-US" sz="1150" dirty="0">
                <a:solidFill>
                  <a:srgbClr val="16202E"/>
                </a:solidFill>
                <a:latin typeface="Calibri" pitchFamily="34" charset="0"/>
                <a:ea typeface="Calibri" pitchFamily="34" charset="-122"/>
                <a:cs typeface="Calibri" pitchFamily="34" charset="-120"/>
              </a:rPr>
              <a:t>The 3D pathway has no row either. It reuses the 2D model, and it has no separate benchmark.</a:t>
            </a:r>
            <a:endParaRPr lang="en-US" sz="1150" dirty="0"/>
          </a:p>
        </p:txBody>
      </p:sp>
      <p:sp>
        <p:nvSpPr>
          <p:cNvPr id="11" name="Text 8"/>
          <p:cNvSpPr txBox="1"/>
          <p:nvPr/>
        </p:nvSpPr>
        <p:spPr>
          <a:xfrm>
            <a:off x="548640" y="5623560"/>
            <a:ext cx="11109960" cy="274320"/>
          </a:xfrm>
          <a:prstGeom prst="rect">
            <a:avLst/>
          </a:prstGeom>
          <a:noFill/>
          <a:ln/>
        </p:spPr>
        <p:txBody>
          <a:bodyPr wrap="square" lIns="0" tIns="0" rIns="0" bIns="0" rtlCol="0" anchor="ctr"/>
          <a:lstStyle/>
          <a:p>
            <a:pPr indent="0" marL="0">
              <a:buNone/>
            </a:pPr>
            <a:r>
              <a:rPr lang="en-US" sz="1150" i="1" dirty="0">
                <a:solidFill>
                  <a:srgbClr val="5C6B7F"/>
                </a:solidFill>
                <a:latin typeface="Calibri" pitchFamily="34" charset="0"/>
                <a:ea typeface="Calibri" pitchFamily="34" charset="-122"/>
                <a:cs typeface="Calibri" pitchFamily="34" charset="-120"/>
              </a:rPr>
              <a:t>The metrics will change after we get access to larger datasets. The pipeline, the splits and the evaluation harness transfer without change.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01752"/>
            <a:ext cx="8229600" cy="237744"/>
          </a:xfrm>
          <a:prstGeom prst="rect">
            <a:avLst/>
          </a:prstGeom>
          <a:noFill/>
          <a:ln/>
        </p:spPr>
        <p:txBody>
          <a:bodyPr wrap="square" lIns="0" tIns="0" rIns="0" bIns="0" rtlCol="0" anchor="ctr"/>
          <a:lstStyle/>
          <a:p>
            <a:pPr indent="0" marL="0">
              <a:buNone/>
            </a:pPr>
            <a:r>
              <a:rPr lang="en-US" sz="1100" b="1" spc="200" kern="0" dirty="0">
                <a:solidFill>
                  <a:srgbClr val="2E9BD6"/>
                </a:solidFill>
                <a:latin typeface="Calibri" pitchFamily="34" charset="0"/>
                <a:ea typeface="Calibri" pitchFamily="34" charset="-122"/>
                <a:cs typeface="Calibri" pitchFamily="34" charset="-120"/>
              </a:rPr>
              <a:t>KNOWN LIMITS</a:t>
            </a:r>
            <a:endParaRPr lang="en-US" sz="1100" dirty="0"/>
          </a:p>
        </p:txBody>
      </p:sp>
      <p:sp>
        <p:nvSpPr>
          <p:cNvPr id="3" name="Text 1"/>
          <p:cNvSpPr txBox="1"/>
          <p:nvPr/>
        </p:nvSpPr>
        <p:spPr>
          <a:xfrm>
            <a:off x="548640" y="548640"/>
            <a:ext cx="10241280" cy="685800"/>
          </a:xfrm>
          <a:prstGeom prst="rect">
            <a:avLst/>
          </a:prstGeom>
          <a:noFill/>
          <a:ln/>
        </p:spPr>
        <p:txBody>
          <a:bodyPr wrap="square" lIns="0" tIns="0" rIns="0" bIns="0" rtlCol="0" anchor="t"/>
          <a:lstStyle/>
          <a:p>
            <a:pPr indent="0" marL="0">
              <a:buNone/>
            </a:pPr>
            <a:r>
              <a:rPr lang="en-US" sz="3000" b="1" dirty="0">
                <a:solidFill>
                  <a:srgbClr val="16202E"/>
                </a:solidFill>
                <a:latin typeface="Calibri" pitchFamily="34" charset="0"/>
                <a:ea typeface="Calibri" pitchFamily="34" charset="-122"/>
                <a:cs typeface="Calibri" pitchFamily="34" charset="-120"/>
              </a:rPr>
              <a:t>What this is not, and what comes next</a:t>
            </a:r>
            <a:endParaRPr lang="en-US" sz="3000" dirty="0"/>
          </a:p>
        </p:txBody>
      </p:sp>
      <p:sp>
        <p:nvSpPr>
          <p:cNvPr id="4" name="Shape 2"/>
          <p:cNvSpPr/>
          <p:nvPr/>
        </p:nvSpPr>
        <p:spPr>
          <a:xfrm>
            <a:off x="548640" y="1417320"/>
            <a:ext cx="5394960" cy="1965960"/>
          </a:xfrm>
          <a:prstGeom prst="roundRect">
            <a:avLst>
              <a:gd name="adj" fmla="val 3721"/>
            </a:avLst>
          </a:prstGeom>
          <a:solidFill>
            <a:srgbClr val="F2F5FA"/>
          </a:solidFill>
          <a:ln w="12700">
            <a:solidFill>
              <a:srgbClr val="F2F5FA"/>
            </a:solidFill>
            <a:prstDash val="solid"/>
          </a:ln>
        </p:spPr>
      </p:sp>
      <p:sp>
        <p:nvSpPr>
          <p:cNvPr id="5" name="Text 3"/>
          <p:cNvSpPr txBox="1"/>
          <p:nvPr/>
        </p:nvSpPr>
        <p:spPr>
          <a:xfrm>
            <a:off x="777240" y="1545336"/>
            <a:ext cx="4937760" cy="274320"/>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Synthetic patient pairing</a:t>
            </a:r>
            <a:endParaRPr lang="en-US" sz="1350" dirty="0"/>
          </a:p>
        </p:txBody>
      </p:sp>
      <p:sp>
        <p:nvSpPr>
          <p:cNvPr id="6" name="Text 4"/>
          <p:cNvSpPr txBox="1"/>
          <p:nvPr/>
        </p:nvSpPr>
        <p:spPr>
          <a:xfrm>
            <a:off x="777240" y="1874520"/>
            <a:ext cx="4937760" cy="868680"/>
          </a:xfrm>
          <a:prstGeom prst="rect">
            <a:avLst/>
          </a:prstGeom>
          <a:noFill/>
          <a:ln/>
        </p:spPr>
        <p:txBody>
          <a:bodyPr wrap="square" lIns="0" tIns="0" rIns="0" bIns="0" rtlCol="0" anchor="t"/>
          <a:lstStyle/>
          <a:p>
            <a:pPr indent="0" marL="0">
              <a:lnSpc>
                <a:spcPct val="108000"/>
              </a:lnSpc>
              <a:buNone/>
            </a:pPr>
            <a:r>
              <a:rPr lang="en-US" sz="1100" dirty="0">
                <a:solidFill>
                  <a:srgbClr val="16202E"/>
                </a:solidFill>
                <a:latin typeface="Calibri" pitchFamily="34" charset="0"/>
                <a:ea typeface="Calibri" pitchFamily="34" charset="-122"/>
                <a:cs typeface="Calibri" pitchFamily="34" charset="-120"/>
              </a:rPr>
              <a:t>The three source datasets share no real patients. The patient database links them by demographic match. This is a valid engineering fixture for the fused pathway, and not a co-registered clinical cohort.</a:t>
            </a:r>
            <a:endParaRPr lang="en-US" sz="1100" dirty="0"/>
          </a:p>
        </p:txBody>
      </p:sp>
      <p:sp>
        <p:nvSpPr>
          <p:cNvPr id="7" name="Text 5"/>
          <p:cNvSpPr txBox="1"/>
          <p:nvPr/>
        </p:nvSpPr>
        <p:spPr>
          <a:xfrm>
            <a:off x="777240" y="2788920"/>
            <a:ext cx="4937760" cy="502920"/>
          </a:xfrm>
          <a:prstGeom prst="rect">
            <a:avLst/>
          </a:prstGeom>
          <a:noFill/>
          <a:ln/>
        </p:spPr>
        <p:txBody>
          <a:bodyPr wrap="square" lIns="0" tIns="0" rIns="0" bIns="0" rtlCol="0" anchor="t"/>
          <a:lstStyle/>
          <a:p>
            <a:pPr indent="0" marL="0">
              <a:lnSpc>
                <a:spcPct val="105000"/>
              </a:lnSpc>
              <a:buNone/>
            </a:pPr>
            <a:r>
              <a:rPr lang="en-US" sz="1050" b="1" dirty="0">
                <a:solidFill>
                  <a:srgbClr val="1B5FA8"/>
                </a:solidFill>
                <a:latin typeface="Calibri" pitchFamily="34" charset="0"/>
                <a:ea typeface="Calibri" pitchFamily="34" charset="-122"/>
                <a:cs typeface="Calibri" pitchFamily="34" charset="-120"/>
              </a:rPr>
              <a:t>Upgrade path:  </a:t>
            </a:r>
            <a:pPr indent="0" marL="0">
              <a:lnSpc>
                <a:spcPct val="105000"/>
              </a:lnSpc>
              <a:buNone/>
            </a:pPr>
            <a:r>
              <a:rPr lang="en-US" sz="1050" dirty="0">
                <a:solidFill>
                  <a:srgbClr val="5C6B7F"/>
                </a:solidFill>
                <a:latin typeface="Calibri" pitchFamily="34" charset="0"/>
                <a:ea typeface="Calibri" pitchFamily="34" charset="-122"/>
                <a:cs typeface="Calibri" pitchFamily="34" charset="-120"/>
              </a:rPr>
              <a:t>Paired acquisition, or a partner dataset that holds all three modalities per patient.</a:t>
            </a:r>
            <a:endParaRPr lang="en-US" sz="1050" dirty="0"/>
          </a:p>
        </p:txBody>
      </p:sp>
      <p:sp>
        <p:nvSpPr>
          <p:cNvPr id="8" name="Shape 6"/>
          <p:cNvSpPr/>
          <p:nvPr/>
        </p:nvSpPr>
        <p:spPr>
          <a:xfrm>
            <a:off x="6263640" y="1417320"/>
            <a:ext cx="5394960" cy="1965960"/>
          </a:xfrm>
          <a:prstGeom prst="roundRect">
            <a:avLst>
              <a:gd name="adj" fmla="val 3721"/>
            </a:avLst>
          </a:prstGeom>
          <a:solidFill>
            <a:srgbClr val="F2F5FA"/>
          </a:solidFill>
          <a:ln w="12700">
            <a:solidFill>
              <a:srgbClr val="F2F5FA"/>
            </a:solidFill>
            <a:prstDash val="solid"/>
          </a:ln>
        </p:spPr>
      </p:sp>
      <p:sp>
        <p:nvSpPr>
          <p:cNvPr id="9" name="Text 7"/>
          <p:cNvSpPr txBox="1"/>
          <p:nvPr/>
        </p:nvSpPr>
        <p:spPr>
          <a:xfrm>
            <a:off x="6492240" y="1545336"/>
            <a:ext cx="4937760" cy="274320"/>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3D pathway is a documented v1</a:t>
            </a:r>
            <a:endParaRPr lang="en-US" sz="1350" dirty="0"/>
          </a:p>
        </p:txBody>
      </p:sp>
      <p:sp>
        <p:nvSpPr>
          <p:cNvPr id="10" name="Text 8"/>
          <p:cNvSpPr txBox="1"/>
          <p:nvPr/>
        </p:nvSpPr>
        <p:spPr>
          <a:xfrm>
            <a:off x="6492240" y="1874520"/>
            <a:ext cx="4937760" cy="868680"/>
          </a:xfrm>
          <a:prstGeom prst="rect">
            <a:avLst/>
          </a:prstGeom>
          <a:noFill/>
          <a:ln/>
        </p:spPr>
        <p:txBody>
          <a:bodyPr wrap="square" lIns="0" tIns="0" rIns="0" bIns="0" rtlCol="0" anchor="t"/>
          <a:lstStyle/>
          <a:p>
            <a:pPr indent="0" marL="0">
              <a:lnSpc>
                <a:spcPct val="108000"/>
              </a:lnSpc>
              <a:buNone/>
            </a:pPr>
            <a:r>
              <a:rPr lang="en-US" sz="1100" dirty="0">
                <a:solidFill>
                  <a:srgbClr val="16202E"/>
                </a:solidFill>
                <a:latin typeface="Calibri" pitchFamily="34" charset="0"/>
                <a:ea typeface="Calibri" pitchFamily="34" charset="-122"/>
                <a:cs typeface="Calibri" pitchFamily="34" charset="-120"/>
              </a:rPr>
              <a:t>The 3D read applies the 2D model to pooled central axial slices. It has no separate benchmark, so every MRI metric in this deck is the 2D pathway.</a:t>
            </a:r>
            <a:endParaRPr lang="en-US" sz="1100" dirty="0"/>
          </a:p>
        </p:txBody>
      </p:sp>
      <p:sp>
        <p:nvSpPr>
          <p:cNvPr id="11" name="Text 9"/>
          <p:cNvSpPr txBox="1"/>
          <p:nvPr/>
        </p:nvSpPr>
        <p:spPr>
          <a:xfrm>
            <a:off x="6492240" y="2788920"/>
            <a:ext cx="4937760" cy="502920"/>
          </a:xfrm>
          <a:prstGeom prst="rect">
            <a:avLst/>
          </a:prstGeom>
          <a:noFill/>
          <a:ln/>
        </p:spPr>
        <p:txBody>
          <a:bodyPr wrap="square" lIns="0" tIns="0" rIns="0" bIns="0" rtlCol="0" anchor="t"/>
          <a:lstStyle/>
          <a:p>
            <a:pPr indent="0" marL="0">
              <a:lnSpc>
                <a:spcPct val="105000"/>
              </a:lnSpc>
              <a:buNone/>
            </a:pPr>
            <a:r>
              <a:rPr lang="en-US" sz="1050" b="1" dirty="0">
                <a:solidFill>
                  <a:srgbClr val="1B5FA8"/>
                </a:solidFill>
                <a:latin typeface="Calibri" pitchFamily="34" charset="0"/>
                <a:ea typeface="Calibri" pitchFamily="34" charset="-122"/>
                <a:cs typeface="Calibri" pitchFamily="34" charset="-120"/>
              </a:rPr>
              <a:t>Upgrade path:  </a:t>
            </a:r>
            <a:pPr indent="0" marL="0">
              <a:lnSpc>
                <a:spcPct val="105000"/>
              </a:lnSpc>
              <a:buNone/>
            </a:pPr>
            <a:r>
              <a:rPr lang="en-US" sz="1050" dirty="0">
                <a:solidFill>
                  <a:srgbClr val="5C6B7F"/>
                </a:solidFill>
                <a:latin typeface="Calibri" pitchFamily="34" charset="0"/>
                <a:ea typeface="Calibri" pitchFamily="34" charset="-122"/>
                <a:cs typeface="Calibri" pitchFamily="34" charset="-120"/>
              </a:rPr>
              <a:t>A true volumetric model (MONAI / TorchIO) with its own evaluation, after volumetric training data is available.</a:t>
            </a:r>
            <a:endParaRPr lang="en-US" sz="1050" dirty="0"/>
          </a:p>
        </p:txBody>
      </p:sp>
      <p:sp>
        <p:nvSpPr>
          <p:cNvPr id="12" name="Shape 10"/>
          <p:cNvSpPr/>
          <p:nvPr/>
        </p:nvSpPr>
        <p:spPr>
          <a:xfrm>
            <a:off x="548640" y="3566160"/>
            <a:ext cx="5394960" cy="1965960"/>
          </a:xfrm>
          <a:prstGeom prst="roundRect">
            <a:avLst>
              <a:gd name="adj" fmla="val 3721"/>
            </a:avLst>
          </a:prstGeom>
          <a:solidFill>
            <a:srgbClr val="F2F5FA"/>
          </a:solidFill>
          <a:ln w="12700">
            <a:solidFill>
              <a:srgbClr val="F2F5FA"/>
            </a:solidFill>
            <a:prstDash val="solid"/>
          </a:ln>
        </p:spPr>
      </p:sp>
      <p:sp>
        <p:nvSpPr>
          <p:cNvPr id="13" name="Text 11"/>
          <p:cNvSpPr txBox="1"/>
          <p:nvPr/>
        </p:nvSpPr>
        <p:spPr>
          <a:xfrm>
            <a:off x="777240" y="3694176"/>
            <a:ext cx="4937760" cy="274320"/>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Fusion weights are untuned</a:t>
            </a:r>
            <a:endParaRPr lang="en-US" sz="1350" dirty="0"/>
          </a:p>
        </p:txBody>
      </p:sp>
      <p:sp>
        <p:nvSpPr>
          <p:cNvPr id="14" name="Text 12"/>
          <p:cNvSpPr txBox="1"/>
          <p:nvPr/>
        </p:nvSpPr>
        <p:spPr>
          <a:xfrm>
            <a:off x="777240" y="4023360"/>
            <a:ext cx="4937760" cy="868680"/>
          </a:xfrm>
          <a:prstGeom prst="rect">
            <a:avLst/>
          </a:prstGeom>
          <a:noFill/>
          <a:ln/>
        </p:spPr>
        <p:txBody>
          <a:bodyPr wrap="square" lIns="0" tIns="0" rIns="0" bIns="0" rtlCol="0" anchor="t"/>
          <a:lstStyle/>
          <a:p>
            <a:pPr indent="0" marL="0">
              <a:lnSpc>
                <a:spcPct val="108000"/>
              </a:lnSpc>
              <a:buNone/>
            </a:pPr>
            <a:r>
              <a:rPr lang="en-US" sz="1100" dirty="0">
                <a:solidFill>
                  <a:srgbClr val="16202E"/>
                </a:solidFill>
                <a:latin typeface="Calibri" pitchFamily="34" charset="0"/>
                <a:ea typeface="Calibri" pitchFamily="34" charset="-122"/>
                <a:cs typeface="Calibri" pitchFamily="34" charset="-120"/>
              </a:rPr>
              <a:t>rᵢ is 1.0 for every modality, and per-modality calibration is absent. An overconfident MRI softmax goes directly into the fused score.</a:t>
            </a:r>
            <a:endParaRPr lang="en-US" sz="1100" dirty="0"/>
          </a:p>
        </p:txBody>
      </p:sp>
      <p:sp>
        <p:nvSpPr>
          <p:cNvPr id="15" name="Text 13"/>
          <p:cNvSpPr txBox="1"/>
          <p:nvPr/>
        </p:nvSpPr>
        <p:spPr>
          <a:xfrm>
            <a:off x="777240" y="4937760"/>
            <a:ext cx="4937760" cy="502920"/>
          </a:xfrm>
          <a:prstGeom prst="rect">
            <a:avLst/>
          </a:prstGeom>
          <a:noFill/>
          <a:ln/>
        </p:spPr>
        <p:txBody>
          <a:bodyPr wrap="square" lIns="0" tIns="0" rIns="0" bIns="0" rtlCol="0" anchor="t"/>
          <a:lstStyle/>
          <a:p>
            <a:pPr indent="0" marL="0">
              <a:lnSpc>
                <a:spcPct val="105000"/>
              </a:lnSpc>
              <a:buNone/>
            </a:pPr>
            <a:r>
              <a:rPr lang="en-US" sz="1050" b="1" dirty="0">
                <a:solidFill>
                  <a:srgbClr val="1B5FA8"/>
                </a:solidFill>
                <a:latin typeface="Calibri" pitchFamily="34" charset="0"/>
                <a:ea typeface="Calibri" pitchFamily="34" charset="-122"/>
                <a:cs typeface="Calibri" pitchFamily="34" charset="-120"/>
              </a:rPr>
              <a:t>Upgrade path:  </a:t>
            </a:r>
            <a:pPr indent="0" marL="0">
              <a:lnSpc>
                <a:spcPct val="105000"/>
              </a:lnSpc>
              <a:buNone/>
            </a:pPr>
            <a:r>
              <a:rPr lang="en-US" sz="1050" dirty="0">
                <a:solidFill>
                  <a:srgbClr val="5C6B7F"/>
                </a:solidFill>
                <a:latin typeface="Calibri" pitchFamily="34" charset="0"/>
                <a:ea typeface="Calibri" pitchFamily="34" charset="-122"/>
                <a:cs typeface="Calibri" pitchFamily="34" charset="-120"/>
              </a:rPr>
              <a:t>Fit rᵢ (or a stacking meta-model) and add temperature scaling per modality, after a paired labeled set exists.</a:t>
            </a:r>
            <a:endParaRPr lang="en-US" sz="1050" dirty="0"/>
          </a:p>
        </p:txBody>
      </p:sp>
      <p:sp>
        <p:nvSpPr>
          <p:cNvPr id="16" name="Shape 14"/>
          <p:cNvSpPr/>
          <p:nvPr/>
        </p:nvSpPr>
        <p:spPr>
          <a:xfrm>
            <a:off x="6263640" y="3566160"/>
            <a:ext cx="5394960" cy="1965960"/>
          </a:xfrm>
          <a:prstGeom prst="roundRect">
            <a:avLst>
              <a:gd name="adj" fmla="val 3721"/>
            </a:avLst>
          </a:prstGeom>
          <a:solidFill>
            <a:srgbClr val="F2F5FA"/>
          </a:solidFill>
          <a:ln w="12700">
            <a:solidFill>
              <a:srgbClr val="F2F5FA"/>
            </a:solidFill>
            <a:prstDash val="solid"/>
          </a:ln>
        </p:spPr>
      </p:sp>
      <p:sp>
        <p:nvSpPr>
          <p:cNvPr id="17" name="Text 15"/>
          <p:cNvSpPr txBox="1"/>
          <p:nvPr/>
        </p:nvSpPr>
        <p:spPr>
          <a:xfrm>
            <a:off x="6492240" y="3694176"/>
            <a:ext cx="4937760" cy="274320"/>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Modalities treated as independent</a:t>
            </a:r>
            <a:endParaRPr lang="en-US" sz="1350" dirty="0"/>
          </a:p>
        </p:txBody>
      </p:sp>
      <p:sp>
        <p:nvSpPr>
          <p:cNvPr id="18" name="Text 16"/>
          <p:cNvSpPr txBox="1"/>
          <p:nvPr/>
        </p:nvSpPr>
        <p:spPr>
          <a:xfrm>
            <a:off x="6492240" y="4023360"/>
            <a:ext cx="4937760" cy="868680"/>
          </a:xfrm>
          <a:prstGeom prst="rect">
            <a:avLst/>
          </a:prstGeom>
          <a:noFill/>
          <a:ln/>
        </p:spPr>
        <p:txBody>
          <a:bodyPr wrap="square" lIns="0" tIns="0" rIns="0" bIns="0" rtlCol="0" anchor="t"/>
          <a:lstStyle/>
          <a:p>
            <a:pPr indent="0" marL="0">
              <a:lnSpc>
                <a:spcPct val="108000"/>
              </a:lnSpc>
              <a:buNone/>
            </a:pPr>
            <a:r>
              <a:rPr lang="en-US" sz="1100" dirty="0">
                <a:solidFill>
                  <a:srgbClr val="16202E"/>
                </a:solidFill>
                <a:latin typeface="Calibri" pitchFamily="34" charset="0"/>
                <a:ea typeface="Calibri" pitchFamily="34" charset="-122"/>
                <a:cs typeface="Calibri" pitchFamily="34" charset="-120"/>
              </a:rPr>
              <a:t>The pool assumes conditional independence, given the disease state. All three signals reflect the same pathology, so the pool is a simplification and not a joint model.</a:t>
            </a:r>
            <a:endParaRPr lang="en-US" sz="1100" dirty="0"/>
          </a:p>
        </p:txBody>
      </p:sp>
      <p:sp>
        <p:nvSpPr>
          <p:cNvPr id="19" name="Text 17"/>
          <p:cNvSpPr txBox="1"/>
          <p:nvPr/>
        </p:nvSpPr>
        <p:spPr>
          <a:xfrm>
            <a:off x="6492240" y="4937760"/>
            <a:ext cx="4937760" cy="502920"/>
          </a:xfrm>
          <a:prstGeom prst="rect">
            <a:avLst/>
          </a:prstGeom>
          <a:noFill/>
          <a:ln/>
        </p:spPr>
        <p:txBody>
          <a:bodyPr wrap="square" lIns="0" tIns="0" rIns="0" bIns="0" rtlCol="0" anchor="t"/>
          <a:lstStyle/>
          <a:p>
            <a:pPr indent="0" marL="0">
              <a:lnSpc>
                <a:spcPct val="105000"/>
              </a:lnSpc>
              <a:buNone/>
            </a:pPr>
            <a:r>
              <a:rPr lang="en-US" sz="1050" b="1" dirty="0">
                <a:solidFill>
                  <a:srgbClr val="1B5FA8"/>
                </a:solidFill>
                <a:latin typeface="Calibri" pitchFamily="34" charset="0"/>
                <a:ea typeface="Calibri" pitchFamily="34" charset="-122"/>
                <a:cs typeface="Calibri" pitchFamily="34" charset="-120"/>
              </a:rPr>
              <a:t>Upgrade path:  </a:t>
            </a:r>
            <a:pPr indent="0" marL="0">
              <a:lnSpc>
                <a:spcPct val="105000"/>
              </a:lnSpc>
              <a:buNone/>
            </a:pPr>
            <a:r>
              <a:rPr lang="en-US" sz="1050" dirty="0">
                <a:solidFill>
                  <a:srgbClr val="5C6B7F"/>
                </a:solidFill>
                <a:latin typeface="Calibri" pitchFamily="34" charset="0"/>
                <a:ea typeface="Calibri" pitchFamily="34" charset="-122"/>
                <a:cs typeface="Calibri" pitchFamily="34" charset="-120"/>
              </a:rPr>
              <a:t>A trained fusion classifier. The pool then becomes the baseline for comparison.</a:t>
            </a:r>
            <a:endParaRPr lang="en-US" sz="1050" dirty="0"/>
          </a:p>
        </p:txBody>
      </p:sp>
      <p:sp>
        <p:nvSpPr>
          <p:cNvPr id="20" name="Text 18"/>
          <p:cNvSpPr txBox="1"/>
          <p:nvPr/>
        </p:nvSpPr>
        <p:spPr>
          <a:xfrm>
            <a:off x="548640" y="5806440"/>
            <a:ext cx="11109960" cy="365760"/>
          </a:xfrm>
          <a:prstGeom prst="rect">
            <a:avLst/>
          </a:prstGeom>
          <a:noFill/>
          <a:ln/>
        </p:spPr>
        <p:txBody>
          <a:bodyPr wrap="square" lIns="0" tIns="0" rIns="0" bIns="0" rtlCol="0" anchor="ctr"/>
          <a:lstStyle/>
          <a:p>
            <a:pPr indent="0" marL="0">
              <a:buNone/>
            </a:pPr>
            <a:r>
              <a:rPr lang="en-US" sz="1150" i="1" dirty="0">
                <a:solidFill>
                  <a:srgbClr val="5C6B7F"/>
                </a:solidFill>
                <a:latin typeface="Calibri" pitchFamily="34" charset="0"/>
                <a:ea typeface="Calibri" pitchFamily="34" charset="-122"/>
                <a:cs typeface="Calibri" pitchFamily="34" charset="-120"/>
              </a:rPr>
              <a:t>Out of scope for this MVP: auth, containerization, model registry, CI, and a FastAPI service. The integration seam is in place, and the wrapper is a small next step.</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B2E"/>
        </a:solidFill>
      </p:bgPr>
    </p:bg>
    <p:spTree>
      <p:nvGrpSpPr>
        <p:cNvPr id="1" name=""/>
        <p:cNvGrpSpPr/>
        <p:nvPr/>
      </p:nvGrpSpPr>
      <p:grpSpPr>
        <a:xfrm>
          <a:off x="0" y="0"/>
          <a:ext cx="0" cy="0"/>
          <a:chOff x="0" y="0"/>
          <a:chExt cx="0" cy="0"/>
        </a:xfrm>
      </p:grpSpPr>
      <p:pic>
        <p:nvPicPr>
          <p:cNvPr id="2" name="Image 0" descr="media/tao_logo_white.png">    </p:cNvPr>
          <p:cNvPicPr>
            <a:picLocks noChangeAspect="1"/>
          </p:cNvPicPr>
          <p:nvPr/>
        </p:nvPicPr>
        <p:blipFill>
          <a:blip r:embed="rId1"/>
          <a:stretch>
            <a:fillRect/>
          </a:stretch>
        </p:blipFill>
        <p:spPr>
          <a:xfrm>
            <a:off x="10561320" y="457200"/>
            <a:ext cx="1188720" cy="224028"/>
          </a:xfrm>
          <a:prstGeom prst="rect">
            <a:avLst/>
          </a:prstGeom>
        </p:spPr>
      </p:pic>
      <p:sp>
        <p:nvSpPr>
          <p:cNvPr id="3" name="Text 0"/>
          <p:cNvSpPr txBox="1"/>
          <p:nvPr/>
        </p:nvSpPr>
        <p:spPr>
          <a:xfrm>
            <a:off x="640080" y="685800"/>
            <a:ext cx="7315200" cy="5486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What this demonstrates</a:t>
            </a:r>
            <a:endParaRPr lang="en-US" sz="3200" dirty="0"/>
          </a:p>
        </p:txBody>
      </p:sp>
      <p:sp>
        <p:nvSpPr>
          <p:cNvPr id="4" name="Shape 1"/>
          <p:cNvSpPr/>
          <p:nvPr/>
        </p:nvSpPr>
        <p:spPr>
          <a:xfrm>
            <a:off x="640080" y="1691640"/>
            <a:ext cx="10881360" cy="1143000"/>
          </a:xfrm>
          <a:prstGeom prst="roundRect">
            <a:avLst>
              <a:gd name="adj" fmla="val 6400"/>
            </a:avLst>
          </a:prstGeom>
          <a:solidFill>
            <a:srgbClr val="16273F"/>
          </a:solidFill>
          <a:ln w="12700">
            <a:solidFill>
              <a:srgbClr val="2C4260"/>
            </a:solidFill>
            <a:prstDash val="solid"/>
          </a:ln>
        </p:spPr>
      </p:sp>
      <p:sp>
        <p:nvSpPr>
          <p:cNvPr id="5" name="Shape 2"/>
          <p:cNvSpPr/>
          <p:nvPr/>
        </p:nvSpPr>
        <p:spPr>
          <a:xfrm>
            <a:off x="914400" y="1865376"/>
            <a:ext cx="310896" cy="310896"/>
          </a:xfrm>
          <a:prstGeom prst="roundRect">
            <a:avLst>
              <a:gd name="adj" fmla="val 50000"/>
            </a:avLst>
          </a:prstGeom>
          <a:solidFill>
            <a:srgbClr val="1B5FA8"/>
          </a:solidFill>
          <a:ln w="12700">
            <a:solidFill>
              <a:srgbClr val="1B5FA8"/>
            </a:solidFill>
            <a:prstDash val="solid"/>
          </a:ln>
        </p:spPr>
      </p:sp>
      <p:sp>
        <p:nvSpPr>
          <p:cNvPr id="6" name="Text 3"/>
          <p:cNvSpPr txBox="1"/>
          <p:nvPr/>
        </p:nvSpPr>
        <p:spPr>
          <a:xfrm>
            <a:off x="914400" y="186537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371600" y="1837944"/>
            <a:ext cx="987552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Three modalities, three mechanisms, no black box</a:t>
            </a:r>
            <a:endParaRPr lang="en-US" sz="1500" dirty="0"/>
          </a:p>
        </p:txBody>
      </p:sp>
      <p:sp>
        <p:nvSpPr>
          <p:cNvPr id="8" name="Text 5"/>
          <p:cNvSpPr txBox="1"/>
          <p:nvPr/>
        </p:nvSpPr>
        <p:spPr>
          <a:xfrm>
            <a:off x="1371600" y="2194560"/>
            <a:ext cx="9875520" cy="548640"/>
          </a:xfrm>
          <a:prstGeom prst="rect">
            <a:avLst/>
          </a:prstGeom>
          <a:noFill/>
          <a:ln/>
        </p:spPr>
        <p:txBody>
          <a:bodyPr wrap="square" lIns="0" tIns="0" rIns="0" bIns="0" rtlCol="0" anchor="t"/>
          <a:lstStyle/>
          <a:p>
            <a:pPr indent="0" marL="0">
              <a:lnSpc>
                <a:spcPct val="108000"/>
              </a:lnSpc>
              <a:buNone/>
            </a:pPr>
            <a:r>
              <a:rPr lang="en-US" sz="1200" dirty="0">
                <a:solidFill>
                  <a:srgbClr val="AFC3DB"/>
                </a:solidFill>
                <a:latin typeface="Calibri" pitchFamily="34" charset="0"/>
                <a:ea typeface="Calibri" pitchFamily="34" charset="-122"/>
                <a:cs typeface="Calibri" pitchFamily="34" charset="-120"/>
              </a:rPr>
              <a:t>Coefficient rankings for clinical, Grad-CAM attribution for MRI, and band decomposition for EEG. Every score is traceable to its source model and its input features.</a:t>
            </a:r>
            <a:endParaRPr lang="en-US" sz="1200" dirty="0"/>
          </a:p>
        </p:txBody>
      </p:sp>
      <p:sp>
        <p:nvSpPr>
          <p:cNvPr id="9" name="Shape 6"/>
          <p:cNvSpPr/>
          <p:nvPr/>
        </p:nvSpPr>
        <p:spPr>
          <a:xfrm>
            <a:off x="640080" y="3063240"/>
            <a:ext cx="10881360" cy="1143000"/>
          </a:xfrm>
          <a:prstGeom prst="roundRect">
            <a:avLst>
              <a:gd name="adj" fmla="val 6400"/>
            </a:avLst>
          </a:prstGeom>
          <a:solidFill>
            <a:srgbClr val="16273F"/>
          </a:solidFill>
          <a:ln w="12700">
            <a:solidFill>
              <a:srgbClr val="2C4260"/>
            </a:solidFill>
            <a:prstDash val="solid"/>
          </a:ln>
        </p:spPr>
      </p:sp>
      <p:sp>
        <p:nvSpPr>
          <p:cNvPr id="10" name="Shape 7"/>
          <p:cNvSpPr/>
          <p:nvPr/>
        </p:nvSpPr>
        <p:spPr>
          <a:xfrm>
            <a:off x="914400" y="3236976"/>
            <a:ext cx="310896" cy="310896"/>
          </a:xfrm>
          <a:prstGeom prst="roundRect">
            <a:avLst>
              <a:gd name="adj" fmla="val 50000"/>
            </a:avLst>
          </a:prstGeom>
          <a:solidFill>
            <a:srgbClr val="2E9BD6"/>
          </a:solidFill>
          <a:ln w="12700">
            <a:solidFill>
              <a:srgbClr val="2E9BD6"/>
            </a:solidFill>
            <a:prstDash val="solid"/>
          </a:ln>
        </p:spPr>
      </p:sp>
      <p:sp>
        <p:nvSpPr>
          <p:cNvPr id="11" name="Text 8"/>
          <p:cNvSpPr txBox="1"/>
          <p:nvPr/>
        </p:nvSpPr>
        <p:spPr>
          <a:xfrm>
            <a:off x="914400" y="323697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1371600" y="3209544"/>
            <a:ext cx="987552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Integration without invented parameters</a:t>
            </a:r>
            <a:endParaRPr lang="en-US" sz="1500" dirty="0"/>
          </a:p>
        </p:txBody>
      </p:sp>
      <p:sp>
        <p:nvSpPr>
          <p:cNvPr id="13" name="Text 10"/>
          <p:cNvSpPr txBox="1"/>
          <p:nvPr/>
        </p:nvSpPr>
        <p:spPr>
          <a:xfrm>
            <a:off x="1371600" y="3566160"/>
            <a:ext cx="9875520" cy="548640"/>
          </a:xfrm>
          <a:prstGeom prst="rect">
            <a:avLst/>
          </a:prstGeom>
          <a:noFill/>
          <a:ln/>
        </p:spPr>
        <p:txBody>
          <a:bodyPr wrap="square" lIns="0" tIns="0" rIns="0" bIns="0" rtlCol="0" anchor="t"/>
          <a:lstStyle/>
          <a:p>
            <a:pPr indent="0" marL="0">
              <a:lnSpc>
                <a:spcPct val="108000"/>
              </a:lnSpc>
              <a:buNone/>
            </a:pPr>
            <a:r>
              <a:rPr lang="en-US" sz="1200" dirty="0">
                <a:solidFill>
                  <a:srgbClr val="AFC3DB"/>
                </a:solidFill>
                <a:latin typeface="Calibri" pitchFamily="34" charset="0"/>
                <a:ea typeface="Calibri" pitchFamily="34" charset="-122"/>
                <a:cs typeface="Calibri" pitchFamily="34" charset="-120"/>
              </a:rPr>
              <a:t>A log-odds opinion pool gives the most confident modality the strongest effect. One reliability weight stays untuned, and the method to fit it is documented.</a:t>
            </a:r>
            <a:endParaRPr lang="en-US" sz="1200" dirty="0"/>
          </a:p>
        </p:txBody>
      </p:sp>
      <p:sp>
        <p:nvSpPr>
          <p:cNvPr id="14" name="Shape 11"/>
          <p:cNvSpPr/>
          <p:nvPr/>
        </p:nvSpPr>
        <p:spPr>
          <a:xfrm>
            <a:off x="640080" y="4434840"/>
            <a:ext cx="10881360" cy="1143000"/>
          </a:xfrm>
          <a:prstGeom prst="roundRect">
            <a:avLst>
              <a:gd name="adj" fmla="val 6400"/>
            </a:avLst>
          </a:prstGeom>
          <a:solidFill>
            <a:srgbClr val="16273F"/>
          </a:solidFill>
          <a:ln w="12700">
            <a:solidFill>
              <a:srgbClr val="2C4260"/>
            </a:solidFill>
            <a:prstDash val="solid"/>
          </a:ln>
        </p:spPr>
      </p:sp>
      <p:sp>
        <p:nvSpPr>
          <p:cNvPr id="15" name="Shape 12"/>
          <p:cNvSpPr/>
          <p:nvPr/>
        </p:nvSpPr>
        <p:spPr>
          <a:xfrm>
            <a:off x="914400" y="4608576"/>
            <a:ext cx="310896" cy="310896"/>
          </a:xfrm>
          <a:prstGeom prst="roundRect">
            <a:avLst>
              <a:gd name="adj" fmla="val 50000"/>
            </a:avLst>
          </a:prstGeom>
          <a:solidFill>
            <a:srgbClr val="F2952B"/>
          </a:solidFill>
          <a:ln w="12700">
            <a:solidFill>
              <a:srgbClr val="F2952B"/>
            </a:solidFill>
            <a:prstDash val="solid"/>
          </a:ln>
        </p:spPr>
      </p:sp>
      <p:sp>
        <p:nvSpPr>
          <p:cNvPr id="16" name="Text 13"/>
          <p:cNvSpPr txBox="1"/>
          <p:nvPr/>
        </p:nvSpPr>
        <p:spPr>
          <a:xfrm>
            <a:off x="914400" y="460857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1371600" y="4581144"/>
            <a:ext cx="987552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It fits where the decision happens</a:t>
            </a:r>
            <a:endParaRPr lang="en-US" sz="1500" dirty="0"/>
          </a:p>
        </p:txBody>
      </p:sp>
      <p:sp>
        <p:nvSpPr>
          <p:cNvPr id="18" name="Text 15"/>
          <p:cNvSpPr txBox="1"/>
          <p:nvPr/>
        </p:nvSpPr>
        <p:spPr>
          <a:xfrm>
            <a:off x="1371600" y="4937760"/>
            <a:ext cx="9875520" cy="548640"/>
          </a:xfrm>
          <a:prstGeom prst="rect">
            <a:avLst/>
          </a:prstGeom>
          <a:noFill/>
          <a:ln/>
        </p:spPr>
        <p:txBody>
          <a:bodyPr wrap="square" lIns="0" tIns="0" rIns="0" bIns="0" rtlCol="0" anchor="t"/>
          <a:lstStyle/>
          <a:p>
            <a:pPr indent="0" marL="0">
              <a:lnSpc>
                <a:spcPct val="108000"/>
              </a:lnSpc>
              <a:buNone/>
            </a:pPr>
            <a:r>
              <a:rPr lang="en-US" sz="1200" dirty="0">
                <a:solidFill>
                  <a:srgbClr val="AFC3DB"/>
                </a:solidFill>
                <a:latin typeface="Calibri" pitchFamily="34" charset="0"/>
                <a:ea typeface="Calibri" pitchFamily="34" charset="-122"/>
                <a:cs typeface="Calibri" pitchFamily="34" charset="-120"/>
              </a:rPr>
              <a:t>Triage before imaging, corroboration during the visit, a drafted note with cited evidence, and a panel-level view. The design follows the four screens that a clinician already uses.</a:t>
            </a:r>
            <a:endParaRPr lang="en-US" sz="1200" dirty="0"/>
          </a:p>
        </p:txBody>
      </p:sp>
      <p:sp>
        <p:nvSpPr>
          <p:cNvPr id="19" name="Text 16"/>
          <p:cNvSpPr txBox="1"/>
          <p:nvPr/>
        </p:nvSpPr>
        <p:spPr>
          <a:xfrm>
            <a:off x="640080" y="5989320"/>
            <a:ext cx="10881360" cy="365760"/>
          </a:xfrm>
          <a:prstGeom prst="rect">
            <a:avLst/>
          </a:prstGeom>
          <a:noFill/>
          <a:ln/>
        </p:spPr>
        <p:txBody>
          <a:bodyPr wrap="square" lIns="0" tIns="0" rIns="0" bIns="0" rtlCol="0" anchor="ctr"/>
          <a:lstStyle/>
          <a:p>
            <a:pPr indent="0" marL="0">
              <a:buNone/>
            </a:pPr>
            <a:r>
              <a:rPr lang="en-US" sz="1250" i="1" dirty="0">
                <a:solidFill>
                  <a:srgbClr val="2E9BD6"/>
                </a:solidFill>
                <a:latin typeface="Calibri" pitchFamily="34" charset="0"/>
                <a:ea typeface="Calibri" pitchFamily="34" charset="-122"/>
                <a:cs typeface="Calibri" pitchFamily="34" charset="-120"/>
              </a:rPr>
              <a:t>More data will improve the models. The architecture stays: independent models, open to inspection, and fused only at the end.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TAO Digital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Alzheimer's Early-Risk Triage</dc:title>
  <dc:subject>PptxGenJS Presentation</dc:subject>
  <dc:creator>Zow Ormazabal</dc:creator>
  <cp:lastModifiedBy>Zow Ormazabal</cp:lastModifiedBy>
  <cp:revision>1</cp:revision>
  <dcterms:created xsi:type="dcterms:W3CDTF">2026-08-31T06:49:09Z</dcterms:created>
  <dcterms:modified xsi:type="dcterms:W3CDTF">2026-08-31T06:49:09Z</dcterms:modified>
</cp:coreProperties>
</file>